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Hi everyone. This is the Executive Branch's final report for MDP-249, the Q2 to Q3 2026 term, which ran from May through early September. I'm presenting on behalf of Pablo, Ryan and Miguel. Ten minutes: what we said we'd do, what happened, what it cost, and how we'd grade ourselves. All numbers are measured from on-chain data as of yesterday, October 7, and the full written report is posted with links to every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Quick reminder of the mandate. MDP-249 passed the Member House on May 26 with 91% from 21 voters. Five months, $132,000 core budget plus a $24,000 bonus pool that only pays on verified milestones. Three objectives: first, put Frank in space or deploy DePrize with a lunar challenge. Second, grow the Space Acceleration Network and get Teams using jobs and the marketplace. Third, run the DAO's operations within budget, with a new project system, an audit, a for-profit plan and an election.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The headline numbers. DePrize is live on Arbitrum with five competitions. Citizens grew 33%, from 199 to 265 minted, 238 currently active, the fastest growth we've had, but short of 300. Teams went from 20 to 25. Spending landed within 0.6% of the budget. And the three of us merged 359 pull requests, roughly double the previous pace, largely thanks to AI-assisted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Objective 1. Phase 1 of the Overview Flight raised capital, but you voted to keep fundraising rather than convert it into a prize pool, so we built DePrize as general MoonDAO infrastructure instead. It went live on Arbitrum on August 25 with a demonstration prize, The Moon Is A Harsh Mistress. A security review found a bug in the market contract, which we fixed and redeployed before any race went live. Then on September 26 we registered four lunar capability races: Touchdown, Night Shift, First Tracks and Water Ice. We ran the full lifecycle on testnet, including declaring a winner and paying out. Honest caveats: this landed about eight weeks after the month-2 target, and so far the only bets are our own test bets, so no revenue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Instead of running the lunar simulation as an outside challenge, Miguel built it in-house. This is Moon Base Zero: a true-to-scale base on the Shackleton connecting ridge, with real sun position and terrain. It models 50 projects from 33 organizations across 12 shared goals, and every competitor in every DePrize race has its own lot. On the right is the Touchdown race: the six landers, the rules, and live odds read from the market. It's behind an access gate for now. [Optional: switch to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On Frank's flight: after Phase 1 closed in April we approached 12 carriers and brought the findings to you. In the June path vote, 92.9% of OVERVIEW voting weight chose to keep options open and keep fundraising. The campaign reopened on July 9 with a single $250k goal. Lifetime it's raised 27.4 ETH from 180 contributions, but re-engaging after a pause is hard: only 0.64 ETH came in after the reopen. [Only if ready to share: agreements are in place for Frank's flight; an announcement is coming.]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Objective 2, the network. Citizens grew from 199 to 265 minted, 66 new Citizens in five months versus 35 in the five before. 238 are currently active, because 27 have lapsed, which is why we shipped renewal prompts. Teams grew from 20 to 25: Habitat Marte, A Heart for Space, the U.S. Space and Rocket Center Education Foundation, Geração de Marte and Zephalto. Both missed their targets of 300 and 30. Those targets assumed a live mid-cycle raise, which was our biggest acquisition engine last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Utilization. 11 of our 25 Teams, 44%, used at least one service this term against a 60% target. The marketplace beat its goal with 17 new listings, mostly real space experiences: analog missions, zero-g flights, training, MDRS seats. Jobs fell short at 7 new listings. Job posting is concentrated in a few Teams, so the board needs seeding, not just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Ryan led about 30 discovery calls with 21 Teams between late May and September, a little over two a week: 11 existing Teams and 10 prospective ones. Two themes came up again and again, and we shipped both. First, Teams wanted to post detailed roles and share them, so listings now show full descriptions and have their own shareable links, and Team pages are visible to everyone. Second, buyers struggled with crypto and international payments, so the marketplace now has a card and bank onramp. On the prospective side, Lonestar has tentatively agreed and Stardust is whitelisted.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Objective 3, operations and governance. Done: the new project system with 100% of initiatives migrated, later refined into Project System v9; the operational audit, published as the August financial disclosure plus a live internal dashboard; GDPR, which opened Europe to browsing while only Citizen creation is restricted; and the Realistic Goals sequencing, which became the objectives in the next EB proposal, MDP-271. Partly done: the for-profit plan is drafted but not yet presented. Not done: no cost reduction, because AI tooling costs rose, and the Executive Lead election vote was postponed; we'll announce the new date.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The money. We were funded once in USDC for May and once in ETH for the remaining four months. Payroll ran through LlamaPay vesting streams, which cut payroll transactions from about 12 to 2, though it did expose pay to ETH price moves. Total paid: $132,727 against $132,000, within 0.6%. No bonus has been paid. On revenue: the ETH that reaches the treasury on-chain from Citizen and Team subscriptions and Launchpad fees is about 1.67 ETH, roughly $4,300, over the last twelve months. Card and fiat checkouts aren't in that number. Getting to cash-flow sustainability is the core of the next proposal.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How we'd grade ourselves, provisionally. Objective 1, Meets: the infrastructure went beyond scope, but it was late and there's no revenue yet. Objective 2, Does Not Meet: real growth and the discovery calls done, but all three network targets missed. Objective 3, Meets, borderline: operations, budget, the project system and GDPR delivered; the election and cost reduction weren't. On bonuses, nothing has been paid; only the project-system milestone is a clean claim, and anything beyond that is for the Executive Leads and Senate to decide.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What we learned and where it goes next. Letting OVERVIEW holders decide Frank's path was right, but it meant DePrize launched without a seed pool. Growth follows activity, so the next term needs a live raise. Teams told us payments were the barrier, and we fixed it. And AI moved cost from salaries to tooling, so we should measure cost per outcome. All of this feeds MDP-271, the next EB proposal. The full report with every transaction link is on the project page.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ark_moon-full.jpg_0.55_4.93.png"/>
          <p:cNvPicPr>
            <a:picLocks noChangeAspect="1"/>
          </p:cNvPicPr>
          <p:nvPr/>
        </p:nvPicPr>
        <p:blipFill>
          <a:blip r:embed="rId3"/>
          <a:stretch>
            <a:fillRect/>
          </a:stretch>
        </p:blipFill>
        <p:spPr>
          <a:xfrm>
            <a:off x="7680960" y="0"/>
            <a:ext cx="4510735" cy="6858000"/>
          </a:xfrm>
          <a:prstGeom prst="rect">
            <a:avLst/>
          </a:prstGeom>
        </p:spPr>
      </p:pic>
      <p:sp>
        <p:nvSpPr>
          <p:cNvPr id="3" name="Rectangle 2"/>
          <p:cNvSpPr/>
          <p:nvPr/>
        </p:nvSpPr>
        <p:spPr>
          <a:xfrm>
            <a:off x="7680960" y="0"/>
            <a:ext cx="50292" cy="6858000"/>
          </a:xfrm>
          <a:prstGeom prst="rect">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onDAO_icon.png"/>
          <p:cNvPicPr>
            <a:picLocks noChangeAspect="1"/>
          </p:cNvPicPr>
          <p:nvPr/>
        </p:nvPicPr>
        <p:blipFill>
          <a:blip r:embed="rId4"/>
          <a:stretch>
            <a:fillRect/>
          </a:stretch>
        </p:blipFill>
        <p:spPr>
          <a:xfrm>
            <a:off x="777240" y="685800"/>
            <a:ext cx="2377440" cy="665220"/>
          </a:xfrm>
          <a:prstGeom prst="rect">
            <a:avLst/>
          </a:prstGeom>
        </p:spPr>
      </p:pic>
      <p:sp>
        <p:nvSpPr>
          <p:cNvPr id="5" name="TextBox 4"/>
          <p:cNvSpPr txBox="1"/>
          <p:nvPr/>
        </p:nvSpPr>
        <p:spPr>
          <a:xfrm>
            <a:off x="777240" y="1828800"/>
            <a:ext cx="6583680" cy="320040"/>
          </a:xfrm>
          <a:prstGeom prst="rect">
            <a:avLst/>
          </a:prstGeom>
          <a:noFill/>
        </p:spPr>
        <p:txBody>
          <a:bodyPr wrap="square" anchor="t" lIns="0" rIns="0" tIns="0" bIns="0">
            <a:spAutoFit/>
          </a:bodyPr>
          <a:lstStyle/>
          <a:p>
            <a:pPr algn="l"/>
            <a:r>
              <a:rPr sz="1300" b="1" i="0">
                <a:solidFill>
                  <a:srgbClr val="E88B1F"/>
                </a:solidFill>
                <a:latin typeface="Montserrat"/>
              </a:rPr>
              <a:t>MOONDAO TOWN HALL  ·  8 OCTOBER 2026</a:t>
            </a:r>
          </a:p>
        </p:txBody>
      </p:sp>
      <p:sp>
        <p:nvSpPr>
          <p:cNvPr id="6" name="TextBox 5"/>
          <p:cNvSpPr txBox="1"/>
          <p:nvPr/>
        </p:nvSpPr>
        <p:spPr>
          <a:xfrm>
            <a:off x="749808" y="2194560"/>
            <a:ext cx="6583680" cy="1463040"/>
          </a:xfrm>
          <a:prstGeom prst="rect">
            <a:avLst/>
          </a:prstGeom>
          <a:noFill/>
        </p:spPr>
        <p:txBody>
          <a:bodyPr wrap="square" anchor="t" lIns="0" rIns="0" tIns="0" bIns="0">
            <a:spAutoFit/>
          </a:bodyPr>
          <a:lstStyle/>
          <a:p>
            <a:pPr algn="l">
              <a:lnSpc>
                <a:spcPct val="95000"/>
              </a:lnSpc>
            </a:pPr>
            <a:r>
              <a:rPr sz="4600" b="1" i="0">
                <a:solidFill>
                  <a:srgbClr val="141B3A"/>
                </a:solidFill>
                <a:latin typeface="Montserrat"/>
              </a:rPr>
              <a:t>Executive Branch</a:t>
            </a:r>
          </a:p>
          <a:p>
            <a:pPr algn="l">
              <a:lnSpc>
                <a:spcPct val="95000"/>
              </a:lnSpc>
            </a:pPr>
            <a:r>
              <a:rPr sz="4600" b="1" i="0">
                <a:solidFill>
                  <a:srgbClr val="141B3A"/>
                </a:solidFill>
                <a:latin typeface="Montserrat"/>
              </a:rPr>
              <a:t>Final Report</a:t>
            </a:r>
          </a:p>
        </p:txBody>
      </p:sp>
      <p:sp>
        <p:nvSpPr>
          <p:cNvPr id="7" name="TextBox 6"/>
          <p:cNvSpPr txBox="1"/>
          <p:nvPr/>
        </p:nvSpPr>
        <p:spPr>
          <a:xfrm>
            <a:off x="777240" y="3703320"/>
            <a:ext cx="6583680" cy="411480"/>
          </a:xfrm>
          <a:prstGeom prst="rect">
            <a:avLst/>
          </a:prstGeom>
          <a:noFill/>
        </p:spPr>
        <p:txBody>
          <a:bodyPr wrap="square" anchor="t" lIns="0" rIns="0" tIns="0" bIns="0">
            <a:spAutoFit/>
          </a:bodyPr>
          <a:lstStyle/>
          <a:p>
            <a:pPr algn="l"/>
            <a:r>
              <a:rPr sz="2000" b="0" i="0">
                <a:solidFill>
                  <a:srgbClr val="1E2F6B"/>
                </a:solidFill>
                <a:latin typeface="Montserrat"/>
              </a:rPr>
              <a:t>Q2 2026 – Q3 2026  ·  MDP-249  ·  Project #131</a:t>
            </a:r>
          </a:p>
        </p:txBody>
      </p:sp>
      <p:cxnSp>
        <p:nvCxnSpPr>
          <p:cNvPr id="8" name="Connector 7"/>
          <p:cNvCxnSpPr/>
          <p:nvPr/>
        </p:nvCxnSpPr>
        <p:spPr>
          <a:xfrm>
            <a:off x="777240" y="4389120"/>
            <a:ext cx="5852160"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4617720"/>
            <a:ext cx="6583680" cy="365760"/>
          </a:xfrm>
          <a:prstGeom prst="rect">
            <a:avLst/>
          </a:prstGeom>
          <a:noFill/>
        </p:spPr>
        <p:txBody>
          <a:bodyPr wrap="square" anchor="t" lIns="0" rIns="0" tIns="0" bIns="0">
            <a:spAutoFit/>
          </a:bodyPr>
          <a:lstStyle/>
          <a:p>
            <a:pPr algn="l"/>
            <a:r>
              <a:rPr sz="1500" b="1" i="0">
                <a:solidFill>
                  <a:srgbClr val="141B3A"/>
                </a:solidFill>
                <a:latin typeface="Montserrat"/>
              </a:rPr>
              <a:t>Pablo Moncada-Larrotiz</a:t>
            </a:r>
            <a:r>
              <a:rPr sz="1300" b="0" i="0">
                <a:solidFill>
                  <a:srgbClr val="555C72"/>
                </a:solidFill>
                <a:latin typeface="Source Sans 3"/>
              </a:rPr>
              <a:t>   Executive Lead</a:t>
            </a:r>
          </a:p>
        </p:txBody>
      </p:sp>
      <p:sp>
        <p:nvSpPr>
          <p:cNvPr id="10" name="TextBox 9"/>
          <p:cNvSpPr txBox="1"/>
          <p:nvPr/>
        </p:nvSpPr>
        <p:spPr>
          <a:xfrm>
            <a:off x="777240" y="5029200"/>
            <a:ext cx="6583680" cy="365760"/>
          </a:xfrm>
          <a:prstGeom prst="rect">
            <a:avLst/>
          </a:prstGeom>
          <a:noFill/>
        </p:spPr>
        <p:txBody>
          <a:bodyPr wrap="square" anchor="t" lIns="0" rIns="0" tIns="0" bIns="0">
            <a:spAutoFit/>
          </a:bodyPr>
          <a:lstStyle/>
          <a:p>
            <a:pPr algn="l"/>
            <a:r>
              <a:rPr sz="1500" b="1" i="0">
                <a:solidFill>
                  <a:srgbClr val="141B3A"/>
                </a:solidFill>
                <a:latin typeface="Montserrat"/>
              </a:rPr>
              <a:t>Ryan</a:t>
            </a:r>
            <a:r>
              <a:rPr sz="1300" b="0" i="0">
                <a:solidFill>
                  <a:srgbClr val="555C72"/>
                </a:solidFill>
                <a:latin typeface="Source Sans 3"/>
              </a:rPr>
              <a:t>   Communications, community &amp; partnerships</a:t>
            </a:r>
          </a:p>
        </p:txBody>
      </p:sp>
      <p:sp>
        <p:nvSpPr>
          <p:cNvPr id="11" name="TextBox 10"/>
          <p:cNvSpPr txBox="1"/>
          <p:nvPr/>
        </p:nvSpPr>
        <p:spPr>
          <a:xfrm>
            <a:off x="777240" y="5440680"/>
            <a:ext cx="6583680" cy="365760"/>
          </a:xfrm>
          <a:prstGeom prst="rect">
            <a:avLst/>
          </a:prstGeom>
          <a:noFill/>
        </p:spPr>
        <p:txBody>
          <a:bodyPr wrap="square" anchor="t" lIns="0" rIns="0" tIns="0" bIns="0">
            <a:spAutoFit/>
          </a:bodyPr>
          <a:lstStyle/>
          <a:p>
            <a:pPr algn="l"/>
            <a:r>
              <a:rPr sz="1500" b="1" i="0">
                <a:solidFill>
                  <a:srgbClr val="141B3A"/>
                </a:solidFill>
                <a:latin typeface="Montserrat"/>
              </a:rPr>
              <a:t>Miguel</a:t>
            </a:r>
            <a:r>
              <a:rPr sz="1300" b="0" i="0">
                <a:solidFill>
                  <a:srgbClr val="555C72"/>
                </a:solidFill>
                <a:latin typeface="Source Sans 3"/>
              </a:rPr>
              <a:t>   Frontend &amp; product engineering</a:t>
            </a:r>
          </a:p>
        </p:txBody>
      </p:sp>
      <p:sp>
        <p:nvSpPr>
          <p:cNvPr id="12" name="TextBox 11"/>
          <p:cNvSpPr txBox="1"/>
          <p:nvPr/>
        </p:nvSpPr>
        <p:spPr>
          <a:xfrm>
            <a:off x="777240" y="6172200"/>
            <a:ext cx="6583680" cy="274320"/>
          </a:xfrm>
          <a:prstGeom prst="rect">
            <a:avLst/>
          </a:prstGeom>
          <a:noFill/>
        </p:spPr>
        <p:txBody>
          <a:bodyPr wrap="square" anchor="t" lIns="0" rIns="0" tIns="0" bIns="0">
            <a:spAutoFit/>
          </a:bodyPr>
          <a:lstStyle/>
          <a:p>
            <a:pPr algn="l"/>
            <a:r>
              <a:rPr sz="1100" b="0" i="1">
                <a:solidFill>
                  <a:srgbClr val="8A90A3"/>
                </a:solidFill>
                <a:latin typeface="Source Sans 3"/>
              </a:rPr>
              <a:t>Grades shown are provisional, for Executive Lead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WHAT WE COMMITTED TO</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MDP-249: three objectives, five months, $132k</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94360" y="1508760"/>
            <a:ext cx="3454298" cy="30175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508760"/>
            <a:ext cx="3454298" cy="73152"/>
          </a:xfrm>
          <a:prstGeom prst="rect">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914400" cy="640080"/>
          </a:xfrm>
          <a:prstGeom prst="rect">
            <a:avLst/>
          </a:prstGeom>
          <a:noFill/>
        </p:spPr>
        <p:txBody>
          <a:bodyPr wrap="square" anchor="t" lIns="0" rIns="0" tIns="0" bIns="0">
            <a:spAutoFit/>
          </a:bodyPr>
          <a:lstStyle/>
          <a:p>
            <a:pPr algn="l"/>
            <a:r>
              <a:rPr sz="4000" b="1" i="0">
                <a:solidFill>
                  <a:srgbClr val="E88B1F"/>
                </a:solidFill>
                <a:latin typeface="Montserrat"/>
              </a:rPr>
              <a:t>1</a:t>
            </a:r>
          </a:p>
        </p:txBody>
      </p:sp>
      <p:sp>
        <p:nvSpPr>
          <p:cNvPr id="10" name="TextBox 9"/>
          <p:cNvSpPr txBox="1"/>
          <p:nvPr/>
        </p:nvSpPr>
        <p:spPr>
          <a:xfrm>
            <a:off x="914400" y="2560320"/>
            <a:ext cx="2814218" cy="411480"/>
          </a:xfrm>
          <a:prstGeom prst="rect">
            <a:avLst/>
          </a:prstGeom>
          <a:noFill/>
        </p:spPr>
        <p:txBody>
          <a:bodyPr wrap="square" anchor="t" lIns="0" rIns="0" tIns="0" bIns="0">
            <a:spAutoFit/>
          </a:bodyPr>
          <a:lstStyle/>
          <a:p>
            <a:pPr algn="l"/>
            <a:r>
              <a:rPr sz="1900" b="1" i="0">
                <a:solidFill>
                  <a:srgbClr val="141B3A"/>
                </a:solidFill>
                <a:latin typeface="Montserrat"/>
              </a:rPr>
              <a:t>Frank &amp; DePrize</a:t>
            </a:r>
          </a:p>
        </p:txBody>
      </p:sp>
      <p:sp>
        <p:nvSpPr>
          <p:cNvPr id="11" name="TextBox 10"/>
          <p:cNvSpPr txBox="1"/>
          <p:nvPr/>
        </p:nvSpPr>
        <p:spPr>
          <a:xfrm>
            <a:off x="914400" y="3063240"/>
            <a:ext cx="2814218" cy="1371600"/>
          </a:xfrm>
          <a:prstGeom prst="rect">
            <a:avLst/>
          </a:prstGeom>
          <a:noFill/>
        </p:spPr>
        <p:txBody>
          <a:bodyPr wrap="square" anchor="t" lIns="0" rIns="0" tIns="0" bIns="0">
            <a:spAutoFit/>
          </a:bodyPr>
          <a:lstStyle/>
          <a:p>
            <a:pPr algn="l">
              <a:lnSpc>
                <a:spcPct val="110000"/>
              </a:lnSpc>
            </a:pPr>
            <a:r>
              <a:rPr sz="1350" b="0" i="0">
                <a:solidFill>
                  <a:srgbClr val="555C72"/>
                </a:solidFill>
                <a:latin typeface="Source Sans 3"/>
              </a:rPr>
              <a:t>Secure a seat for Frank, or deploy DePrize with the Frank White capital, and launch a competitive lunar simulation and prototyping initiative.</a:t>
            </a:r>
          </a:p>
        </p:txBody>
      </p:sp>
      <p:sp>
        <p:nvSpPr>
          <p:cNvPr id="12" name="Rounded Rectangle 11"/>
          <p:cNvSpPr/>
          <p:nvPr/>
        </p:nvSpPr>
        <p:spPr>
          <a:xfrm>
            <a:off x="4368698" y="1508760"/>
            <a:ext cx="3454298" cy="30175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8698" y="1508760"/>
            <a:ext cx="3454298" cy="73152"/>
          </a:xfrm>
          <a:prstGeom prst="rect">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8738" y="1828800"/>
            <a:ext cx="914400" cy="640080"/>
          </a:xfrm>
          <a:prstGeom prst="rect">
            <a:avLst/>
          </a:prstGeom>
          <a:noFill/>
        </p:spPr>
        <p:txBody>
          <a:bodyPr wrap="square" anchor="t" lIns="0" rIns="0" tIns="0" bIns="0">
            <a:spAutoFit/>
          </a:bodyPr>
          <a:lstStyle/>
          <a:p>
            <a:pPr algn="l"/>
            <a:r>
              <a:rPr sz="4000" b="1" i="0">
                <a:solidFill>
                  <a:srgbClr val="2B4C9B"/>
                </a:solidFill>
                <a:latin typeface="Montserrat"/>
              </a:rPr>
              <a:t>2</a:t>
            </a:r>
          </a:p>
        </p:txBody>
      </p:sp>
      <p:sp>
        <p:nvSpPr>
          <p:cNvPr id="15" name="TextBox 14"/>
          <p:cNvSpPr txBox="1"/>
          <p:nvPr/>
        </p:nvSpPr>
        <p:spPr>
          <a:xfrm>
            <a:off x="4688738" y="2560320"/>
            <a:ext cx="2814218" cy="411480"/>
          </a:xfrm>
          <a:prstGeom prst="rect">
            <a:avLst/>
          </a:prstGeom>
          <a:noFill/>
        </p:spPr>
        <p:txBody>
          <a:bodyPr wrap="square" anchor="t" lIns="0" rIns="0" tIns="0" bIns="0">
            <a:spAutoFit/>
          </a:bodyPr>
          <a:lstStyle/>
          <a:p>
            <a:pPr algn="l"/>
            <a:r>
              <a:rPr sz="1900" b="1" i="0">
                <a:solidFill>
                  <a:srgbClr val="141B3A"/>
                </a:solidFill>
                <a:latin typeface="Montserrat"/>
              </a:rPr>
              <a:t>Grow the network</a:t>
            </a:r>
          </a:p>
        </p:txBody>
      </p:sp>
      <p:sp>
        <p:nvSpPr>
          <p:cNvPr id="16" name="TextBox 15"/>
          <p:cNvSpPr txBox="1"/>
          <p:nvPr/>
        </p:nvSpPr>
        <p:spPr>
          <a:xfrm>
            <a:off x="4688738" y="3063240"/>
            <a:ext cx="2814218" cy="1371600"/>
          </a:xfrm>
          <a:prstGeom prst="rect">
            <a:avLst/>
          </a:prstGeom>
          <a:noFill/>
        </p:spPr>
        <p:txBody>
          <a:bodyPr wrap="square" anchor="t" lIns="0" rIns="0" tIns="0" bIns="0">
            <a:spAutoFit/>
          </a:bodyPr>
          <a:lstStyle/>
          <a:p>
            <a:pPr algn="l">
              <a:lnSpc>
                <a:spcPct val="110000"/>
              </a:lnSpc>
            </a:pPr>
            <a:r>
              <a:rPr sz="1350" b="0" i="0">
                <a:solidFill>
                  <a:srgbClr val="555C72"/>
                </a:solidFill>
                <a:latin typeface="Source Sans 3"/>
              </a:rPr>
              <a:t>Citizens 199 → 300, Teams 20 → 30, 60% of Teams using jobs or the marketplace, discovery calls with 15+ Teams.</a:t>
            </a:r>
          </a:p>
        </p:txBody>
      </p:sp>
      <p:sp>
        <p:nvSpPr>
          <p:cNvPr id="17" name="Rounded Rectangle 16"/>
          <p:cNvSpPr/>
          <p:nvPr/>
        </p:nvSpPr>
        <p:spPr>
          <a:xfrm>
            <a:off x="8143036" y="1508760"/>
            <a:ext cx="3454298" cy="30175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43036" y="1508760"/>
            <a:ext cx="3454298" cy="73152"/>
          </a:xfrm>
          <a:prstGeom prst="rect">
            <a:avLst/>
          </a:prstGeom>
          <a:solidFill>
            <a:srgbClr val="1E2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63076" y="1828800"/>
            <a:ext cx="914400" cy="640080"/>
          </a:xfrm>
          <a:prstGeom prst="rect">
            <a:avLst/>
          </a:prstGeom>
          <a:noFill/>
        </p:spPr>
        <p:txBody>
          <a:bodyPr wrap="square" anchor="t" lIns="0" rIns="0" tIns="0" bIns="0">
            <a:spAutoFit/>
          </a:bodyPr>
          <a:lstStyle/>
          <a:p>
            <a:pPr algn="l"/>
            <a:r>
              <a:rPr sz="4000" b="1" i="0">
                <a:solidFill>
                  <a:srgbClr val="1E2F6B"/>
                </a:solidFill>
                <a:latin typeface="Montserrat"/>
              </a:rPr>
              <a:t>3</a:t>
            </a:r>
          </a:p>
        </p:txBody>
      </p:sp>
      <p:sp>
        <p:nvSpPr>
          <p:cNvPr id="20" name="TextBox 19"/>
          <p:cNvSpPr txBox="1"/>
          <p:nvPr/>
        </p:nvSpPr>
        <p:spPr>
          <a:xfrm>
            <a:off x="8463076" y="2560320"/>
            <a:ext cx="2814218" cy="411480"/>
          </a:xfrm>
          <a:prstGeom prst="rect">
            <a:avLst/>
          </a:prstGeom>
          <a:noFill/>
        </p:spPr>
        <p:txBody>
          <a:bodyPr wrap="square" anchor="t" lIns="0" rIns="0" tIns="0" bIns="0">
            <a:spAutoFit/>
          </a:bodyPr>
          <a:lstStyle/>
          <a:p>
            <a:pPr algn="l"/>
            <a:r>
              <a:rPr sz="1900" b="1" i="0">
                <a:solidFill>
                  <a:srgbClr val="141B3A"/>
                </a:solidFill>
                <a:latin typeface="Montserrat"/>
              </a:rPr>
              <a:t>Run the DAO well</a:t>
            </a:r>
          </a:p>
        </p:txBody>
      </p:sp>
      <p:sp>
        <p:nvSpPr>
          <p:cNvPr id="21" name="TextBox 20"/>
          <p:cNvSpPr txBox="1"/>
          <p:nvPr/>
        </p:nvSpPr>
        <p:spPr>
          <a:xfrm>
            <a:off x="8463076" y="3063240"/>
            <a:ext cx="2814218" cy="1371600"/>
          </a:xfrm>
          <a:prstGeom prst="rect">
            <a:avLst/>
          </a:prstGeom>
          <a:noFill/>
        </p:spPr>
        <p:txBody>
          <a:bodyPr wrap="square" anchor="t" lIns="0" rIns="0" tIns="0" bIns="0">
            <a:spAutoFit/>
          </a:bodyPr>
          <a:lstStyle/>
          <a:p>
            <a:pPr algn="l">
              <a:lnSpc>
                <a:spcPct val="110000"/>
              </a:lnSpc>
            </a:pPr>
            <a:r>
              <a:rPr sz="1350" b="0" i="0">
                <a:solidFill>
                  <a:srgbClr val="555C72"/>
                </a:solidFill>
                <a:latin typeface="Source Sans 3"/>
              </a:rPr>
              <a:t>Budget discipline, new project system, operational audit, for-profit plan, Realistic Goals, GDPR, an Executive Branch election.</a:t>
            </a:r>
          </a:p>
        </p:txBody>
      </p:sp>
      <p:sp>
        <p:nvSpPr>
          <p:cNvPr id="22" name="Rounded Rectangle 21"/>
          <p:cNvSpPr/>
          <p:nvPr/>
        </p:nvSpPr>
        <p:spPr>
          <a:xfrm>
            <a:off x="594360" y="4846320"/>
            <a:ext cx="2510713" cy="10058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4983480"/>
            <a:ext cx="2510713" cy="274320"/>
          </a:xfrm>
          <a:prstGeom prst="rect">
            <a:avLst/>
          </a:prstGeom>
          <a:noFill/>
        </p:spPr>
        <p:txBody>
          <a:bodyPr wrap="square" anchor="t" lIns="0" rIns="0" tIns="0" bIns="0">
            <a:spAutoFit/>
          </a:bodyPr>
          <a:lstStyle/>
          <a:p>
            <a:pPr algn="l"/>
            <a:r>
              <a:rPr sz="1050" b="1" i="0">
                <a:solidFill>
                  <a:srgbClr val="E88B1F"/>
                </a:solidFill>
                <a:latin typeface="Montserrat"/>
              </a:rPr>
              <a:t>PASSED 26 MAY</a:t>
            </a:r>
          </a:p>
        </p:txBody>
      </p:sp>
      <p:sp>
        <p:nvSpPr>
          <p:cNvPr id="24" name="TextBox 23"/>
          <p:cNvSpPr txBox="1"/>
          <p:nvPr/>
        </p:nvSpPr>
        <p:spPr>
          <a:xfrm>
            <a:off x="850392" y="5285232"/>
            <a:ext cx="2144953" cy="457200"/>
          </a:xfrm>
          <a:prstGeom prst="rect">
            <a:avLst/>
          </a:prstGeom>
          <a:noFill/>
        </p:spPr>
        <p:txBody>
          <a:bodyPr wrap="square" anchor="t" lIns="0" rIns="0" tIns="0" bIns="0">
            <a:spAutoFit/>
          </a:bodyPr>
          <a:lstStyle/>
          <a:p>
            <a:pPr algn="l"/>
            <a:r>
              <a:rPr sz="1600" b="1" i="0">
                <a:solidFill>
                  <a:srgbClr val="141B3A"/>
                </a:solidFill>
                <a:latin typeface="Montserrat"/>
              </a:rPr>
              <a:t>91% · 21 voters</a:t>
            </a:r>
          </a:p>
        </p:txBody>
      </p:sp>
      <p:sp>
        <p:nvSpPr>
          <p:cNvPr id="25" name="Rounded Rectangle 24"/>
          <p:cNvSpPr/>
          <p:nvPr/>
        </p:nvSpPr>
        <p:spPr>
          <a:xfrm>
            <a:off x="3425113" y="4846320"/>
            <a:ext cx="2510713" cy="10058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81145" y="4983480"/>
            <a:ext cx="2510713" cy="274320"/>
          </a:xfrm>
          <a:prstGeom prst="rect">
            <a:avLst/>
          </a:prstGeom>
          <a:noFill/>
        </p:spPr>
        <p:txBody>
          <a:bodyPr wrap="square" anchor="t" lIns="0" rIns="0" tIns="0" bIns="0">
            <a:spAutoFit/>
          </a:bodyPr>
          <a:lstStyle/>
          <a:p>
            <a:pPr algn="l"/>
            <a:r>
              <a:rPr sz="1050" b="1" i="0">
                <a:solidFill>
                  <a:srgbClr val="E88B1F"/>
                </a:solidFill>
                <a:latin typeface="Montserrat"/>
              </a:rPr>
              <a:t>FUNDED</a:t>
            </a:r>
          </a:p>
        </p:txBody>
      </p:sp>
      <p:sp>
        <p:nvSpPr>
          <p:cNvPr id="27" name="TextBox 26"/>
          <p:cNvSpPr txBox="1"/>
          <p:nvPr/>
        </p:nvSpPr>
        <p:spPr>
          <a:xfrm>
            <a:off x="3681145" y="5285232"/>
            <a:ext cx="2144953" cy="457200"/>
          </a:xfrm>
          <a:prstGeom prst="rect">
            <a:avLst/>
          </a:prstGeom>
          <a:noFill/>
        </p:spPr>
        <p:txBody>
          <a:bodyPr wrap="square" anchor="t" lIns="0" rIns="0" tIns="0" bIns="0">
            <a:spAutoFit/>
          </a:bodyPr>
          <a:lstStyle/>
          <a:p>
            <a:pPr algn="l"/>
            <a:r>
              <a:rPr sz="1600" b="1" i="0">
                <a:solidFill>
                  <a:srgbClr val="141B3A"/>
                </a:solidFill>
                <a:latin typeface="Montserrat"/>
              </a:rPr>
              <a:t>1 May – 3 Sep 2026</a:t>
            </a:r>
          </a:p>
        </p:txBody>
      </p:sp>
      <p:sp>
        <p:nvSpPr>
          <p:cNvPr id="28" name="Rounded Rectangle 27"/>
          <p:cNvSpPr/>
          <p:nvPr/>
        </p:nvSpPr>
        <p:spPr>
          <a:xfrm>
            <a:off x="6255867" y="4846320"/>
            <a:ext cx="2510713" cy="10058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1899" y="4983480"/>
            <a:ext cx="2510713" cy="274320"/>
          </a:xfrm>
          <a:prstGeom prst="rect">
            <a:avLst/>
          </a:prstGeom>
          <a:noFill/>
        </p:spPr>
        <p:txBody>
          <a:bodyPr wrap="square" anchor="t" lIns="0" rIns="0" tIns="0" bIns="0">
            <a:spAutoFit/>
          </a:bodyPr>
          <a:lstStyle/>
          <a:p>
            <a:pPr algn="l"/>
            <a:r>
              <a:rPr sz="1050" b="1" i="0">
                <a:solidFill>
                  <a:srgbClr val="E88B1F"/>
                </a:solidFill>
                <a:latin typeface="Montserrat"/>
              </a:rPr>
              <a:t>CORE BUDGET</a:t>
            </a:r>
          </a:p>
        </p:txBody>
      </p:sp>
      <p:sp>
        <p:nvSpPr>
          <p:cNvPr id="30" name="TextBox 29"/>
          <p:cNvSpPr txBox="1"/>
          <p:nvPr/>
        </p:nvSpPr>
        <p:spPr>
          <a:xfrm>
            <a:off x="6511899" y="5285232"/>
            <a:ext cx="2144953" cy="457200"/>
          </a:xfrm>
          <a:prstGeom prst="rect">
            <a:avLst/>
          </a:prstGeom>
          <a:noFill/>
        </p:spPr>
        <p:txBody>
          <a:bodyPr wrap="square" anchor="t" lIns="0" rIns="0" tIns="0" bIns="0">
            <a:spAutoFit/>
          </a:bodyPr>
          <a:lstStyle/>
          <a:p>
            <a:pPr algn="l"/>
            <a:r>
              <a:rPr sz="1600" b="1" i="0">
                <a:solidFill>
                  <a:srgbClr val="141B3A"/>
                </a:solidFill>
                <a:latin typeface="Montserrat"/>
              </a:rPr>
              <a:t>$132,000</a:t>
            </a:r>
          </a:p>
        </p:txBody>
      </p:sp>
      <p:sp>
        <p:nvSpPr>
          <p:cNvPr id="31" name="Rounded Rectangle 30"/>
          <p:cNvSpPr/>
          <p:nvPr/>
        </p:nvSpPr>
        <p:spPr>
          <a:xfrm>
            <a:off x="9086621" y="4846320"/>
            <a:ext cx="2510713" cy="10058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2653" y="4983480"/>
            <a:ext cx="2510713" cy="274320"/>
          </a:xfrm>
          <a:prstGeom prst="rect">
            <a:avLst/>
          </a:prstGeom>
          <a:noFill/>
        </p:spPr>
        <p:txBody>
          <a:bodyPr wrap="square" anchor="t" lIns="0" rIns="0" tIns="0" bIns="0">
            <a:spAutoFit/>
          </a:bodyPr>
          <a:lstStyle/>
          <a:p>
            <a:pPr algn="l"/>
            <a:r>
              <a:rPr sz="1050" b="1" i="0">
                <a:solidFill>
                  <a:srgbClr val="E88B1F"/>
                </a:solidFill>
                <a:latin typeface="Montserrat"/>
              </a:rPr>
              <a:t>BONUS POOL</a:t>
            </a:r>
          </a:p>
        </p:txBody>
      </p:sp>
      <p:sp>
        <p:nvSpPr>
          <p:cNvPr id="33" name="TextBox 32"/>
          <p:cNvSpPr txBox="1"/>
          <p:nvPr/>
        </p:nvSpPr>
        <p:spPr>
          <a:xfrm>
            <a:off x="9342653" y="5285232"/>
            <a:ext cx="2144953" cy="457200"/>
          </a:xfrm>
          <a:prstGeom prst="rect">
            <a:avLst/>
          </a:prstGeom>
          <a:noFill/>
        </p:spPr>
        <p:txBody>
          <a:bodyPr wrap="square" anchor="t" lIns="0" rIns="0" tIns="0" bIns="0">
            <a:spAutoFit/>
          </a:bodyPr>
          <a:lstStyle/>
          <a:p>
            <a:pPr algn="l"/>
            <a:r>
              <a:rPr sz="1600" b="1" i="0">
                <a:solidFill>
                  <a:srgbClr val="141B3A"/>
                </a:solidFill>
                <a:latin typeface="Montserrat"/>
              </a:rPr>
              <a:t>$24,000 at risk</a:t>
            </a:r>
          </a:p>
        </p:txBody>
      </p:sp>
      <p:cxnSp>
        <p:nvCxnSpPr>
          <p:cNvPr id="34" name="Connector 33"/>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36" name="TextBox 35"/>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02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AT A GLANCE</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The term in six numbers</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94360" y="1508760"/>
            <a:ext cx="3472586" cy="21031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4864" cy="2103120"/>
          </a:xfrm>
          <a:prstGeom prst="roundRect">
            <a:avLst>
              <a:gd name="adj" fmla="val 50000"/>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691640"/>
            <a:ext cx="3061106" cy="548640"/>
          </a:xfrm>
          <a:prstGeom prst="rect">
            <a:avLst/>
          </a:prstGeom>
          <a:noFill/>
        </p:spPr>
        <p:txBody>
          <a:bodyPr wrap="square" anchor="t" lIns="0" rIns="0" tIns="0" bIns="0">
            <a:spAutoFit/>
          </a:bodyPr>
          <a:lstStyle/>
          <a:p>
            <a:pPr algn="l"/>
            <a:r>
              <a:rPr sz="3000" b="1" i="0">
                <a:solidFill>
                  <a:srgbClr val="141B3A"/>
                </a:solidFill>
                <a:latin typeface="Montserrat"/>
              </a:rPr>
              <a:t>Live</a:t>
            </a:r>
          </a:p>
        </p:txBody>
      </p:sp>
      <p:sp>
        <p:nvSpPr>
          <p:cNvPr id="10" name="TextBox 9"/>
          <p:cNvSpPr txBox="1"/>
          <p:nvPr/>
        </p:nvSpPr>
        <p:spPr>
          <a:xfrm>
            <a:off x="850392" y="2331720"/>
            <a:ext cx="3061106" cy="320040"/>
          </a:xfrm>
          <a:prstGeom prst="rect">
            <a:avLst/>
          </a:prstGeom>
          <a:noFill/>
        </p:spPr>
        <p:txBody>
          <a:bodyPr wrap="square" anchor="t" lIns="0" rIns="0" tIns="0" bIns="0">
            <a:spAutoFit/>
          </a:bodyPr>
          <a:lstStyle/>
          <a:p>
            <a:pPr algn="l"/>
            <a:r>
              <a:rPr sz="1300" b="1" i="0">
                <a:solidFill>
                  <a:srgbClr val="1A1E2C"/>
                </a:solidFill>
                <a:latin typeface="Montserrat"/>
              </a:rPr>
              <a:t>DePrize on Arbitrum</a:t>
            </a:r>
          </a:p>
        </p:txBody>
      </p:sp>
      <p:sp>
        <p:nvSpPr>
          <p:cNvPr id="11" name="TextBox 10"/>
          <p:cNvSpPr txBox="1"/>
          <p:nvPr/>
        </p:nvSpPr>
        <p:spPr>
          <a:xfrm>
            <a:off x="850392" y="2651760"/>
            <a:ext cx="3061106" cy="914400"/>
          </a:xfrm>
          <a:prstGeom prst="rect">
            <a:avLst/>
          </a:prstGeom>
          <a:noFill/>
        </p:spPr>
        <p:txBody>
          <a:bodyPr wrap="square" anchor="t" lIns="0" rIns="0" tIns="0" bIns="0">
            <a:spAutoFit/>
          </a:bodyPr>
          <a:lstStyle/>
          <a:p>
            <a:pPr algn="l"/>
            <a:r>
              <a:rPr sz="1150" b="0" i="0">
                <a:solidFill>
                  <a:srgbClr val="555C72"/>
                </a:solidFill>
                <a:latin typeface="Source Sans 3"/>
              </a:rPr>
              <a:t>Mainnet 25 Aug · 5 competitions on mainnet, 8 on Sepolia</a:t>
            </a:r>
          </a:p>
        </p:txBody>
      </p:sp>
      <p:sp>
        <p:nvSpPr>
          <p:cNvPr id="12" name="Rounded Rectangle 11"/>
          <p:cNvSpPr/>
          <p:nvPr/>
        </p:nvSpPr>
        <p:spPr>
          <a:xfrm>
            <a:off x="4359554" y="1508760"/>
            <a:ext cx="3472586" cy="21031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59554" y="1508760"/>
            <a:ext cx="54864" cy="210312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5586" y="1691640"/>
            <a:ext cx="3061106" cy="548640"/>
          </a:xfrm>
          <a:prstGeom prst="rect">
            <a:avLst/>
          </a:prstGeom>
          <a:noFill/>
        </p:spPr>
        <p:txBody>
          <a:bodyPr wrap="square" anchor="t" lIns="0" rIns="0" tIns="0" bIns="0">
            <a:spAutoFit/>
          </a:bodyPr>
          <a:lstStyle/>
          <a:p>
            <a:pPr algn="l"/>
            <a:r>
              <a:rPr sz="3000" b="1" i="0">
                <a:solidFill>
                  <a:srgbClr val="141B3A"/>
                </a:solidFill>
                <a:latin typeface="Montserrat"/>
              </a:rPr>
              <a:t>+33%</a:t>
            </a:r>
          </a:p>
        </p:txBody>
      </p:sp>
      <p:sp>
        <p:nvSpPr>
          <p:cNvPr id="15" name="TextBox 14"/>
          <p:cNvSpPr txBox="1"/>
          <p:nvPr/>
        </p:nvSpPr>
        <p:spPr>
          <a:xfrm>
            <a:off x="4615586" y="2331720"/>
            <a:ext cx="3061106" cy="320040"/>
          </a:xfrm>
          <a:prstGeom prst="rect">
            <a:avLst/>
          </a:prstGeom>
          <a:noFill/>
        </p:spPr>
        <p:txBody>
          <a:bodyPr wrap="square" anchor="t" lIns="0" rIns="0" tIns="0" bIns="0">
            <a:spAutoFit/>
          </a:bodyPr>
          <a:lstStyle/>
          <a:p>
            <a:pPr algn="l"/>
            <a:r>
              <a:rPr sz="1300" b="1" i="0">
                <a:solidFill>
                  <a:srgbClr val="1A1E2C"/>
                </a:solidFill>
                <a:latin typeface="Montserrat"/>
              </a:rPr>
              <a:t>Citizens</a:t>
            </a:r>
          </a:p>
        </p:txBody>
      </p:sp>
      <p:sp>
        <p:nvSpPr>
          <p:cNvPr id="16" name="TextBox 15"/>
          <p:cNvSpPr txBox="1"/>
          <p:nvPr/>
        </p:nvSpPr>
        <p:spPr>
          <a:xfrm>
            <a:off x="4615586" y="2651760"/>
            <a:ext cx="3061106" cy="914400"/>
          </a:xfrm>
          <a:prstGeom prst="rect">
            <a:avLst/>
          </a:prstGeom>
          <a:noFill/>
        </p:spPr>
        <p:txBody>
          <a:bodyPr wrap="square" anchor="t" lIns="0" rIns="0" tIns="0" bIns="0">
            <a:spAutoFit/>
          </a:bodyPr>
          <a:lstStyle/>
          <a:p>
            <a:pPr algn="l"/>
            <a:r>
              <a:rPr sz="1150" b="0" i="0">
                <a:solidFill>
                  <a:srgbClr val="555C72"/>
                </a:solidFill>
                <a:latin typeface="Source Sans 3"/>
              </a:rPr>
              <a:t>199 → 265 minted · 238 active (target 300)</a:t>
            </a:r>
          </a:p>
        </p:txBody>
      </p:sp>
      <p:sp>
        <p:nvSpPr>
          <p:cNvPr id="17" name="Rounded Rectangle 16"/>
          <p:cNvSpPr/>
          <p:nvPr/>
        </p:nvSpPr>
        <p:spPr>
          <a:xfrm>
            <a:off x="8124748" y="1508760"/>
            <a:ext cx="3472586" cy="21031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24748" y="1508760"/>
            <a:ext cx="54864" cy="210312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0780" y="1691640"/>
            <a:ext cx="3061106" cy="548640"/>
          </a:xfrm>
          <a:prstGeom prst="rect">
            <a:avLst/>
          </a:prstGeom>
          <a:noFill/>
        </p:spPr>
        <p:txBody>
          <a:bodyPr wrap="square" anchor="t" lIns="0" rIns="0" tIns="0" bIns="0">
            <a:spAutoFit/>
          </a:bodyPr>
          <a:lstStyle/>
          <a:p>
            <a:pPr algn="l"/>
            <a:r>
              <a:rPr sz="3000" b="1" i="0">
                <a:solidFill>
                  <a:srgbClr val="141B3A"/>
                </a:solidFill>
                <a:latin typeface="Montserrat"/>
              </a:rPr>
              <a:t>20 → 25</a:t>
            </a:r>
          </a:p>
        </p:txBody>
      </p:sp>
      <p:sp>
        <p:nvSpPr>
          <p:cNvPr id="20" name="TextBox 19"/>
          <p:cNvSpPr txBox="1"/>
          <p:nvPr/>
        </p:nvSpPr>
        <p:spPr>
          <a:xfrm>
            <a:off x="8380780" y="2331720"/>
            <a:ext cx="3061106" cy="320040"/>
          </a:xfrm>
          <a:prstGeom prst="rect">
            <a:avLst/>
          </a:prstGeom>
          <a:noFill/>
        </p:spPr>
        <p:txBody>
          <a:bodyPr wrap="square" anchor="t" lIns="0" rIns="0" tIns="0" bIns="0">
            <a:spAutoFit/>
          </a:bodyPr>
          <a:lstStyle/>
          <a:p>
            <a:pPr algn="l"/>
            <a:r>
              <a:rPr sz="1300" b="1" i="0">
                <a:solidFill>
                  <a:srgbClr val="1A1E2C"/>
                </a:solidFill>
                <a:latin typeface="Montserrat"/>
              </a:rPr>
              <a:t>Teams</a:t>
            </a:r>
          </a:p>
        </p:txBody>
      </p:sp>
      <p:sp>
        <p:nvSpPr>
          <p:cNvPr id="21" name="TextBox 20"/>
          <p:cNvSpPr txBox="1"/>
          <p:nvPr/>
        </p:nvSpPr>
        <p:spPr>
          <a:xfrm>
            <a:off x="8380780" y="2651760"/>
            <a:ext cx="3061106" cy="914400"/>
          </a:xfrm>
          <a:prstGeom prst="rect">
            <a:avLst/>
          </a:prstGeom>
          <a:noFill/>
        </p:spPr>
        <p:txBody>
          <a:bodyPr wrap="square" anchor="t" lIns="0" rIns="0" tIns="0" bIns="0">
            <a:spAutoFit/>
          </a:bodyPr>
          <a:lstStyle/>
          <a:p>
            <a:pPr algn="l"/>
            <a:r>
              <a:rPr sz="1150" b="0" i="0">
                <a:solidFill>
                  <a:srgbClr val="555C72"/>
                </a:solidFill>
                <a:latin typeface="Source Sans 3"/>
              </a:rPr>
              <a:t>Five new Teams, all active (target 30)</a:t>
            </a:r>
          </a:p>
        </p:txBody>
      </p:sp>
      <p:sp>
        <p:nvSpPr>
          <p:cNvPr id="22" name="Rounded Rectangle 21"/>
          <p:cNvSpPr/>
          <p:nvPr/>
        </p:nvSpPr>
        <p:spPr>
          <a:xfrm>
            <a:off x="594360" y="3904488"/>
            <a:ext cx="3472586" cy="21031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3904488"/>
            <a:ext cx="54864" cy="210312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 y="4087368"/>
            <a:ext cx="3061106" cy="548640"/>
          </a:xfrm>
          <a:prstGeom prst="rect">
            <a:avLst/>
          </a:prstGeom>
          <a:noFill/>
        </p:spPr>
        <p:txBody>
          <a:bodyPr wrap="square" anchor="t" lIns="0" rIns="0" tIns="0" bIns="0">
            <a:spAutoFit/>
          </a:bodyPr>
          <a:lstStyle/>
          <a:p>
            <a:pPr algn="l"/>
            <a:r>
              <a:rPr sz="3000" b="1" i="0">
                <a:solidFill>
                  <a:srgbClr val="141B3A"/>
                </a:solidFill>
                <a:latin typeface="Montserrat"/>
              </a:rPr>
              <a:t>44%</a:t>
            </a:r>
          </a:p>
        </p:txBody>
      </p:sp>
      <p:sp>
        <p:nvSpPr>
          <p:cNvPr id="25" name="TextBox 24"/>
          <p:cNvSpPr txBox="1"/>
          <p:nvPr/>
        </p:nvSpPr>
        <p:spPr>
          <a:xfrm>
            <a:off x="850392" y="4727448"/>
            <a:ext cx="3061106" cy="320040"/>
          </a:xfrm>
          <a:prstGeom prst="rect">
            <a:avLst/>
          </a:prstGeom>
          <a:noFill/>
        </p:spPr>
        <p:txBody>
          <a:bodyPr wrap="square" anchor="t" lIns="0" rIns="0" tIns="0" bIns="0">
            <a:spAutoFit/>
          </a:bodyPr>
          <a:lstStyle/>
          <a:p>
            <a:pPr algn="l"/>
            <a:r>
              <a:rPr sz="1300" b="1" i="0">
                <a:solidFill>
                  <a:srgbClr val="1A1E2C"/>
                </a:solidFill>
                <a:latin typeface="Montserrat"/>
              </a:rPr>
              <a:t>Teams using services</a:t>
            </a:r>
          </a:p>
        </p:txBody>
      </p:sp>
      <p:sp>
        <p:nvSpPr>
          <p:cNvPr id="26" name="TextBox 25"/>
          <p:cNvSpPr txBox="1"/>
          <p:nvPr/>
        </p:nvSpPr>
        <p:spPr>
          <a:xfrm>
            <a:off x="850392" y="5047488"/>
            <a:ext cx="3061106" cy="914400"/>
          </a:xfrm>
          <a:prstGeom prst="rect">
            <a:avLst/>
          </a:prstGeom>
          <a:noFill/>
        </p:spPr>
        <p:txBody>
          <a:bodyPr wrap="square" anchor="t" lIns="0" rIns="0" tIns="0" bIns="0">
            <a:spAutoFit/>
          </a:bodyPr>
          <a:lstStyle/>
          <a:p>
            <a:pPr algn="l"/>
            <a:r>
              <a:rPr sz="1150" b="0" i="0">
                <a:solidFill>
                  <a:srgbClr val="555C72"/>
                </a:solidFill>
                <a:latin typeface="Source Sans 3"/>
              </a:rPr>
              <a:t>11 of 25 posted a job or listing (target 60%)</a:t>
            </a:r>
          </a:p>
        </p:txBody>
      </p:sp>
      <p:sp>
        <p:nvSpPr>
          <p:cNvPr id="27" name="Rounded Rectangle 26"/>
          <p:cNvSpPr/>
          <p:nvPr/>
        </p:nvSpPr>
        <p:spPr>
          <a:xfrm>
            <a:off x="4359554" y="3904488"/>
            <a:ext cx="3472586" cy="21031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359554" y="3904488"/>
            <a:ext cx="54864" cy="2103120"/>
          </a:xfrm>
          <a:prstGeom prst="roundRect">
            <a:avLst>
              <a:gd name="adj" fmla="val 50000"/>
            </a:avLst>
          </a:prstGeom>
          <a:solidFill>
            <a:srgbClr val="1E2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5586" y="4087368"/>
            <a:ext cx="3061106" cy="548640"/>
          </a:xfrm>
          <a:prstGeom prst="rect">
            <a:avLst/>
          </a:prstGeom>
          <a:noFill/>
        </p:spPr>
        <p:txBody>
          <a:bodyPr wrap="square" anchor="t" lIns="0" rIns="0" tIns="0" bIns="0">
            <a:spAutoFit/>
          </a:bodyPr>
          <a:lstStyle/>
          <a:p>
            <a:pPr algn="l"/>
            <a:r>
              <a:rPr sz="3000" b="1" i="0">
                <a:solidFill>
                  <a:srgbClr val="141B3A"/>
                </a:solidFill>
                <a:latin typeface="Montserrat"/>
              </a:rPr>
              <a:t>$132.7k</a:t>
            </a:r>
          </a:p>
        </p:txBody>
      </p:sp>
      <p:sp>
        <p:nvSpPr>
          <p:cNvPr id="30" name="TextBox 29"/>
          <p:cNvSpPr txBox="1"/>
          <p:nvPr/>
        </p:nvSpPr>
        <p:spPr>
          <a:xfrm>
            <a:off x="4615586" y="4727448"/>
            <a:ext cx="3061106" cy="320040"/>
          </a:xfrm>
          <a:prstGeom prst="rect">
            <a:avLst/>
          </a:prstGeom>
          <a:noFill/>
        </p:spPr>
        <p:txBody>
          <a:bodyPr wrap="square" anchor="t" lIns="0" rIns="0" tIns="0" bIns="0">
            <a:spAutoFit/>
          </a:bodyPr>
          <a:lstStyle/>
          <a:p>
            <a:pPr algn="l"/>
            <a:r>
              <a:rPr sz="1300" b="1" i="0">
                <a:solidFill>
                  <a:srgbClr val="1A1E2C"/>
                </a:solidFill>
                <a:latin typeface="Montserrat"/>
              </a:rPr>
              <a:t>Spent vs $132k budget</a:t>
            </a:r>
          </a:p>
        </p:txBody>
      </p:sp>
      <p:sp>
        <p:nvSpPr>
          <p:cNvPr id="31" name="TextBox 30"/>
          <p:cNvSpPr txBox="1"/>
          <p:nvPr/>
        </p:nvSpPr>
        <p:spPr>
          <a:xfrm>
            <a:off x="4615586" y="5047488"/>
            <a:ext cx="3061106" cy="914400"/>
          </a:xfrm>
          <a:prstGeom prst="rect">
            <a:avLst/>
          </a:prstGeom>
          <a:noFill/>
        </p:spPr>
        <p:txBody>
          <a:bodyPr wrap="square" anchor="t" lIns="0" rIns="0" tIns="0" bIns="0">
            <a:spAutoFit/>
          </a:bodyPr>
          <a:lstStyle/>
          <a:p>
            <a:pPr algn="l"/>
            <a:r>
              <a:rPr sz="1150" b="0" i="0">
                <a:solidFill>
                  <a:srgbClr val="555C72"/>
                </a:solidFill>
                <a:latin typeface="Source Sans 3"/>
              </a:rPr>
              <a:t>Within 0.6% · payroll via LlamaPay streams</a:t>
            </a:r>
          </a:p>
        </p:txBody>
      </p:sp>
      <p:sp>
        <p:nvSpPr>
          <p:cNvPr id="32" name="Rounded Rectangle 31"/>
          <p:cNvSpPr/>
          <p:nvPr/>
        </p:nvSpPr>
        <p:spPr>
          <a:xfrm>
            <a:off x="8124748" y="3904488"/>
            <a:ext cx="3472586" cy="21031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124748" y="3904488"/>
            <a:ext cx="54864" cy="2103120"/>
          </a:xfrm>
          <a:prstGeom prst="roundRect">
            <a:avLst>
              <a:gd name="adj" fmla="val 50000"/>
            </a:avLst>
          </a:prstGeom>
          <a:solidFill>
            <a:srgbClr val="1E2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0780" y="4087368"/>
            <a:ext cx="3061106" cy="548640"/>
          </a:xfrm>
          <a:prstGeom prst="rect">
            <a:avLst/>
          </a:prstGeom>
          <a:noFill/>
        </p:spPr>
        <p:txBody>
          <a:bodyPr wrap="square" anchor="t" lIns="0" rIns="0" tIns="0" bIns="0">
            <a:spAutoFit/>
          </a:bodyPr>
          <a:lstStyle/>
          <a:p>
            <a:pPr algn="l"/>
            <a:r>
              <a:rPr sz="3000" b="1" i="0">
                <a:solidFill>
                  <a:srgbClr val="141B3A"/>
                </a:solidFill>
                <a:latin typeface="Montserrat"/>
              </a:rPr>
              <a:t>359</a:t>
            </a:r>
          </a:p>
        </p:txBody>
      </p:sp>
      <p:sp>
        <p:nvSpPr>
          <p:cNvPr id="35" name="TextBox 34"/>
          <p:cNvSpPr txBox="1"/>
          <p:nvPr/>
        </p:nvSpPr>
        <p:spPr>
          <a:xfrm>
            <a:off x="8380780" y="4727448"/>
            <a:ext cx="3061106" cy="320040"/>
          </a:xfrm>
          <a:prstGeom prst="rect">
            <a:avLst/>
          </a:prstGeom>
          <a:noFill/>
        </p:spPr>
        <p:txBody>
          <a:bodyPr wrap="square" anchor="t" lIns="0" rIns="0" tIns="0" bIns="0">
            <a:spAutoFit/>
          </a:bodyPr>
          <a:lstStyle/>
          <a:p>
            <a:pPr algn="l"/>
            <a:r>
              <a:rPr sz="1300" b="1" i="0">
                <a:solidFill>
                  <a:srgbClr val="1A1E2C"/>
                </a:solidFill>
                <a:latin typeface="Montserrat"/>
              </a:rPr>
              <a:t>Merged pull requests</a:t>
            </a:r>
          </a:p>
        </p:txBody>
      </p:sp>
      <p:sp>
        <p:nvSpPr>
          <p:cNvPr id="36" name="TextBox 35"/>
          <p:cNvSpPr txBox="1"/>
          <p:nvPr/>
        </p:nvSpPr>
        <p:spPr>
          <a:xfrm>
            <a:off x="8380780" y="5047488"/>
            <a:ext cx="3061106" cy="914400"/>
          </a:xfrm>
          <a:prstGeom prst="rect">
            <a:avLst/>
          </a:prstGeom>
          <a:noFill/>
        </p:spPr>
        <p:txBody>
          <a:bodyPr wrap="square" anchor="t" lIns="0" rIns="0" tIns="0" bIns="0">
            <a:spAutoFit/>
          </a:bodyPr>
          <a:lstStyle/>
          <a:p>
            <a:pPr algn="l"/>
            <a:r>
              <a:rPr sz="1150" b="0" i="0">
                <a:solidFill>
                  <a:srgbClr val="555C72"/>
                </a:solidFill>
                <a:latin typeface="Source Sans 3"/>
              </a:rPr>
              <a:t>Three-person team · 1 May – 7 Oct</a:t>
            </a:r>
          </a:p>
        </p:txBody>
      </p:sp>
      <p:cxnSp>
        <p:nvCxnSpPr>
          <p:cNvPr id="37" name="Connector 36"/>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39" name="TextBox 38"/>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03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OBJECTIVE 1  ·  DEPRIZE</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DePrize is live on Arbitrum</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77240" y="1874519"/>
            <a:ext cx="10637215" cy="0"/>
          </a:xfrm>
          <a:prstGeom prst="line">
            <a:avLst/>
          </a:prstGeom>
          <a:ln w="31750">
            <a:solidFill>
              <a:srgbClr val="1E2F6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77240" y="1755647"/>
            <a:ext cx="237744" cy="237744"/>
          </a:xfrm>
          <a:prstGeom prst="ellipse">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371600"/>
            <a:ext cx="2750743" cy="274320"/>
          </a:xfrm>
          <a:prstGeom prst="rect">
            <a:avLst/>
          </a:prstGeom>
          <a:noFill/>
        </p:spPr>
        <p:txBody>
          <a:bodyPr wrap="square" anchor="t" lIns="0" rIns="0" tIns="0" bIns="0">
            <a:spAutoFit/>
          </a:bodyPr>
          <a:lstStyle/>
          <a:p>
            <a:pPr algn="l"/>
            <a:r>
              <a:rPr sz="1200" b="1" i="0">
                <a:solidFill>
                  <a:srgbClr val="E88B1F"/>
                </a:solidFill>
                <a:latin typeface="Montserrat"/>
              </a:rPr>
              <a:t>25 AUG</a:t>
            </a:r>
          </a:p>
        </p:txBody>
      </p:sp>
      <p:sp>
        <p:nvSpPr>
          <p:cNvPr id="10" name="TextBox 9"/>
          <p:cNvSpPr txBox="1"/>
          <p:nvPr/>
        </p:nvSpPr>
        <p:spPr>
          <a:xfrm>
            <a:off x="777240" y="2148839"/>
            <a:ext cx="2384983" cy="320040"/>
          </a:xfrm>
          <a:prstGeom prst="rect">
            <a:avLst/>
          </a:prstGeom>
          <a:noFill/>
        </p:spPr>
        <p:txBody>
          <a:bodyPr wrap="square" anchor="t" lIns="0" rIns="0" tIns="0" bIns="0">
            <a:spAutoFit/>
          </a:bodyPr>
          <a:lstStyle/>
          <a:p>
            <a:pPr algn="l"/>
            <a:r>
              <a:rPr sz="1500" b="1" i="0">
                <a:solidFill>
                  <a:srgbClr val="141B3A"/>
                </a:solidFill>
                <a:latin typeface="Montserrat"/>
              </a:rPr>
              <a:t>Mainnet launch</a:t>
            </a:r>
          </a:p>
        </p:txBody>
      </p:sp>
      <p:sp>
        <p:nvSpPr>
          <p:cNvPr id="11" name="TextBox 10"/>
          <p:cNvSpPr txBox="1"/>
          <p:nvPr/>
        </p:nvSpPr>
        <p:spPr>
          <a:xfrm>
            <a:off x="777240" y="2496311"/>
            <a:ext cx="2339263" cy="731520"/>
          </a:xfrm>
          <a:prstGeom prst="rect">
            <a:avLst/>
          </a:prstGeom>
          <a:noFill/>
        </p:spPr>
        <p:txBody>
          <a:bodyPr wrap="square" anchor="t" lIns="0" rIns="0" tIns="0" bIns="0">
            <a:spAutoFit/>
          </a:bodyPr>
          <a:lstStyle/>
          <a:p>
            <a:pPr algn="l">
              <a:lnSpc>
                <a:spcPct val="105000"/>
              </a:lnSpc>
            </a:pPr>
            <a:r>
              <a:rPr sz="1200" b="0" i="0">
                <a:solidFill>
                  <a:srgbClr val="555C72"/>
                </a:solidFill>
                <a:latin typeface="Source Sans 3"/>
              </a:rPr>
              <a:t>DePrize #1: The Moon Is A Harsh Mistress (demo prize)</a:t>
            </a:r>
          </a:p>
        </p:txBody>
      </p:sp>
      <p:sp>
        <p:nvSpPr>
          <p:cNvPr id="12" name="Oval 11"/>
          <p:cNvSpPr/>
          <p:nvPr/>
        </p:nvSpPr>
        <p:spPr>
          <a:xfrm>
            <a:off x="3527983" y="1755647"/>
            <a:ext cx="237744" cy="237744"/>
          </a:xfrm>
          <a:prstGeom prst="ellipse">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7983" y="1371600"/>
            <a:ext cx="2750743" cy="274320"/>
          </a:xfrm>
          <a:prstGeom prst="rect">
            <a:avLst/>
          </a:prstGeom>
          <a:noFill/>
        </p:spPr>
        <p:txBody>
          <a:bodyPr wrap="square" anchor="t" lIns="0" rIns="0" tIns="0" bIns="0">
            <a:spAutoFit/>
          </a:bodyPr>
          <a:lstStyle/>
          <a:p>
            <a:pPr algn="l"/>
            <a:r>
              <a:rPr sz="1200" b="1" i="0">
                <a:solidFill>
                  <a:srgbClr val="E88B1F"/>
                </a:solidFill>
                <a:latin typeface="Montserrat"/>
              </a:rPr>
              <a:t>11 SEP</a:t>
            </a:r>
          </a:p>
        </p:txBody>
      </p:sp>
      <p:sp>
        <p:nvSpPr>
          <p:cNvPr id="14" name="TextBox 13"/>
          <p:cNvSpPr txBox="1"/>
          <p:nvPr/>
        </p:nvSpPr>
        <p:spPr>
          <a:xfrm>
            <a:off x="3527983" y="2148839"/>
            <a:ext cx="2384983" cy="320040"/>
          </a:xfrm>
          <a:prstGeom prst="rect">
            <a:avLst/>
          </a:prstGeom>
          <a:noFill/>
        </p:spPr>
        <p:txBody>
          <a:bodyPr wrap="square" anchor="t" lIns="0" rIns="0" tIns="0" bIns="0">
            <a:spAutoFit/>
          </a:bodyPr>
          <a:lstStyle/>
          <a:p>
            <a:pPr algn="l"/>
            <a:r>
              <a:rPr sz="1500" b="1" i="0">
                <a:solidFill>
                  <a:srgbClr val="141B3A"/>
                </a:solidFill>
                <a:latin typeface="Montserrat"/>
              </a:rPr>
              <a:t>Security fix</a:t>
            </a:r>
          </a:p>
        </p:txBody>
      </p:sp>
      <p:sp>
        <p:nvSpPr>
          <p:cNvPr id="15" name="TextBox 14"/>
          <p:cNvSpPr txBox="1"/>
          <p:nvPr/>
        </p:nvSpPr>
        <p:spPr>
          <a:xfrm>
            <a:off x="3527983" y="2496311"/>
            <a:ext cx="2339263" cy="731520"/>
          </a:xfrm>
          <a:prstGeom prst="rect">
            <a:avLst/>
          </a:prstGeom>
          <a:noFill/>
        </p:spPr>
        <p:txBody>
          <a:bodyPr wrap="square" anchor="t" lIns="0" rIns="0" tIns="0" bIns="0">
            <a:spAutoFit/>
          </a:bodyPr>
          <a:lstStyle/>
          <a:p>
            <a:pPr algn="l">
              <a:lnSpc>
                <a:spcPct val="105000"/>
              </a:lnSpc>
            </a:pPr>
            <a:r>
              <a:rPr sz="1200" b="0" i="0">
                <a:solidFill>
                  <a:srgbClr val="555C72"/>
                </a:solidFill>
                <a:latin typeface="Source Sans 3"/>
              </a:rPr>
              <a:t>Bug H-01 found in review, fixed and redeployed before any race</a:t>
            </a:r>
          </a:p>
        </p:txBody>
      </p:sp>
      <p:sp>
        <p:nvSpPr>
          <p:cNvPr id="16" name="Oval 15"/>
          <p:cNvSpPr/>
          <p:nvPr/>
        </p:nvSpPr>
        <p:spPr>
          <a:xfrm>
            <a:off x="6278727" y="1755647"/>
            <a:ext cx="237744" cy="237744"/>
          </a:xfrm>
          <a:prstGeom prst="ellipse">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78727" y="1371600"/>
            <a:ext cx="2750743" cy="274320"/>
          </a:xfrm>
          <a:prstGeom prst="rect">
            <a:avLst/>
          </a:prstGeom>
          <a:noFill/>
        </p:spPr>
        <p:txBody>
          <a:bodyPr wrap="square" anchor="t" lIns="0" rIns="0" tIns="0" bIns="0">
            <a:spAutoFit/>
          </a:bodyPr>
          <a:lstStyle/>
          <a:p>
            <a:pPr algn="l"/>
            <a:r>
              <a:rPr sz="1200" b="1" i="0">
                <a:solidFill>
                  <a:srgbClr val="E88B1F"/>
                </a:solidFill>
                <a:latin typeface="Montserrat"/>
              </a:rPr>
              <a:t>18 SEP</a:t>
            </a:r>
          </a:p>
        </p:txBody>
      </p:sp>
      <p:sp>
        <p:nvSpPr>
          <p:cNvPr id="18" name="TextBox 17"/>
          <p:cNvSpPr txBox="1"/>
          <p:nvPr/>
        </p:nvSpPr>
        <p:spPr>
          <a:xfrm>
            <a:off x="6278727" y="2148839"/>
            <a:ext cx="2384983" cy="320040"/>
          </a:xfrm>
          <a:prstGeom prst="rect">
            <a:avLst/>
          </a:prstGeom>
          <a:noFill/>
        </p:spPr>
        <p:txBody>
          <a:bodyPr wrap="square" anchor="t" lIns="0" rIns="0" tIns="0" bIns="0">
            <a:spAutoFit/>
          </a:bodyPr>
          <a:lstStyle/>
          <a:p>
            <a:pPr algn="l"/>
            <a:r>
              <a:rPr sz="1500" b="1" i="0">
                <a:solidFill>
                  <a:srgbClr val="141B3A"/>
                </a:solidFill>
                <a:latin typeface="Montserrat"/>
              </a:rPr>
              <a:t>Full lifecycle</a:t>
            </a:r>
          </a:p>
        </p:txBody>
      </p:sp>
      <p:sp>
        <p:nvSpPr>
          <p:cNvPr id="19" name="TextBox 18"/>
          <p:cNvSpPr txBox="1"/>
          <p:nvPr/>
        </p:nvSpPr>
        <p:spPr>
          <a:xfrm>
            <a:off x="6278727" y="2496311"/>
            <a:ext cx="2339263" cy="731520"/>
          </a:xfrm>
          <a:prstGeom prst="rect">
            <a:avLst/>
          </a:prstGeom>
          <a:noFill/>
        </p:spPr>
        <p:txBody>
          <a:bodyPr wrap="square" anchor="t" lIns="0" rIns="0" tIns="0" bIns="0">
            <a:spAutoFit/>
          </a:bodyPr>
          <a:lstStyle/>
          <a:p>
            <a:pPr algn="l">
              <a:lnSpc>
                <a:spcPct val="105000"/>
              </a:lnSpc>
            </a:pPr>
            <a:r>
              <a:rPr sz="1200" b="0" i="0">
                <a:solidFill>
                  <a:srgbClr val="555C72"/>
                </a:solidFill>
                <a:latin typeface="Source Sans 3"/>
              </a:rPr>
              <a:t>Sepolia: bet, declare winner, redeem, end to end</a:t>
            </a:r>
          </a:p>
        </p:txBody>
      </p:sp>
      <p:sp>
        <p:nvSpPr>
          <p:cNvPr id="20" name="Oval 19"/>
          <p:cNvSpPr/>
          <p:nvPr/>
        </p:nvSpPr>
        <p:spPr>
          <a:xfrm>
            <a:off x="9029471" y="1755647"/>
            <a:ext cx="237744" cy="237744"/>
          </a:xfrm>
          <a:prstGeom prst="ellipse">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9471" y="1371600"/>
            <a:ext cx="2750743" cy="274320"/>
          </a:xfrm>
          <a:prstGeom prst="rect">
            <a:avLst/>
          </a:prstGeom>
          <a:noFill/>
        </p:spPr>
        <p:txBody>
          <a:bodyPr wrap="square" anchor="t" lIns="0" rIns="0" tIns="0" bIns="0">
            <a:spAutoFit/>
          </a:bodyPr>
          <a:lstStyle/>
          <a:p>
            <a:pPr algn="l"/>
            <a:r>
              <a:rPr sz="1200" b="1" i="0">
                <a:solidFill>
                  <a:srgbClr val="E88B1F"/>
                </a:solidFill>
                <a:latin typeface="Montserrat"/>
              </a:rPr>
              <a:t>26 SEP</a:t>
            </a:r>
          </a:p>
        </p:txBody>
      </p:sp>
      <p:sp>
        <p:nvSpPr>
          <p:cNvPr id="22" name="TextBox 21"/>
          <p:cNvSpPr txBox="1"/>
          <p:nvPr/>
        </p:nvSpPr>
        <p:spPr>
          <a:xfrm>
            <a:off x="9029471" y="2148839"/>
            <a:ext cx="2384983" cy="320040"/>
          </a:xfrm>
          <a:prstGeom prst="rect">
            <a:avLst/>
          </a:prstGeom>
          <a:noFill/>
        </p:spPr>
        <p:txBody>
          <a:bodyPr wrap="square" anchor="t" lIns="0" rIns="0" tIns="0" bIns="0">
            <a:spAutoFit/>
          </a:bodyPr>
          <a:lstStyle/>
          <a:p>
            <a:pPr algn="l"/>
            <a:r>
              <a:rPr sz="1500" b="1" i="0">
                <a:solidFill>
                  <a:srgbClr val="141B3A"/>
                </a:solidFill>
                <a:latin typeface="Montserrat"/>
              </a:rPr>
              <a:t>Four lunar races</a:t>
            </a:r>
          </a:p>
        </p:txBody>
      </p:sp>
      <p:sp>
        <p:nvSpPr>
          <p:cNvPr id="23" name="TextBox 22"/>
          <p:cNvSpPr txBox="1"/>
          <p:nvPr/>
        </p:nvSpPr>
        <p:spPr>
          <a:xfrm>
            <a:off x="9029471" y="2496311"/>
            <a:ext cx="2339263" cy="731520"/>
          </a:xfrm>
          <a:prstGeom prst="rect">
            <a:avLst/>
          </a:prstGeom>
          <a:noFill/>
        </p:spPr>
        <p:txBody>
          <a:bodyPr wrap="square" anchor="t" lIns="0" rIns="0" tIns="0" bIns="0">
            <a:spAutoFit/>
          </a:bodyPr>
          <a:lstStyle/>
          <a:p>
            <a:pPr algn="l">
              <a:lnSpc>
                <a:spcPct val="105000"/>
              </a:lnSpc>
            </a:pPr>
            <a:r>
              <a:rPr sz="1200" b="0" i="0">
                <a:solidFill>
                  <a:srgbClr val="555C72"/>
                </a:solidFill>
                <a:latin typeface="Source Sans 3"/>
              </a:rPr>
              <a:t>Registered on Arbitrum, each with its own market</a:t>
            </a:r>
          </a:p>
        </p:txBody>
      </p:sp>
      <p:sp>
        <p:nvSpPr>
          <p:cNvPr id="24" name="Rounded Rectangle 23"/>
          <p:cNvSpPr/>
          <p:nvPr/>
        </p:nvSpPr>
        <p:spPr>
          <a:xfrm>
            <a:off x="594360" y="3520440"/>
            <a:ext cx="2579293"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94360" y="3520440"/>
            <a:ext cx="54864" cy="137160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3685032"/>
            <a:ext cx="2213533" cy="320040"/>
          </a:xfrm>
          <a:prstGeom prst="rect">
            <a:avLst/>
          </a:prstGeom>
          <a:noFill/>
        </p:spPr>
        <p:txBody>
          <a:bodyPr wrap="square" anchor="t" lIns="0" rIns="0" tIns="0" bIns="0">
            <a:spAutoFit/>
          </a:bodyPr>
          <a:lstStyle/>
          <a:p>
            <a:pPr algn="l"/>
            <a:r>
              <a:rPr sz="1600" b="1" i="0">
                <a:solidFill>
                  <a:srgbClr val="141B3A"/>
                </a:solidFill>
                <a:latin typeface="Montserrat"/>
              </a:rPr>
              <a:t>Touchdown</a:t>
            </a:r>
          </a:p>
        </p:txBody>
      </p:sp>
      <p:sp>
        <p:nvSpPr>
          <p:cNvPr id="27" name="TextBox 26"/>
          <p:cNvSpPr txBox="1"/>
          <p:nvPr/>
        </p:nvSpPr>
        <p:spPr>
          <a:xfrm>
            <a:off x="850392" y="4050792"/>
            <a:ext cx="2167813" cy="548640"/>
          </a:xfrm>
          <a:prstGeom prst="rect">
            <a:avLst/>
          </a:prstGeom>
          <a:noFill/>
        </p:spPr>
        <p:txBody>
          <a:bodyPr wrap="square" anchor="t" lIns="0" rIns="0" tIns="0" bIns="0">
            <a:spAutoFit/>
          </a:bodyPr>
          <a:lstStyle/>
          <a:p>
            <a:pPr algn="l">
              <a:lnSpc>
                <a:spcPct val="105000"/>
              </a:lnSpc>
            </a:pPr>
            <a:r>
              <a:rPr sz="1200" b="0" i="0">
                <a:solidFill>
                  <a:srgbClr val="555C72"/>
                </a:solidFill>
                <a:latin typeface="Source Sans 3"/>
              </a:rPr>
              <a:t>Next upright working lunar landing</a:t>
            </a:r>
          </a:p>
        </p:txBody>
      </p:sp>
      <p:sp>
        <p:nvSpPr>
          <p:cNvPr id="28" name="TextBox 27"/>
          <p:cNvSpPr txBox="1"/>
          <p:nvPr/>
        </p:nvSpPr>
        <p:spPr>
          <a:xfrm>
            <a:off x="850392" y="4544568"/>
            <a:ext cx="2213533" cy="274320"/>
          </a:xfrm>
          <a:prstGeom prst="rect">
            <a:avLst/>
          </a:prstGeom>
          <a:noFill/>
        </p:spPr>
        <p:txBody>
          <a:bodyPr wrap="square" anchor="t" lIns="0" rIns="0" tIns="0" bIns="0">
            <a:spAutoFit/>
          </a:bodyPr>
          <a:lstStyle/>
          <a:p>
            <a:pPr algn="l"/>
            <a:r>
              <a:rPr sz="1100" b="1" i="0">
                <a:solidFill>
                  <a:srgbClr val="2B4C9B"/>
                </a:solidFill>
                <a:latin typeface="Montserrat"/>
              </a:rPr>
              <a:t>6 competitors</a:t>
            </a:r>
          </a:p>
        </p:txBody>
      </p:sp>
      <p:sp>
        <p:nvSpPr>
          <p:cNvPr id="29" name="Rounded Rectangle 28"/>
          <p:cNvSpPr/>
          <p:nvPr/>
        </p:nvSpPr>
        <p:spPr>
          <a:xfrm>
            <a:off x="3402253" y="3520440"/>
            <a:ext cx="2579293"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402253" y="3520440"/>
            <a:ext cx="54864" cy="137160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8285" y="3685032"/>
            <a:ext cx="2213533" cy="320040"/>
          </a:xfrm>
          <a:prstGeom prst="rect">
            <a:avLst/>
          </a:prstGeom>
          <a:noFill/>
        </p:spPr>
        <p:txBody>
          <a:bodyPr wrap="square" anchor="t" lIns="0" rIns="0" tIns="0" bIns="0">
            <a:spAutoFit/>
          </a:bodyPr>
          <a:lstStyle/>
          <a:p>
            <a:pPr algn="l"/>
            <a:r>
              <a:rPr sz="1600" b="1" i="0">
                <a:solidFill>
                  <a:srgbClr val="141B3A"/>
                </a:solidFill>
                <a:latin typeface="Montserrat"/>
              </a:rPr>
              <a:t>Night Shift</a:t>
            </a:r>
          </a:p>
        </p:txBody>
      </p:sp>
      <p:sp>
        <p:nvSpPr>
          <p:cNvPr id="32" name="TextBox 31"/>
          <p:cNvSpPr txBox="1"/>
          <p:nvPr/>
        </p:nvSpPr>
        <p:spPr>
          <a:xfrm>
            <a:off x="3658285" y="4050792"/>
            <a:ext cx="2167813" cy="548640"/>
          </a:xfrm>
          <a:prstGeom prst="rect">
            <a:avLst/>
          </a:prstGeom>
          <a:noFill/>
        </p:spPr>
        <p:txBody>
          <a:bodyPr wrap="square" anchor="t" lIns="0" rIns="0" tIns="0" bIns="0">
            <a:spAutoFit/>
          </a:bodyPr>
          <a:lstStyle/>
          <a:p>
            <a:pPr algn="l">
              <a:lnSpc>
                <a:spcPct val="105000"/>
              </a:lnSpc>
            </a:pPr>
            <a:r>
              <a:rPr sz="1200" b="0" i="0">
                <a:solidFill>
                  <a:srgbClr val="555C72"/>
                </a:solidFill>
                <a:latin typeface="Source Sans 3"/>
              </a:rPr>
              <a:t>First machine to work through a lunar night</a:t>
            </a:r>
          </a:p>
        </p:txBody>
      </p:sp>
      <p:sp>
        <p:nvSpPr>
          <p:cNvPr id="33" name="TextBox 32"/>
          <p:cNvSpPr txBox="1"/>
          <p:nvPr/>
        </p:nvSpPr>
        <p:spPr>
          <a:xfrm>
            <a:off x="3658285" y="4544568"/>
            <a:ext cx="2213533" cy="274320"/>
          </a:xfrm>
          <a:prstGeom prst="rect">
            <a:avLst/>
          </a:prstGeom>
          <a:noFill/>
        </p:spPr>
        <p:txBody>
          <a:bodyPr wrap="square" anchor="t" lIns="0" rIns="0" tIns="0" bIns="0">
            <a:spAutoFit/>
          </a:bodyPr>
          <a:lstStyle/>
          <a:p>
            <a:pPr algn="l"/>
            <a:r>
              <a:rPr sz="1100" b="1" i="0">
                <a:solidFill>
                  <a:srgbClr val="2B4C9B"/>
                </a:solidFill>
                <a:latin typeface="Montserrat"/>
              </a:rPr>
              <a:t>8 competitors</a:t>
            </a:r>
          </a:p>
        </p:txBody>
      </p:sp>
      <p:sp>
        <p:nvSpPr>
          <p:cNvPr id="34" name="Rounded Rectangle 33"/>
          <p:cNvSpPr/>
          <p:nvPr/>
        </p:nvSpPr>
        <p:spPr>
          <a:xfrm>
            <a:off x="6210147" y="3520440"/>
            <a:ext cx="2579293"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10147" y="3520440"/>
            <a:ext cx="54864" cy="137160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66179" y="3685032"/>
            <a:ext cx="2213533" cy="320040"/>
          </a:xfrm>
          <a:prstGeom prst="rect">
            <a:avLst/>
          </a:prstGeom>
          <a:noFill/>
        </p:spPr>
        <p:txBody>
          <a:bodyPr wrap="square" anchor="t" lIns="0" rIns="0" tIns="0" bIns="0">
            <a:spAutoFit/>
          </a:bodyPr>
          <a:lstStyle/>
          <a:p>
            <a:pPr algn="l"/>
            <a:r>
              <a:rPr sz="1600" b="1" i="0">
                <a:solidFill>
                  <a:srgbClr val="141B3A"/>
                </a:solidFill>
                <a:latin typeface="Montserrat"/>
              </a:rPr>
              <a:t>First Tracks</a:t>
            </a:r>
          </a:p>
        </p:txBody>
      </p:sp>
      <p:sp>
        <p:nvSpPr>
          <p:cNvPr id="37" name="TextBox 36"/>
          <p:cNvSpPr txBox="1"/>
          <p:nvPr/>
        </p:nvSpPr>
        <p:spPr>
          <a:xfrm>
            <a:off x="6466179" y="4050792"/>
            <a:ext cx="2167813" cy="548640"/>
          </a:xfrm>
          <a:prstGeom prst="rect">
            <a:avLst/>
          </a:prstGeom>
          <a:noFill/>
        </p:spPr>
        <p:txBody>
          <a:bodyPr wrap="square" anchor="t" lIns="0" rIns="0" tIns="0" bIns="0">
            <a:spAutoFit/>
          </a:bodyPr>
          <a:lstStyle/>
          <a:p>
            <a:pPr algn="l">
              <a:lnSpc>
                <a:spcPct val="105000"/>
              </a:lnSpc>
            </a:pPr>
            <a:r>
              <a:rPr sz="1200" b="0" i="0">
                <a:solidFill>
                  <a:srgbClr val="555C72"/>
                </a:solidFill>
                <a:latin typeface="Source Sans 3"/>
              </a:rPr>
              <a:t>Commercial rover egress and drive</a:t>
            </a:r>
          </a:p>
        </p:txBody>
      </p:sp>
      <p:sp>
        <p:nvSpPr>
          <p:cNvPr id="38" name="TextBox 37"/>
          <p:cNvSpPr txBox="1"/>
          <p:nvPr/>
        </p:nvSpPr>
        <p:spPr>
          <a:xfrm>
            <a:off x="6466179" y="4544568"/>
            <a:ext cx="2213533" cy="274320"/>
          </a:xfrm>
          <a:prstGeom prst="rect">
            <a:avLst/>
          </a:prstGeom>
          <a:noFill/>
        </p:spPr>
        <p:txBody>
          <a:bodyPr wrap="square" anchor="t" lIns="0" rIns="0" tIns="0" bIns="0">
            <a:spAutoFit/>
          </a:bodyPr>
          <a:lstStyle/>
          <a:p>
            <a:pPr algn="l"/>
            <a:r>
              <a:rPr sz="1100" b="1" i="0">
                <a:solidFill>
                  <a:srgbClr val="2B4C9B"/>
                </a:solidFill>
                <a:latin typeface="Montserrat"/>
              </a:rPr>
              <a:t>6 competitors</a:t>
            </a:r>
          </a:p>
        </p:txBody>
      </p:sp>
      <p:sp>
        <p:nvSpPr>
          <p:cNvPr id="39" name="Rounded Rectangle 38"/>
          <p:cNvSpPr/>
          <p:nvPr/>
        </p:nvSpPr>
        <p:spPr>
          <a:xfrm>
            <a:off x="9018041" y="3520440"/>
            <a:ext cx="2579293"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18041" y="3520440"/>
            <a:ext cx="54864" cy="137160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74073" y="3685032"/>
            <a:ext cx="2213533" cy="320040"/>
          </a:xfrm>
          <a:prstGeom prst="rect">
            <a:avLst/>
          </a:prstGeom>
          <a:noFill/>
        </p:spPr>
        <p:txBody>
          <a:bodyPr wrap="square" anchor="t" lIns="0" rIns="0" tIns="0" bIns="0">
            <a:spAutoFit/>
          </a:bodyPr>
          <a:lstStyle/>
          <a:p>
            <a:pPr algn="l"/>
            <a:r>
              <a:rPr sz="1600" b="1" i="0">
                <a:solidFill>
                  <a:srgbClr val="141B3A"/>
                </a:solidFill>
                <a:latin typeface="Montserrat"/>
              </a:rPr>
              <a:t>Water Ice</a:t>
            </a:r>
          </a:p>
        </p:txBody>
      </p:sp>
      <p:sp>
        <p:nvSpPr>
          <p:cNvPr id="42" name="TextBox 41"/>
          <p:cNvSpPr txBox="1"/>
          <p:nvPr/>
        </p:nvSpPr>
        <p:spPr>
          <a:xfrm>
            <a:off x="9274073" y="4050792"/>
            <a:ext cx="2167813" cy="548640"/>
          </a:xfrm>
          <a:prstGeom prst="rect">
            <a:avLst/>
          </a:prstGeom>
          <a:noFill/>
        </p:spPr>
        <p:txBody>
          <a:bodyPr wrap="square" anchor="t" lIns="0" rIns="0" tIns="0" bIns="0">
            <a:spAutoFit/>
          </a:bodyPr>
          <a:lstStyle/>
          <a:p>
            <a:pPr algn="l">
              <a:lnSpc>
                <a:spcPct val="105000"/>
              </a:lnSpc>
            </a:pPr>
            <a:r>
              <a:rPr sz="1200" b="0" i="0">
                <a:solidFill>
                  <a:srgbClr val="555C72"/>
                </a:solidFill>
                <a:latin typeface="Source Sans 3"/>
              </a:rPr>
              <a:t>First in-situ surface water ice</a:t>
            </a:r>
          </a:p>
        </p:txBody>
      </p:sp>
      <p:sp>
        <p:nvSpPr>
          <p:cNvPr id="43" name="TextBox 42"/>
          <p:cNvSpPr txBox="1"/>
          <p:nvPr/>
        </p:nvSpPr>
        <p:spPr>
          <a:xfrm>
            <a:off x="9274073" y="4544568"/>
            <a:ext cx="2213533" cy="274320"/>
          </a:xfrm>
          <a:prstGeom prst="rect">
            <a:avLst/>
          </a:prstGeom>
          <a:noFill/>
        </p:spPr>
        <p:txBody>
          <a:bodyPr wrap="square" anchor="t" lIns="0" rIns="0" tIns="0" bIns="0">
            <a:spAutoFit/>
          </a:bodyPr>
          <a:lstStyle/>
          <a:p>
            <a:pPr algn="l"/>
            <a:r>
              <a:rPr sz="1100" b="1" i="0">
                <a:solidFill>
                  <a:srgbClr val="2B4C9B"/>
                </a:solidFill>
                <a:latin typeface="Montserrat"/>
              </a:rPr>
              <a:t>4 competitors</a:t>
            </a:r>
          </a:p>
        </p:txBody>
      </p:sp>
      <p:sp>
        <p:nvSpPr>
          <p:cNvPr id="44" name="Rounded Rectangle 43"/>
          <p:cNvSpPr/>
          <p:nvPr/>
        </p:nvSpPr>
        <p:spPr>
          <a:xfrm>
            <a:off x="594360" y="5074920"/>
            <a:ext cx="11002975" cy="7772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5285232"/>
            <a:ext cx="10454335" cy="411480"/>
          </a:xfrm>
          <a:prstGeom prst="rect">
            <a:avLst/>
          </a:prstGeom>
          <a:noFill/>
        </p:spPr>
        <p:txBody>
          <a:bodyPr wrap="square" anchor="t" lIns="0" rIns="0" tIns="0" bIns="0">
            <a:spAutoFit/>
          </a:bodyPr>
          <a:lstStyle/>
          <a:p>
            <a:pPr algn="l"/>
            <a:r>
              <a:rPr sz="1400" b="1" i="0">
                <a:solidFill>
                  <a:srgbClr val="A32E35"/>
                </a:solidFill>
                <a:latin typeface="Montserrat"/>
              </a:rPr>
              <a:t>Not yet:  </a:t>
            </a:r>
            <a:r>
              <a:rPr sz="1350" b="0" i="0">
                <a:solidFill>
                  <a:srgbClr val="1A1E2C"/>
                </a:solidFill>
                <a:latin typeface="Source Sans 3"/>
              </a:rPr>
              <a:t>public betting on the races, an analog prototype test, and revenue. Landed ~8 weeks after the month-2 target; mainnet bets so far are internal tests (0.0127 ETH).</a:t>
            </a:r>
          </a:p>
        </p:txBody>
      </p:sp>
      <p:cxnSp>
        <p:nvCxnSpPr>
          <p:cNvPr id="46" name="Connector 45"/>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48" name="TextBox 47"/>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04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OBJECTIVE 1  ·  LUNAR SIMULATION</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Moon Base Zero: every race, on the Moon</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576072" y="1444752"/>
            <a:ext cx="5400903" cy="3054010"/>
          </a:xfrm>
          <a:prstGeom prst="rect">
            <a:avLst/>
          </a:prstGeom>
          <a:solidFill>
            <a:srgbClr val="E0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4-moon-base-zero.png"/>
          <p:cNvPicPr>
            <a:picLocks noChangeAspect="1"/>
          </p:cNvPicPr>
          <p:nvPr/>
        </p:nvPicPr>
        <p:blipFill>
          <a:blip r:embed="rId4"/>
          <a:stretch>
            <a:fillRect/>
          </a:stretch>
        </p:blipFill>
        <p:spPr>
          <a:xfrm>
            <a:off x="594360" y="1463040"/>
            <a:ext cx="5364327" cy="3017434"/>
          </a:xfrm>
          <a:prstGeom prst="rect">
            <a:avLst/>
          </a:prstGeom>
        </p:spPr>
      </p:pic>
      <p:sp>
        <p:nvSpPr>
          <p:cNvPr id="9" name="TextBox 8"/>
          <p:cNvSpPr txBox="1"/>
          <p:nvPr/>
        </p:nvSpPr>
        <p:spPr>
          <a:xfrm>
            <a:off x="594360" y="4590202"/>
            <a:ext cx="5364327" cy="274320"/>
          </a:xfrm>
          <a:prstGeom prst="rect">
            <a:avLst/>
          </a:prstGeom>
          <a:noFill/>
        </p:spPr>
        <p:txBody>
          <a:bodyPr wrap="square" anchor="t" lIns="0" rIns="0" tIns="0" bIns="0">
            <a:spAutoFit/>
          </a:bodyPr>
          <a:lstStyle/>
          <a:p>
            <a:pPr algn="l"/>
            <a:r>
              <a:rPr sz="1150" b="0" i="0">
                <a:solidFill>
                  <a:srgbClr val="555C72"/>
                </a:solidFill>
                <a:latin typeface="Source Sans 3"/>
              </a:rPr>
              <a:t>The base on the Shackleton connecting ridge, with the four live races</a:t>
            </a:r>
          </a:p>
        </p:txBody>
      </p:sp>
      <p:sp>
        <p:nvSpPr>
          <p:cNvPr id="10" name="Rectangle 9"/>
          <p:cNvSpPr/>
          <p:nvPr/>
        </p:nvSpPr>
        <p:spPr>
          <a:xfrm>
            <a:off x="6214719" y="1444752"/>
            <a:ext cx="5400903" cy="3054010"/>
          </a:xfrm>
          <a:prstGeom prst="rect">
            <a:avLst/>
          </a:prstGeom>
          <a:solidFill>
            <a:srgbClr val="E0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15-moon-base-zero-touchdown.png"/>
          <p:cNvPicPr>
            <a:picLocks noChangeAspect="1"/>
          </p:cNvPicPr>
          <p:nvPr/>
        </p:nvPicPr>
        <p:blipFill>
          <a:blip r:embed="rId5"/>
          <a:stretch>
            <a:fillRect/>
          </a:stretch>
        </p:blipFill>
        <p:spPr>
          <a:xfrm>
            <a:off x="6233007" y="1463040"/>
            <a:ext cx="5364327" cy="3017434"/>
          </a:xfrm>
          <a:prstGeom prst="rect">
            <a:avLst/>
          </a:prstGeom>
        </p:spPr>
      </p:pic>
      <p:sp>
        <p:nvSpPr>
          <p:cNvPr id="12" name="TextBox 11"/>
          <p:cNvSpPr txBox="1"/>
          <p:nvPr/>
        </p:nvSpPr>
        <p:spPr>
          <a:xfrm>
            <a:off x="6233007" y="4590202"/>
            <a:ext cx="5364327" cy="274320"/>
          </a:xfrm>
          <a:prstGeom prst="rect">
            <a:avLst/>
          </a:prstGeom>
          <a:noFill/>
        </p:spPr>
        <p:txBody>
          <a:bodyPr wrap="square" anchor="t" lIns="0" rIns="0" tIns="0" bIns="0">
            <a:spAutoFit/>
          </a:bodyPr>
          <a:lstStyle/>
          <a:p>
            <a:pPr algn="l"/>
            <a:r>
              <a:rPr sz="1150" b="0" i="0">
                <a:solidFill>
                  <a:srgbClr val="555C72"/>
                </a:solidFill>
                <a:latin typeface="Source Sans 3"/>
              </a:rPr>
              <a:t>Touchdown race: six landers, rules and live DePrize odds</a:t>
            </a:r>
          </a:p>
        </p:txBody>
      </p:sp>
      <p:sp>
        <p:nvSpPr>
          <p:cNvPr id="13" name="Rounded Rectangle 12"/>
          <p:cNvSpPr/>
          <p:nvPr/>
        </p:nvSpPr>
        <p:spPr>
          <a:xfrm>
            <a:off x="594360" y="5257800"/>
            <a:ext cx="2054291" cy="5486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394960"/>
            <a:ext cx="2054291" cy="320040"/>
          </a:xfrm>
          <a:prstGeom prst="rect">
            <a:avLst/>
          </a:prstGeom>
          <a:noFill/>
        </p:spPr>
        <p:txBody>
          <a:bodyPr wrap="square" anchor="t" lIns="0" rIns="0" tIns="0" bIns="0">
            <a:spAutoFit/>
          </a:bodyPr>
          <a:lstStyle/>
          <a:p>
            <a:pPr algn="ctr"/>
            <a:r>
              <a:rPr sz="1400" b="1" i="0">
                <a:solidFill>
                  <a:srgbClr val="141B3A"/>
                </a:solidFill>
                <a:latin typeface="Montserrat"/>
              </a:rPr>
              <a:t>50 projects</a:t>
            </a:r>
          </a:p>
        </p:txBody>
      </p:sp>
      <p:sp>
        <p:nvSpPr>
          <p:cNvPr id="15" name="Rounded Rectangle 14"/>
          <p:cNvSpPr/>
          <p:nvPr/>
        </p:nvSpPr>
        <p:spPr>
          <a:xfrm>
            <a:off x="2831531" y="5257800"/>
            <a:ext cx="2054291" cy="5486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31531" y="5394960"/>
            <a:ext cx="2054291" cy="320040"/>
          </a:xfrm>
          <a:prstGeom prst="rect">
            <a:avLst/>
          </a:prstGeom>
          <a:noFill/>
        </p:spPr>
        <p:txBody>
          <a:bodyPr wrap="square" anchor="t" lIns="0" rIns="0" tIns="0" bIns="0">
            <a:spAutoFit/>
          </a:bodyPr>
          <a:lstStyle/>
          <a:p>
            <a:pPr algn="ctr"/>
            <a:r>
              <a:rPr sz="1400" b="1" i="0">
                <a:solidFill>
                  <a:srgbClr val="141B3A"/>
                </a:solidFill>
                <a:latin typeface="Montserrat"/>
              </a:rPr>
              <a:t>33 organizations</a:t>
            </a:r>
          </a:p>
        </p:txBody>
      </p:sp>
      <p:sp>
        <p:nvSpPr>
          <p:cNvPr id="17" name="Rounded Rectangle 16"/>
          <p:cNvSpPr/>
          <p:nvPr/>
        </p:nvSpPr>
        <p:spPr>
          <a:xfrm>
            <a:off x="5068702" y="5257800"/>
            <a:ext cx="2054291" cy="5486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68702" y="5394960"/>
            <a:ext cx="2054291" cy="320040"/>
          </a:xfrm>
          <a:prstGeom prst="rect">
            <a:avLst/>
          </a:prstGeom>
          <a:noFill/>
        </p:spPr>
        <p:txBody>
          <a:bodyPr wrap="square" anchor="t" lIns="0" rIns="0" tIns="0" bIns="0">
            <a:spAutoFit/>
          </a:bodyPr>
          <a:lstStyle/>
          <a:p>
            <a:pPr algn="ctr"/>
            <a:r>
              <a:rPr sz="1400" b="1" i="0">
                <a:solidFill>
                  <a:srgbClr val="141B3A"/>
                </a:solidFill>
                <a:latin typeface="Montserrat"/>
              </a:rPr>
              <a:t>12 capability goals</a:t>
            </a:r>
          </a:p>
        </p:txBody>
      </p:sp>
      <p:sp>
        <p:nvSpPr>
          <p:cNvPr id="19" name="Rounded Rectangle 18"/>
          <p:cNvSpPr/>
          <p:nvPr/>
        </p:nvSpPr>
        <p:spPr>
          <a:xfrm>
            <a:off x="7305873" y="5257800"/>
            <a:ext cx="2054291" cy="5486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05873" y="5394960"/>
            <a:ext cx="2054291" cy="320040"/>
          </a:xfrm>
          <a:prstGeom prst="rect">
            <a:avLst/>
          </a:prstGeom>
          <a:noFill/>
        </p:spPr>
        <p:txBody>
          <a:bodyPr wrap="square" anchor="t" lIns="0" rIns="0" tIns="0" bIns="0">
            <a:spAutoFit/>
          </a:bodyPr>
          <a:lstStyle/>
          <a:p>
            <a:pPr algn="ctr"/>
            <a:r>
              <a:rPr sz="1400" b="1" i="0">
                <a:solidFill>
                  <a:srgbClr val="141B3A"/>
                </a:solidFill>
                <a:latin typeface="Montserrat"/>
              </a:rPr>
              <a:t>336 unit tests</a:t>
            </a:r>
          </a:p>
        </p:txBody>
      </p:sp>
      <p:sp>
        <p:nvSpPr>
          <p:cNvPr id="21" name="Rounded Rectangle 20"/>
          <p:cNvSpPr/>
          <p:nvPr/>
        </p:nvSpPr>
        <p:spPr>
          <a:xfrm>
            <a:off x="9543044" y="5257800"/>
            <a:ext cx="2054291" cy="5486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43044" y="5394960"/>
            <a:ext cx="2054291" cy="320040"/>
          </a:xfrm>
          <a:prstGeom prst="rect">
            <a:avLst/>
          </a:prstGeom>
          <a:noFill/>
        </p:spPr>
        <p:txBody>
          <a:bodyPr wrap="square" anchor="t" lIns="0" rIns="0" tIns="0" bIns="0">
            <a:spAutoFit/>
          </a:bodyPr>
          <a:lstStyle/>
          <a:p>
            <a:pPr algn="ctr"/>
            <a:r>
              <a:rPr sz="1400" b="1" i="0">
                <a:solidFill>
                  <a:srgbClr val="141B3A"/>
                </a:solidFill>
                <a:latin typeface="Montserrat"/>
              </a:rPr>
              <a:t>First shipped 23 Jul</a:t>
            </a:r>
          </a:p>
        </p:txBody>
      </p:sp>
      <p:cxnSp>
        <p:nvCxnSpPr>
          <p:cNvPr id="23" name="Connector 22"/>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25" name="TextBox 24"/>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05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OBJECTIVE 1  ·  OVERVIEW FLIGHT</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You chose to keep fundraising for Frank</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1417320"/>
            <a:ext cx="5120640" cy="274320"/>
          </a:xfrm>
          <a:prstGeom prst="rect">
            <a:avLst/>
          </a:prstGeom>
          <a:noFill/>
        </p:spPr>
        <p:txBody>
          <a:bodyPr wrap="square" anchor="t" lIns="0" rIns="0" tIns="0" bIns="0">
            <a:spAutoFit/>
          </a:bodyPr>
          <a:lstStyle/>
          <a:p>
            <a:pPr algn="l"/>
            <a:r>
              <a:rPr sz="1100" b="1" i="0">
                <a:solidFill>
                  <a:srgbClr val="E88B1F"/>
                </a:solidFill>
                <a:latin typeface="Montserrat"/>
              </a:rPr>
              <a:t>PATH VOTE  ·  15–22 JUNE  ·  31 VOTERS</a:t>
            </a:r>
          </a:p>
        </p:txBody>
      </p:sp>
      <p:sp>
        <p:nvSpPr>
          <p:cNvPr id="8" name="TextBox 7"/>
          <p:cNvSpPr txBox="1"/>
          <p:nvPr/>
        </p:nvSpPr>
        <p:spPr>
          <a:xfrm>
            <a:off x="594360" y="1828800"/>
            <a:ext cx="5120640" cy="274320"/>
          </a:xfrm>
          <a:prstGeom prst="rect">
            <a:avLst/>
          </a:prstGeom>
          <a:noFill/>
        </p:spPr>
        <p:txBody>
          <a:bodyPr wrap="square" anchor="t" lIns="0" rIns="0" tIns="0" bIns="0">
            <a:spAutoFit/>
          </a:bodyPr>
          <a:lstStyle/>
          <a:p>
            <a:pPr algn="l"/>
            <a:r>
              <a:rPr sz="1250" b="1" i="0">
                <a:solidFill>
                  <a:srgbClr val="1A1E2C"/>
                </a:solidFill>
                <a:latin typeface="Montserrat"/>
              </a:rPr>
              <a:t>B · Keep options open, keep fundraising  (22 voters)</a:t>
            </a:r>
          </a:p>
        </p:txBody>
      </p:sp>
      <p:sp>
        <p:nvSpPr>
          <p:cNvPr id="9" name="Rectangle 8"/>
          <p:cNvSpPr/>
          <p:nvPr/>
        </p:nvSpPr>
        <p:spPr>
          <a:xfrm>
            <a:off x="594360" y="2121408"/>
            <a:ext cx="4114800" cy="219456"/>
          </a:xfrm>
          <a:prstGeom prst="rect">
            <a:avLst/>
          </a:prstGeom>
          <a:solidFill>
            <a:srgbClr val="EE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121408"/>
            <a:ext cx="3822649" cy="219456"/>
          </a:xfrm>
          <a:prstGeom prst="rect">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18888" y="2084832"/>
            <a:ext cx="914400" cy="274320"/>
          </a:xfrm>
          <a:prstGeom prst="rect">
            <a:avLst/>
          </a:prstGeom>
          <a:noFill/>
        </p:spPr>
        <p:txBody>
          <a:bodyPr wrap="square" anchor="t" lIns="0" rIns="0" tIns="0" bIns="0">
            <a:spAutoFit/>
          </a:bodyPr>
          <a:lstStyle/>
          <a:p>
            <a:pPr algn="l"/>
            <a:r>
              <a:rPr sz="1400" b="1" i="0">
                <a:solidFill>
                  <a:srgbClr val="141B3A"/>
                </a:solidFill>
                <a:latin typeface="Montserrat"/>
              </a:rPr>
              <a:t>92.9%</a:t>
            </a:r>
          </a:p>
        </p:txBody>
      </p:sp>
      <p:sp>
        <p:nvSpPr>
          <p:cNvPr id="12" name="TextBox 11"/>
          <p:cNvSpPr txBox="1"/>
          <p:nvPr/>
        </p:nvSpPr>
        <p:spPr>
          <a:xfrm>
            <a:off x="594360" y="2542032"/>
            <a:ext cx="5120640" cy="274320"/>
          </a:xfrm>
          <a:prstGeom prst="rect">
            <a:avLst/>
          </a:prstGeom>
          <a:noFill/>
        </p:spPr>
        <p:txBody>
          <a:bodyPr wrap="square" anchor="t" lIns="0" rIns="0" tIns="0" bIns="0">
            <a:spAutoFit/>
          </a:bodyPr>
          <a:lstStyle/>
          <a:p>
            <a:pPr algn="l"/>
            <a:r>
              <a:rPr sz="1250" b="0" i="0">
                <a:solidFill>
                  <a:srgbClr val="1A1E2C"/>
                </a:solidFill>
                <a:latin typeface="Source Sans 3"/>
              </a:rPr>
              <a:t>A · Commit now to a stratospheric balloon  (3 voters)</a:t>
            </a:r>
          </a:p>
        </p:txBody>
      </p:sp>
      <p:sp>
        <p:nvSpPr>
          <p:cNvPr id="13" name="Rectangle 12"/>
          <p:cNvSpPr/>
          <p:nvPr/>
        </p:nvSpPr>
        <p:spPr>
          <a:xfrm>
            <a:off x="594360" y="2834640"/>
            <a:ext cx="4114800" cy="219456"/>
          </a:xfrm>
          <a:prstGeom prst="rect">
            <a:avLst/>
          </a:prstGeom>
          <a:solidFill>
            <a:srgbClr val="EE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2834640"/>
            <a:ext cx="36576" cy="219456"/>
          </a:xfrm>
          <a:prstGeom prst="rect">
            <a:avLst/>
          </a:prstGeom>
          <a:solidFill>
            <a:srgbClr val="8A9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18888" y="2798064"/>
            <a:ext cx="914400" cy="274320"/>
          </a:xfrm>
          <a:prstGeom prst="rect">
            <a:avLst/>
          </a:prstGeom>
          <a:noFill/>
        </p:spPr>
        <p:txBody>
          <a:bodyPr wrap="square" anchor="t" lIns="0" rIns="0" tIns="0" bIns="0">
            <a:spAutoFit/>
          </a:bodyPr>
          <a:lstStyle/>
          <a:p>
            <a:pPr algn="l"/>
            <a:r>
              <a:rPr sz="1400" b="1" i="0">
                <a:solidFill>
                  <a:srgbClr val="141B3A"/>
                </a:solidFill>
                <a:latin typeface="Montserrat"/>
              </a:rPr>
              <a:t>0.2%</a:t>
            </a:r>
          </a:p>
        </p:txBody>
      </p:sp>
      <p:sp>
        <p:nvSpPr>
          <p:cNvPr id="16" name="TextBox 15"/>
          <p:cNvSpPr txBox="1"/>
          <p:nvPr/>
        </p:nvSpPr>
        <p:spPr>
          <a:xfrm>
            <a:off x="594360" y="3255264"/>
            <a:ext cx="5120640" cy="274320"/>
          </a:xfrm>
          <a:prstGeom prst="rect">
            <a:avLst/>
          </a:prstGeom>
          <a:noFill/>
        </p:spPr>
        <p:txBody>
          <a:bodyPr wrap="square" anchor="t" lIns="0" rIns="0" tIns="0" bIns="0">
            <a:spAutoFit/>
          </a:bodyPr>
          <a:lstStyle/>
          <a:p>
            <a:pPr algn="l"/>
            <a:r>
              <a:rPr sz="1250" b="0" i="0">
                <a:solidFill>
                  <a:srgbClr val="1A1E2C"/>
                </a:solidFill>
                <a:latin typeface="Source Sans 3"/>
              </a:rPr>
              <a:t>C · Refund contributors  (2 voters)</a:t>
            </a:r>
          </a:p>
        </p:txBody>
      </p:sp>
      <p:sp>
        <p:nvSpPr>
          <p:cNvPr id="17" name="Rectangle 16"/>
          <p:cNvSpPr/>
          <p:nvPr/>
        </p:nvSpPr>
        <p:spPr>
          <a:xfrm>
            <a:off x="594360" y="3547872"/>
            <a:ext cx="4114800" cy="219456"/>
          </a:xfrm>
          <a:prstGeom prst="rect">
            <a:avLst/>
          </a:prstGeom>
          <a:solidFill>
            <a:srgbClr val="EE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547872"/>
            <a:ext cx="36576" cy="219456"/>
          </a:xfrm>
          <a:prstGeom prst="rect">
            <a:avLst/>
          </a:prstGeom>
          <a:solidFill>
            <a:srgbClr val="8A9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8888" y="3511296"/>
            <a:ext cx="914400" cy="274320"/>
          </a:xfrm>
          <a:prstGeom prst="rect">
            <a:avLst/>
          </a:prstGeom>
          <a:noFill/>
        </p:spPr>
        <p:txBody>
          <a:bodyPr wrap="square" anchor="t" lIns="0" rIns="0" tIns="0" bIns="0">
            <a:spAutoFit/>
          </a:bodyPr>
          <a:lstStyle/>
          <a:p>
            <a:pPr algn="l"/>
            <a:r>
              <a:rPr sz="1400" b="1" i="0">
                <a:solidFill>
                  <a:srgbClr val="141B3A"/>
                </a:solidFill>
                <a:latin typeface="Montserrat"/>
              </a:rPr>
              <a:t>0.7%</a:t>
            </a:r>
          </a:p>
        </p:txBody>
      </p:sp>
      <p:sp>
        <p:nvSpPr>
          <p:cNvPr id="20" name="TextBox 19"/>
          <p:cNvSpPr txBox="1"/>
          <p:nvPr/>
        </p:nvSpPr>
        <p:spPr>
          <a:xfrm>
            <a:off x="594360" y="3968496"/>
            <a:ext cx="5120640" cy="274320"/>
          </a:xfrm>
          <a:prstGeom prst="rect">
            <a:avLst/>
          </a:prstGeom>
          <a:noFill/>
        </p:spPr>
        <p:txBody>
          <a:bodyPr wrap="square" anchor="t" lIns="0" rIns="0" tIns="0" bIns="0">
            <a:spAutoFit/>
          </a:bodyPr>
          <a:lstStyle/>
          <a:p>
            <a:pPr algn="l"/>
            <a:r>
              <a:rPr sz="1250" b="0" i="0">
                <a:solidFill>
                  <a:srgbClr val="1A1E2C"/>
                </a:solidFill>
                <a:latin typeface="Source Sans 3"/>
              </a:rPr>
              <a:t>Abstain  (4 voters)</a:t>
            </a:r>
          </a:p>
        </p:txBody>
      </p:sp>
      <p:sp>
        <p:nvSpPr>
          <p:cNvPr id="21" name="Rectangle 20"/>
          <p:cNvSpPr/>
          <p:nvPr/>
        </p:nvSpPr>
        <p:spPr>
          <a:xfrm>
            <a:off x="594360" y="4261104"/>
            <a:ext cx="4114800" cy="219456"/>
          </a:xfrm>
          <a:prstGeom prst="rect">
            <a:avLst/>
          </a:prstGeom>
          <a:solidFill>
            <a:srgbClr val="EE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4261104"/>
            <a:ext cx="255117" cy="219456"/>
          </a:xfrm>
          <a:prstGeom prst="rect">
            <a:avLst/>
          </a:prstGeom>
          <a:solidFill>
            <a:srgbClr val="8A9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18888" y="4224528"/>
            <a:ext cx="914400" cy="274320"/>
          </a:xfrm>
          <a:prstGeom prst="rect">
            <a:avLst/>
          </a:prstGeom>
          <a:noFill/>
        </p:spPr>
        <p:txBody>
          <a:bodyPr wrap="square" anchor="t" lIns="0" rIns="0" tIns="0" bIns="0">
            <a:spAutoFit/>
          </a:bodyPr>
          <a:lstStyle/>
          <a:p>
            <a:pPr algn="l"/>
            <a:r>
              <a:rPr sz="1400" b="1" i="0">
                <a:solidFill>
                  <a:srgbClr val="141B3A"/>
                </a:solidFill>
                <a:latin typeface="Montserrat"/>
              </a:rPr>
              <a:t>6.2%</a:t>
            </a:r>
          </a:p>
        </p:txBody>
      </p:sp>
      <p:sp>
        <p:nvSpPr>
          <p:cNvPr id="24" name="TextBox 23"/>
          <p:cNvSpPr txBox="1"/>
          <p:nvPr/>
        </p:nvSpPr>
        <p:spPr>
          <a:xfrm>
            <a:off x="594360" y="4754880"/>
            <a:ext cx="5120640" cy="274320"/>
          </a:xfrm>
          <a:prstGeom prst="rect">
            <a:avLst/>
          </a:prstGeom>
          <a:noFill/>
        </p:spPr>
        <p:txBody>
          <a:bodyPr wrap="square" anchor="t" lIns="0" rIns="0" tIns="0" bIns="0">
            <a:spAutoFit/>
          </a:bodyPr>
          <a:lstStyle/>
          <a:p>
            <a:pPr algn="l"/>
            <a:r>
              <a:rPr sz="1050" b="0" i="0">
                <a:solidFill>
                  <a:srgbClr val="8A90A3"/>
                </a:solidFill>
                <a:latin typeface="Source Sans 3"/>
              </a:rPr>
              <a:t>Share of 10,444 $OVERVIEW voting weight</a:t>
            </a:r>
          </a:p>
        </p:txBody>
      </p:sp>
      <p:pic>
        <p:nvPicPr>
          <p:cNvPr id="25" name="Picture 24" descr="10-overview-flight-contributions.png"/>
          <p:cNvPicPr>
            <a:picLocks noChangeAspect="1"/>
          </p:cNvPicPr>
          <p:nvPr/>
        </p:nvPicPr>
        <p:blipFill>
          <a:blip r:embed="rId4"/>
          <a:stretch>
            <a:fillRect/>
          </a:stretch>
        </p:blipFill>
        <p:spPr>
          <a:xfrm>
            <a:off x="6080760" y="1723206"/>
            <a:ext cx="5516575" cy="2405748"/>
          </a:xfrm>
          <a:prstGeom prst="rect">
            <a:avLst/>
          </a:prstGeom>
        </p:spPr>
      </p:pic>
      <p:sp>
        <p:nvSpPr>
          <p:cNvPr id="26" name="Rounded Rectangle 25"/>
          <p:cNvSpPr/>
          <p:nvPr/>
        </p:nvSpPr>
        <p:spPr>
          <a:xfrm>
            <a:off x="594360" y="5120640"/>
            <a:ext cx="3484778" cy="7772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230368"/>
            <a:ext cx="3027578" cy="320040"/>
          </a:xfrm>
          <a:prstGeom prst="rect">
            <a:avLst/>
          </a:prstGeom>
          <a:noFill/>
        </p:spPr>
        <p:txBody>
          <a:bodyPr wrap="square" anchor="t" lIns="0" rIns="0" tIns="0" bIns="0">
            <a:spAutoFit/>
          </a:bodyPr>
          <a:lstStyle/>
          <a:p>
            <a:pPr algn="l"/>
            <a:r>
              <a:rPr sz="1700" b="1" i="0">
                <a:solidFill>
                  <a:srgbClr val="141B3A"/>
                </a:solidFill>
                <a:latin typeface="Montserrat"/>
              </a:rPr>
              <a:t>27.39 ETH</a:t>
            </a:r>
            <a:r>
              <a:rPr sz="1200" b="1" i="0">
                <a:solidFill>
                  <a:srgbClr val="1A1E2C"/>
                </a:solidFill>
                <a:latin typeface="Montserrat"/>
              </a:rPr>
              <a:t>   Raised in total</a:t>
            </a:r>
          </a:p>
        </p:txBody>
      </p:sp>
      <p:sp>
        <p:nvSpPr>
          <p:cNvPr id="28" name="TextBox 27"/>
          <p:cNvSpPr txBox="1"/>
          <p:nvPr/>
        </p:nvSpPr>
        <p:spPr>
          <a:xfrm>
            <a:off x="868680" y="5559552"/>
            <a:ext cx="3027578" cy="274320"/>
          </a:xfrm>
          <a:prstGeom prst="rect">
            <a:avLst/>
          </a:prstGeom>
          <a:noFill/>
        </p:spPr>
        <p:txBody>
          <a:bodyPr wrap="square" anchor="t" lIns="0" rIns="0" tIns="0" bIns="0">
            <a:spAutoFit/>
          </a:bodyPr>
          <a:lstStyle/>
          <a:p>
            <a:pPr algn="l"/>
            <a:r>
              <a:rPr sz="1100" b="0" i="0">
                <a:solidFill>
                  <a:srgbClr val="555C72"/>
                </a:solidFill>
                <a:latin typeface="Source Sans 3"/>
              </a:rPr>
              <a:t>180 contributions</a:t>
            </a:r>
          </a:p>
        </p:txBody>
      </p:sp>
      <p:sp>
        <p:nvSpPr>
          <p:cNvPr id="29" name="Rounded Rectangle 28"/>
          <p:cNvSpPr/>
          <p:nvPr/>
        </p:nvSpPr>
        <p:spPr>
          <a:xfrm>
            <a:off x="4353458" y="5120640"/>
            <a:ext cx="3484778" cy="7772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27778" y="5230368"/>
            <a:ext cx="3027578" cy="320040"/>
          </a:xfrm>
          <a:prstGeom prst="rect">
            <a:avLst/>
          </a:prstGeom>
          <a:noFill/>
        </p:spPr>
        <p:txBody>
          <a:bodyPr wrap="square" anchor="t" lIns="0" rIns="0" tIns="0" bIns="0">
            <a:spAutoFit/>
          </a:bodyPr>
          <a:lstStyle/>
          <a:p>
            <a:pPr algn="l"/>
            <a:r>
              <a:rPr sz="1700" b="1" i="0">
                <a:solidFill>
                  <a:srgbClr val="141B3A"/>
                </a:solidFill>
                <a:latin typeface="Montserrat"/>
              </a:rPr>
              <a:t>0.64 ETH</a:t>
            </a:r>
            <a:r>
              <a:rPr sz="1200" b="1" i="0">
                <a:solidFill>
                  <a:srgbClr val="1A1E2C"/>
                </a:solidFill>
                <a:latin typeface="Montserrat"/>
              </a:rPr>
              <a:t>   Since reopening</a:t>
            </a:r>
          </a:p>
        </p:txBody>
      </p:sp>
      <p:sp>
        <p:nvSpPr>
          <p:cNvPr id="31" name="TextBox 30"/>
          <p:cNvSpPr txBox="1"/>
          <p:nvPr/>
        </p:nvSpPr>
        <p:spPr>
          <a:xfrm>
            <a:off x="4627778" y="5559552"/>
            <a:ext cx="3027578" cy="274320"/>
          </a:xfrm>
          <a:prstGeom prst="rect">
            <a:avLst/>
          </a:prstGeom>
          <a:noFill/>
        </p:spPr>
        <p:txBody>
          <a:bodyPr wrap="square" anchor="t" lIns="0" rIns="0" tIns="0" bIns="0">
            <a:spAutoFit/>
          </a:bodyPr>
          <a:lstStyle/>
          <a:p>
            <a:pPr algn="l"/>
            <a:r>
              <a:rPr sz="1100" b="0" i="0">
                <a:solidFill>
                  <a:srgbClr val="555C72"/>
                </a:solidFill>
                <a:latin typeface="Source Sans 3"/>
              </a:rPr>
              <a:t>9 Jul onward · 21 contributions · 16 wallets</a:t>
            </a:r>
          </a:p>
        </p:txBody>
      </p:sp>
      <p:sp>
        <p:nvSpPr>
          <p:cNvPr id="32" name="Rounded Rectangle 31"/>
          <p:cNvSpPr/>
          <p:nvPr/>
        </p:nvSpPr>
        <p:spPr>
          <a:xfrm>
            <a:off x="8112556" y="5120640"/>
            <a:ext cx="3484778" cy="77724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86876" y="5230368"/>
            <a:ext cx="3027578" cy="320040"/>
          </a:xfrm>
          <a:prstGeom prst="rect">
            <a:avLst/>
          </a:prstGeom>
          <a:noFill/>
        </p:spPr>
        <p:txBody>
          <a:bodyPr wrap="square" anchor="t" lIns="0" rIns="0" tIns="0" bIns="0">
            <a:spAutoFit/>
          </a:bodyPr>
          <a:lstStyle/>
          <a:p>
            <a:pPr algn="l"/>
            <a:r>
              <a:rPr sz="1700" b="1" i="0">
                <a:solidFill>
                  <a:srgbClr val="141B3A"/>
                </a:solidFill>
                <a:latin typeface="Montserrat"/>
              </a:rPr>
              <a:t>12</a:t>
            </a:r>
            <a:r>
              <a:rPr sz="1200" b="1" i="0">
                <a:solidFill>
                  <a:srgbClr val="1A1E2C"/>
                </a:solidFill>
                <a:latin typeface="Montserrat"/>
              </a:rPr>
              <a:t>   Carriers approached</a:t>
            </a:r>
          </a:p>
        </p:txBody>
      </p:sp>
      <p:sp>
        <p:nvSpPr>
          <p:cNvPr id="34" name="TextBox 33"/>
          <p:cNvSpPr txBox="1"/>
          <p:nvPr/>
        </p:nvSpPr>
        <p:spPr>
          <a:xfrm>
            <a:off x="8386876" y="5559552"/>
            <a:ext cx="3027578" cy="274320"/>
          </a:xfrm>
          <a:prstGeom prst="rect">
            <a:avLst/>
          </a:prstGeom>
          <a:noFill/>
        </p:spPr>
        <p:txBody>
          <a:bodyPr wrap="square" anchor="t" lIns="0" rIns="0" tIns="0" bIns="0">
            <a:spAutoFit/>
          </a:bodyPr>
          <a:lstStyle/>
          <a:p>
            <a:pPr algn="l"/>
            <a:r>
              <a:rPr sz="1100" b="0" i="0">
                <a:solidFill>
                  <a:srgbClr val="555C72"/>
                </a:solidFill>
                <a:latin typeface="Source Sans 3"/>
              </a:rPr>
              <a:t>Balloon, suborbital, orbital</a:t>
            </a:r>
          </a:p>
        </p:txBody>
      </p:sp>
      <p:cxnSp>
        <p:nvCxnSpPr>
          <p:cNvPr id="35" name="Connector 34"/>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37" name="TextBox 36"/>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06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OBJECTIVE 2  ·  NETWORK GROWTH</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Fastest growth on record, short of target</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pic>
        <p:nvPicPr>
          <p:cNvPr id="7" name="Picture 6" descr="02-citizen-growth.png"/>
          <p:cNvPicPr>
            <a:picLocks noChangeAspect="1"/>
          </p:cNvPicPr>
          <p:nvPr/>
        </p:nvPicPr>
        <p:blipFill>
          <a:blip r:embed="rId4"/>
          <a:stretch>
            <a:fillRect/>
          </a:stretch>
        </p:blipFill>
        <p:spPr>
          <a:xfrm>
            <a:off x="594360" y="1773303"/>
            <a:ext cx="7223760" cy="3677154"/>
          </a:xfrm>
          <a:prstGeom prst="rect">
            <a:avLst/>
          </a:prstGeom>
        </p:spPr>
      </p:pic>
      <p:sp>
        <p:nvSpPr>
          <p:cNvPr id="8" name="Rounded Rectangle 7"/>
          <p:cNvSpPr/>
          <p:nvPr/>
        </p:nvSpPr>
        <p:spPr>
          <a:xfrm>
            <a:off x="8046720" y="1463040"/>
            <a:ext cx="3550615" cy="146304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0" y="1463040"/>
            <a:ext cx="54864" cy="146304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645920"/>
            <a:ext cx="3139135" cy="548640"/>
          </a:xfrm>
          <a:prstGeom prst="rect">
            <a:avLst/>
          </a:prstGeom>
          <a:noFill/>
        </p:spPr>
        <p:txBody>
          <a:bodyPr wrap="square" anchor="t" lIns="0" rIns="0" tIns="0" bIns="0">
            <a:spAutoFit/>
          </a:bodyPr>
          <a:lstStyle/>
          <a:p>
            <a:pPr algn="l"/>
            <a:r>
              <a:rPr sz="3000" b="1" i="0">
                <a:solidFill>
                  <a:srgbClr val="141B3A"/>
                </a:solidFill>
                <a:latin typeface="Montserrat"/>
              </a:rPr>
              <a:t>199 → 265</a:t>
            </a:r>
          </a:p>
        </p:txBody>
      </p:sp>
      <p:sp>
        <p:nvSpPr>
          <p:cNvPr id="11" name="TextBox 10"/>
          <p:cNvSpPr txBox="1"/>
          <p:nvPr/>
        </p:nvSpPr>
        <p:spPr>
          <a:xfrm>
            <a:off x="8302752" y="2286000"/>
            <a:ext cx="3139135" cy="320040"/>
          </a:xfrm>
          <a:prstGeom prst="rect">
            <a:avLst/>
          </a:prstGeom>
          <a:noFill/>
        </p:spPr>
        <p:txBody>
          <a:bodyPr wrap="square" anchor="t" lIns="0" rIns="0" tIns="0" bIns="0">
            <a:spAutoFit/>
          </a:bodyPr>
          <a:lstStyle/>
          <a:p>
            <a:pPr algn="l"/>
            <a:r>
              <a:rPr sz="1300" b="1" i="0">
                <a:solidFill>
                  <a:srgbClr val="1A1E2C"/>
                </a:solidFill>
                <a:latin typeface="Montserrat"/>
              </a:rPr>
              <a:t>Citizens minted</a:t>
            </a:r>
          </a:p>
        </p:txBody>
      </p:sp>
      <p:sp>
        <p:nvSpPr>
          <p:cNvPr id="12" name="TextBox 11"/>
          <p:cNvSpPr txBox="1"/>
          <p:nvPr/>
        </p:nvSpPr>
        <p:spPr>
          <a:xfrm>
            <a:off x="8302752" y="2606040"/>
            <a:ext cx="3139135" cy="274320"/>
          </a:xfrm>
          <a:prstGeom prst="rect">
            <a:avLst/>
          </a:prstGeom>
          <a:noFill/>
        </p:spPr>
        <p:txBody>
          <a:bodyPr wrap="square" anchor="t" lIns="0" rIns="0" tIns="0" bIns="0">
            <a:spAutoFit/>
          </a:bodyPr>
          <a:lstStyle/>
          <a:p>
            <a:pPr algn="l"/>
            <a:r>
              <a:rPr sz="1150" b="0" i="0">
                <a:solidFill>
                  <a:srgbClr val="555C72"/>
                </a:solidFill>
                <a:latin typeface="Source Sans 3"/>
              </a:rPr>
              <a:t>238 active · target 300</a:t>
            </a:r>
          </a:p>
        </p:txBody>
      </p:sp>
      <p:sp>
        <p:nvSpPr>
          <p:cNvPr id="13" name="Rounded Rectangle 12"/>
          <p:cNvSpPr/>
          <p:nvPr/>
        </p:nvSpPr>
        <p:spPr>
          <a:xfrm>
            <a:off x="8046720" y="3108960"/>
            <a:ext cx="3550615" cy="146304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3108960"/>
            <a:ext cx="54864" cy="146304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3291840"/>
            <a:ext cx="3139135" cy="548640"/>
          </a:xfrm>
          <a:prstGeom prst="rect">
            <a:avLst/>
          </a:prstGeom>
          <a:noFill/>
        </p:spPr>
        <p:txBody>
          <a:bodyPr wrap="square" anchor="t" lIns="0" rIns="0" tIns="0" bIns="0">
            <a:spAutoFit/>
          </a:bodyPr>
          <a:lstStyle/>
          <a:p>
            <a:pPr algn="l"/>
            <a:r>
              <a:rPr sz="3000" b="1" i="0">
                <a:solidFill>
                  <a:srgbClr val="141B3A"/>
                </a:solidFill>
                <a:latin typeface="Montserrat"/>
              </a:rPr>
              <a:t>20 → 25</a:t>
            </a:r>
          </a:p>
        </p:txBody>
      </p:sp>
      <p:sp>
        <p:nvSpPr>
          <p:cNvPr id="16" name="TextBox 15"/>
          <p:cNvSpPr txBox="1"/>
          <p:nvPr/>
        </p:nvSpPr>
        <p:spPr>
          <a:xfrm>
            <a:off x="8302752" y="3931920"/>
            <a:ext cx="3139135" cy="320040"/>
          </a:xfrm>
          <a:prstGeom prst="rect">
            <a:avLst/>
          </a:prstGeom>
          <a:noFill/>
        </p:spPr>
        <p:txBody>
          <a:bodyPr wrap="square" anchor="t" lIns="0" rIns="0" tIns="0" bIns="0">
            <a:spAutoFit/>
          </a:bodyPr>
          <a:lstStyle/>
          <a:p>
            <a:pPr algn="l"/>
            <a:r>
              <a:rPr sz="1300" b="1" i="0">
                <a:solidFill>
                  <a:srgbClr val="1A1E2C"/>
                </a:solidFill>
                <a:latin typeface="Montserrat"/>
              </a:rPr>
              <a:t>Teams</a:t>
            </a:r>
          </a:p>
        </p:txBody>
      </p:sp>
      <p:sp>
        <p:nvSpPr>
          <p:cNvPr id="17" name="TextBox 16"/>
          <p:cNvSpPr txBox="1"/>
          <p:nvPr/>
        </p:nvSpPr>
        <p:spPr>
          <a:xfrm>
            <a:off x="8302752" y="4251960"/>
            <a:ext cx="3139135" cy="274320"/>
          </a:xfrm>
          <a:prstGeom prst="rect">
            <a:avLst/>
          </a:prstGeom>
          <a:noFill/>
        </p:spPr>
        <p:txBody>
          <a:bodyPr wrap="square" anchor="t" lIns="0" rIns="0" tIns="0" bIns="0">
            <a:spAutoFit/>
          </a:bodyPr>
          <a:lstStyle/>
          <a:p>
            <a:pPr algn="l"/>
            <a:r>
              <a:rPr sz="1150" b="0" i="0">
                <a:solidFill>
                  <a:srgbClr val="555C72"/>
                </a:solidFill>
                <a:latin typeface="Source Sans 3"/>
              </a:rPr>
              <a:t>Target 30</a:t>
            </a:r>
          </a:p>
        </p:txBody>
      </p:sp>
      <p:sp>
        <p:nvSpPr>
          <p:cNvPr id="18" name="TextBox 17"/>
          <p:cNvSpPr txBox="1"/>
          <p:nvPr/>
        </p:nvSpPr>
        <p:spPr>
          <a:xfrm>
            <a:off x="8046720" y="4754880"/>
            <a:ext cx="3550615" cy="1188720"/>
          </a:xfrm>
          <a:prstGeom prst="rect">
            <a:avLst/>
          </a:prstGeom>
          <a:noFill/>
        </p:spPr>
        <p:txBody>
          <a:bodyPr wrap="square" anchor="t" lIns="0" rIns="0" tIns="0" bIns="0">
            <a:spAutoFit/>
          </a:bodyPr>
          <a:lstStyle/>
          <a:p>
            <a:pPr algn="l">
              <a:lnSpc>
                <a:spcPct val="110000"/>
              </a:lnSpc>
            </a:pPr>
            <a:r>
              <a:rPr sz="1200" b="0" i="0">
                <a:solidFill>
                  <a:srgbClr val="555C72"/>
                </a:solidFill>
                <a:latin typeface="Source Sans 3"/>
              </a:rPr>
              <a:t>New Teams: Habitat Marte, A Heart for Space, USSRC Education Foundation, Geração de Marte, Zephalto</a:t>
            </a:r>
          </a:p>
        </p:txBody>
      </p:sp>
      <p:cxnSp>
        <p:nvCxnSpPr>
          <p:cNvPr id="19" name="Connector 18"/>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21" name="TextBox 20"/>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07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OBJECTIVE 2  ·  UTILIZATION</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Marketplace beat its target; jobs did not</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pic>
        <p:nvPicPr>
          <p:cNvPr id="7" name="Picture 6" descr="05-team-utilization.png"/>
          <p:cNvPicPr>
            <a:picLocks noChangeAspect="1"/>
          </p:cNvPicPr>
          <p:nvPr/>
        </p:nvPicPr>
        <p:blipFill>
          <a:blip r:embed="rId4"/>
          <a:stretch>
            <a:fillRect/>
          </a:stretch>
        </p:blipFill>
        <p:spPr>
          <a:xfrm>
            <a:off x="594360" y="1720221"/>
            <a:ext cx="7223760" cy="3783317"/>
          </a:xfrm>
          <a:prstGeom prst="rect">
            <a:avLst/>
          </a:prstGeom>
        </p:spPr>
      </p:pic>
      <p:sp>
        <p:nvSpPr>
          <p:cNvPr id="8" name="Rounded Rectangle 7"/>
          <p:cNvSpPr/>
          <p:nvPr/>
        </p:nvSpPr>
        <p:spPr>
          <a:xfrm>
            <a:off x="8046720" y="1463040"/>
            <a:ext cx="3550615"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0" y="1463040"/>
            <a:ext cx="54864" cy="13716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645920"/>
            <a:ext cx="3139135" cy="548640"/>
          </a:xfrm>
          <a:prstGeom prst="rect">
            <a:avLst/>
          </a:prstGeom>
          <a:noFill/>
        </p:spPr>
        <p:txBody>
          <a:bodyPr wrap="square" anchor="t" lIns="0" rIns="0" tIns="0" bIns="0">
            <a:spAutoFit/>
          </a:bodyPr>
          <a:lstStyle/>
          <a:p>
            <a:pPr algn="l"/>
            <a:r>
              <a:rPr sz="3000" b="1" i="0">
                <a:solidFill>
                  <a:srgbClr val="141B3A"/>
                </a:solidFill>
                <a:latin typeface="Montserrat"/>
              </a:rPr>
              <a:t>17 / 15</a:t>
            </a:r>
          </a:p>
        </p:txBody>
      </p:sp>
      <p:sp>
        <p:nvSpPr>
          <p:cNvPr id="11" name="TextBox 10"/>
          <p:cNvSpPr txBox="1"/>
          <p:nvPr/>
        </p:nvSpPr>
        <p:spPr>
          <a:xfrm>
            <a:off x="8302752" y="2286000"/>
            <a:ext cx="3139135" cy="320040"/>
          </a:xfrm>
          <a:prstGeom prst="rect">
            <a:avLst/>
          </a:prstGeom>
          <a:noFill/>
        </p:spPr>
        <p:txBody>
          <a:bodyPr wrap="square" anchor="t" lIns="0" rIns="0" tIns="0" bIns="0">
            <a:spAutoFit/>
          </a:bodyPr>
          <a:lstStyle/>
          <a:p>
            <a:pPr algn="l"/>
            <a:r>
              <a:rPr sz="1300" b="1" i="0">
                <a:solidFill>
                  <a:srgbClr val="1A1E2C"/>
                </a:solidFill>
                <a:latin typeface="Montserrat"/>
              </a:rPr>
              <a:t>Marketplace listings</a:t>
            </a:r>
          </a:p>
        </p:txBody>
      </p:sp>
      <p:sp>
        <p:nvSpPr>
          <p:cNvPr id="12" name="TextBox 11"/>
          <p:cNvSpPr txBox="1"/>
          <p:nvPr/>
        </p:nvSpPr>
        <p:spPr>
          <a:xfrm>
            <a:off x="8302752" y="2606040"/>
            <a:ext cx="3139135" cy="182880"/>
          </a:xfrm>
          <a:prstGeom prst="rect">
            <a:avLst/>
          </a:prstGeom>
          <a:noFill/>
        </p:spPr>
        <p:txBody>
          <a:bodyPr wrap="square" anchor="t" lIns="0" rIns="0" tIns="0" bIns="0">
            <a:spAutoFit/>
          </a:bodyPr>
          <a:lstStyle/>
          <a:p>
            <a:pPr algn="l"/>
            <a:r>
              <a:rPr sz="1150" b="0" i="0">
                <a:solidFill>
                  <a:srgbClr val="555C72"/>
                </a:solidFill>
                <a:latin typeface="Source Sans 3"/>
              </a:rPr>
              <a:t>Target met</a:t>
            </a:r>
          </a:p>
        </p:txBody>
      </p:sp>
      <p:sp>
        <p:nvSpPr>
          <p:cNvPr id="13" name="Rounded Rectangle 12"/>
          <p:cNvSpPr/>
          <p:nvPr/>
        </p:nvSpPr>
        <p:spPr>
          <a:xfrm>
            <a:off x="8046720" y="3017520"/>
            <a:ext cx="3550615"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3017520"/>
            <a:ext cx="54864" cy="1371600"/>
          </a:xfrm>
          <a:prstGeom prst="roundRect">
            <a:avLst>
              <a:gd name="adj" fmla="val 50000"/>
            </a:avLst>
          </a:prstGeom>
          <a:solidFill>
            <a:srgbClr val="A32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3200400"/>
            <a:ext cx="3139135" cy="548640"/>
          </a:xfrm>
          <a:prstGeom prst="rect">
            <a:avLst/>
          </a:prstGeom>
          <a:noFill/>
        </p:spPr>
        <p:txBody>
          <a:bodyPr wrap="square" anchor="t" lIns="0" rIns="0" tIns="0" bIns="0">
            <a:spAutoFit/>
          </a:bodyPr>
          <a:lstStyle/>
          <a:p>
            <a:pPr algn="l"/>
            <a:r>
              <a:rPr sz="3000" b="1" i="0">
                <a:solidFill>
                  <a:srgbClr val="141B3A"/>
                </a:solidFill>
                <a:latin typeface="Montserrat"/>
              </a:rPr>
              <a:t>7 / 15</a:t>
            </a:r>
          </a:p>
        </p:txBody>
      </p:sp>
      <p:sp>
        <p:nvSpPr>
          <p:cNvPr id="16" name="TextBox 15"/>
          <p:cNvSpPr txBox="1"/>
          <p:nvPr/>
        </p:nvSpPr>
        <p:spPr>
          <a:xfrm>
            <a:off x="8302752" y="3840480"/>
            <a:ext cx="3139135" cy="320040"/>
          </a:xfrm>
          <a:prstGeom prst="rect">
            <a:avLst/>
          </a:prstGeom>
          <a:noFill/>
        </p:spPr>
        <p:txBody>
          <a:bodyPr wrap="square" anchor="t" lIns="0" rIns="0" tIns="0" bIns="0">
            <a:spAutoFit/>
          </a:bodyPr>
          <a:lstStyle/>
          <a:p>
            <a:pPr algn="l"/>
            <a:r>
              <a:rPr sz="1300" b="1" i="0">
                <a:solidFill>
                  <a:srgbClr val="1A1E2C"/>
                </a:solidFill>
                <a:latin typeface="Montserrat"/>
              </a:rPr>
              <a:t>Job listings</a:t>
            </a:r>
          </a:p>
        </p:txBody>
      </p:sp>
      <p:sp>
        <p:nvSpPr>
          <p:cNvPr id="17" name="TextBox 16"/>
          <p:cNvSpPr txBox="1"/>
          <p:nvPr/>
        </p:nvSpPr>
        <p:spPr>
          <a:xfrm>
            <a:off x="8302752" y="4160520"/>
            <a:ext cx="3139135" cy="182880"/>
          </a:xfrm>
          <a:prstGeom prst="rect">
            <a:avLst/>
          </a:prstGeom>
          <a:noFill/>
        </p:spPr>
        <p:txBody>
          <a:bodyPr wrap="square" anchor="t" lIns="0" rIns="0" tIns="0" bIns="0">
            <a:spAutoFit/>
          </a:bodyPr>
          <a:lstStyle/>
          <a:p>
            <a:pPr algn="l"/>
            <a:r>
              <a:rPr sz="1150" b="0" i="0">
                <a:solidFill>
                  <a:srgbClr val="555C72"/>
                </a:solidFill>
                <a:latin typeface="Source Sans 3"/>
              </a:rPr>
              <a:t>Target missed</a:t>
            </a:r>
          </a:p>
        </p:txBody>
      </p:sp>
      <p:sp>
        <p:nvSpPr>
          <p:cNvPr id="18" name="Rounded Rectangle 17"/>
          <p:cNvSpPr/>
          <p:nvPr/>
        </p:nvSpPr>
        <p:spPr>
          <a:xfrm>
            <a:off x="8046720" y="4572000"/>
            <a:ext cx="3550615"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46720" y="4572000"/>
            <a:ext cx="54864" cy="1371600"/>
          </a:xfrm>
          <a:prstGeom prst="roundRect">
            <a:avLst>
              <a:gd name="adj" fmla="val 50000"/>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4754880"/>
            <a:ext cx="3139135" cy="548640"/>
          </a:xfrm>
          <a:prstGeom prst="rect">
            <a:avLst/>
          </a:prstGeom>
          <a:noFill/>
        </p:spPr>
        <p:txBody>
          <a:bodyPr wrap="square" anchor="t" lIns="0" rIns="0" tIns="0" bIns="0">
            <a:spAutoFit/>
          </a:bodyPr>
          <a:lstStyle/>
          <a:p>
            <a:pPr algn="l"/>
            <a:r>
              <a:rPr sz="3000" b="1" i="0">
                <a:solidFill>
                  <a:srgbClr val="141B3A"/>
                </a:solidFill>
                <a:latin typeface="Montserrat"/>
              </a:rPr>
              <a:t>44%</a:t>
            </a:r>
          </a:p>
        </p:txBody>
      </p:sp>
      <p:sp>
        <p:nvSpPr>
          <p:cNvPr id="21" name="TextBox 20"/>
          <p:cNvSpPr txBox="1"/>
          <p:nvPr/>
        </p:nvSpPr>
        <p:spPr>
          <a:xfrm>
            <a:off x="8302752" y="5394960"/>
            <a:ext cx="3139135" cy="320040"/>
          </a:xfrm>
          <a:prstGeom prst="rect">
            <a:avLst/>
          </a:prstGeom>
          <a:noFill/>
        </p:spPr>
        <p:txBody>
          <a:bodyPr wrap="square" anchor="t" lIns="0" rIns="0" tIns="0" bIns="0">
            <a:spAutoFit/>
          </a:bodyPr>
          <a:lstStyle/>
          <a:p>
            <a:pPr algn="l"/>
            <a:r>
              <a:rPr sz="1300" b="1" i="0">
                <a:solidFill>
                  <a:srgbClr val="1A1E2C"/>
                </a:solidFill>
                <a:latin typeface="Montserrat"/>
              </a:rPr>
              <a:t>Teams using a service</a:t>
            </a:r>
          </a:p>
        </p:txBody>
      </p:sp>
      <p:sp>
        <p:nvSpPr>
          <p:cNvPr id="22" name="TextBox 21"/>
          <p:cNvSpPr txBox="1"/>
          <p:nvPr/>
        </p:nvSpPr>
        <p:spPr>
          <a:xfrm>
            <a:off x="8302752" y="5715000"/>
            <a:ext cx="3139135" cy="182880"/>
          </a:xfrm>
          <a:prstGeom prst="rect">
            <a:avLst/>
          </a:prstGeom>
          <a:noFill/>
        </p:spPr>
        <p:txBody>
          <a:bodyPr wrap="square" anchor="t" lIns="0" rIns="0" tIns="0" bIns="0">
            <a:spAutoFit/>
          </a:bodyPr>
          <a:lstStyle/>
          <a:p>
            <a:pPr algn="l"/>
            <a:r>
              <a:rPr sz="1150" b="0" i="0">
                <a:solidFill>
                  <a:srgbClr val="555C72"/>
                </a:solidFill>
                <a:latin typeface="Source Sans 3"/>
              </a:rPr>
              <a:t>6 jobs · 8 marketplace · 3 both</a:t>
            </a:r>
          </a:p>
        </p:txBody>
      </p:sp>
      <p:cxnSp>
        <p:nvCxnSpPr>
          <p:cNvPr id="23" name="Connector 22"/>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25" name="TextBox 24"/>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08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OBJECTIVE 2  ·  DISCOVERY</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30 calls with 21 Teams, two fixes shipped</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94360" y="1463040"/>
            <a:ext cx="3931920" cy="14173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463040"/>
            <a:ext cx="54864" cy="1417320"/>
          </a:xfrm>
          <a:prstGeom prst="roundRect">
            <a:avLst>
              <a:gd name="adj" fmla="val 50000"/>
            </a:avLst>
          </a:prstGeom>
          <a:solidFill>
            <a:srgbClr val="2B4C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645920"/>
            <a:ext cx="3520440" cy="548640"/>
          </a:xfrm>
          <a:prstGeom prst="rect">
            <a:avLst/>
          </a:prstGeom>
          <a:noFill/>
        </p:spPr>
        <p:txBody>
          <a:bodyPr wrap="square" anchor="t" lIns="0" rIns="0" tIns="0" bIns="0">
            <a:spAutoFit/>
          </a:bodyPr>
          <a:lstStyle/>
          <a:p>
            <a:pPr algn="l"/>
            <a:r>
              <a:rPr sz="3000" b="1" i="0">
                <a:solidFill>
                  <a:srgbClr val="141B3A"/>
                </a:solidFill>
                <a:latin typeface="Montserrat"/>
              </a:rPr>
              <a:t>~30 calls</a:t>
            </a:r>
          </a:p>
        </p:txBody>
      </p:sp>
      <p:sp>
        <p:nvSpPr>
          <p:cNvPr id="10" name="TextBox 9"/>
          <p:cNvSpPr txBox="1"/>
          <p:nvPr/>
        </p:nvSpPr>
        <p:spPr>
          <a:xfrm>
            <a:off x="850392" y="2286000"/>
            <a:ext cx="3520440" cy="320040"/>
          </a:xfrm>
          <a:prstGeom prst="rect">
            <a:avLst/>
          </a:prstGeom>
          <a:noFill/>
        </p:spPr>
        <p:txBody>
          <a:bodyPr wrap="square" anchor="t" lIns="0" rIns="0" tIns="0" bIns="0">
            <a:spAutoFit/>
          </a:bodyPr>
          <a:lstStyle/>
          <a:p>
            <a:pPr algn="l"/>
            <a:r>
              <a:rPr sz="1300" b="1" i="0">
                <a:solidFill>
                  <a:srgbClr val="1A1E2C"/>
                </a:solidFill>
                <a:latin typeface="Montserrat"/>
              </a:rPr>
              <a:t>with 21 Teams</a:t>
            </a:r>
          </a:p>
        </p:txBody>
      </p:sp>
      <p:sp>
        <p:nvSpPr>
          <p:cNvPr id="11" name="TextBox 10"/>
          <p:cNvSpPr txBox="1"/>
          <p:nvPr/>
        </p:nvSpPr>
        <p:spPr>
          <a:xfrm>
            <a:off x="850392" y="2606040"/>
            <a:ext cx="3520440" cy="228600"/>
          </a:xfrm>
          <a:prstGeom prst="rect">
            <a:avLst/>
          </a:prstGeom>
          <a:noFill/>
        </p:spPr>
        <p:txBody>
          <a:bodyPr wrap="square" anchor="t" lIns="0" rIns="0" tIns="0" bIns="0">
            <a:spAutoFit/>
          </a:bodyPr>
          <a:lstStyle/>
          <a:p>
            <a:pPr algn="l"/>
            <a:r>
              <a:rPr sz="1150" b="0" i="0">
                <a:solidFill>
                  <a:srgbClr val="555C72"/>
                </a:solidFill>
                <a:latin typeface="Source Sans 3"/>
              </a:rPr>
              <a:t>Late May – September · ~2 a week</a:t>
            </a:r>
          </a:p>
        </p:txBody>
      </p:sp>
      <p:sp>
        <p:nvSpPr>
          <p:cNvPr id="12" name="Rounded Rectangle 11"/>
          <p:cNvSpPr/>
          <p:nvPr/>
        </p:nvSpPr>
        <p:spPr>
          <a:xfrm>
            <a:off x="594360" y="3063240"/>
            <a:ext cx="3931920" cy="278892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00400"/>
            <a:ext cx="3474720" cy="274320"/>
          </a:xfrm>
          <a:prstGeom prst="rect">
            <a:avLst/>
          </a:prstGeom>
          <a:noFill/>
        </p:spPr>
        <p:txBody>
          <a:bodyPr wrap="square" anchor="t" lIns="0" rIns="0" tIns="0" bIns="0">
            <a:spAutoFit/>
          </a:bodyPr>
          <a:lstStyle/>
          <a:p>
            <a:pPr algn="l"/>
            <a:r>
              <a:rPr sz="1050" b="1" i="0">
                <a:solidFill>
                  <a:srgbClr val="E88B1F"/>
                </a:solidFill>
                <a:latin typeface="Montserrat"/>
              </a:rPr>
              <a:t>11 IN THE NETWORK</a:t>
            </a:r>
          </a:p>
        </p:txBody>
      </p:sp>
      <p:sp>
        <p:nvSpPr>
          <p:cNvPr id="14" name="TextBox 13"/>
          <p:cNvSpPr txBox="1"/>
          <p:nvPr/>
        </p:nvSpPr>
        <p:spPr>
          <a:xfrm>
            <a:off x="868680" y="3474720"/>
            <a:ext cx="3474720" cy="1005840"/>
          </a:xfrm>
          <a:prstGeom prst="rect">
            <a:avLst/>
          </a:prstGeom>
          <a:noFill/>
        </p:spPr>
        <p:txBody>
          <a:bodyPr wrap="square" anchor="t" lIns="0" rIns="0" tIns="0" bIns="0">
            <a:spAutoFit/>
          </a:bodyPr>
          <a:lstStyle/>
          <a:p>
            <a:pPr algn="l">
              <a:lnSpc>
                <a:spcPct val="105000"/>
              </a:lnSpc>
            </a:pPr>
            <a:r>
              <a:rPr sz="1100" b="0" i="0">
                <a:solidFill>
                  <a:srgbClr val="1A1E2C"/>
                </a:solidFill>
                <a:latin typeface="Source Sans 3"/>
              </a:rPr>
              <a:t>LifeShip, LunARC, The Inspired 24, Mars Society, The Human Space Program, Celestial Commons, SpaceKind, Habitat Marte, Space Camp USA, Generation Mars Brazil, Zephalto</a:t>
            </a:r>
          </a:p>
        </p:txBody>
      </p:sp>
      <p:sp>
        <p:nvSpPr>
          <p:cNvPr id="15" name="TextBox 14"/>
          <p:cNvSpPr txBox="1"/>
          <p:nvPr/>
        </p:nvSpPr>
        <p:spPr>
          <a:xfrm>
            <a:off x="868680" y="4572000"/>
            <a:ext cx="3474720" cy="274320"/>
          </a:xfrm>
          <a:prstGeom prst="rect">
            <a:avLst/>
          </a:prstGeom>
          <a:noFill/>
        </p:spPr>
        <p:txBody>
          <a:bodyPr wrap="square" anchor="t" lIns="0" rIns="0" tIns="0" bIns="0">
            <a:spAutoFit/>
          </a:bodyPr>
          <a:lstStyle/>
          <a:p>
            <a:pPr algn="l"/>
            <a:r>
              <a:rPr sz="1050" b="1" i="0">
                <a:solidFill>
                  <a:srgbClr val="E88B1F"/>
                </a:solidFill>
                <a:latin typeface="Montserrat"/>
              </a:rPr>
              <a:t>10 PROSPECTIVE</a:t>
            </a:r>
          </a:p>
        </p:txBody>
      </p:sp>
      <p:sp>
        <p:nvSpPr>
          <p:cNvPr id="16" name="TextBox 15"/>
          <p:cNvSpPr txBox="1"/>
          <p:nvPr/>
        </p:nvSpPr>
        <p:spPr>
          <a:xfrm>
            <a:off x="868680" y="4846320"/>
            <a:ext cx="3474720" cy="914400"/>
          </a:xfrm>
          <a:prstGeom prst="rect">
            <a:avLst/>
          </a:prstGeom>
          <a:noFill/>
        </p:spPr>
        <p:txBody>
          <a:bodyPr wrap="square" anchor="t" lIns="0" rIns="0" tIns="0" bIns="0">
            <a:spAutoFit/>
          </a:bodyPr>
          <a:lstStyle/>
          <a:p>
            <a:pPr algn="l">
              <a:lnSpc>
                <a:spcPct val="105000"/>
              </a:lnSpc>
            </a:pPr>
            <a:r>
              <a:rPr sz="1100" b="0" i="0">
                <a:solidFill>
                  <a:srgbClr val="1A1E2C"/>
                </a:solidFill>
                <a:latin typeface="Source Sans 3"/>
              </a:rPr>
              <a:t>Including Lonestar (tentatively agreed) and Stardust (whitelisted)</a:t>
            </a:r>
          </a:p>
        </p:txBody>
      </p:sp>
      <p:sp>
        <p:nvSpPr>
          <p:cNvPr id="17" name="Rounded Rectangle 16"/>
          <p:cNvSpPr/>
          <p:nvPr/>
        </p:nvSpPr>
        <p:spPr>
          <a:xfrm>
            <a:off x="4846320" y="1463040"/>
            <a:ext cx="6751015" cy="21031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46320" y="1463040"/>
            <a:ext cx="54864" cy="2103120"/>
          </a:xfrm>
          <a:prstGeom prst="roundRect">
            <a:avLst>
              <a:gd name="adj" fmla="val 50000"/>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60" y="1664208"/>
            <a:ext cx="6202375" cy="365760"/>
          </a:xfrm>
          <a:prstGeom prst="rect">
            <a:avLst/>
          </a:prstGeom>
          <a:noFill/>
        </p:spPr>
        <p:txBody>
          <a:bodyPr wrap="square" anchor="t" lIns="0" rIns="0" tIns="0" bIns="0">
            <a:spAutoFit/>
          </a:bodyPr>
          <a:lstStyle/>
          <a:p>
            <a:pPr algn="l"/>
            <a:r>
              <a:rPr sz="1600" b="1" i="0">
                <a:solidFill>
                  <a:srgbClr val="141B3A"/>
                </a:solidFill>
                <a:latin typeface="Montserrat"/>
              </a:rPr>
              <a:t>Shipped  1   ·   Richer, shareable listings</a:t>
            </a:r>
          </a:p>
        </p:txBody>
      </p:sp>
      <p:sp>
        <p:nvSpPr>
          <p:cNvPr id="20" name="TextBox 19"/>
          <p:cNvSpPr txBox="1"/>
          <p:nvPr/>
        </p:nvSpPr>
        <p:spPr>
          <a:xfrm>
            <a:off x="5166360" y="2148840"/>
            <a:ext cx="6202375" cy="868680"/>
          </a:xfrm>
          <a:prstGeom prst="rect">
            <a:avLst/>
          </a:prstGeom>
          <a:noFill/>
        </p:spPr>
        <p:txBody>
          <a:bodyPr wrap="square" anchor="t" lIns="0" rIns="0" tIns="0" bIns="0">
            <a:spAutoFit/>
          </a:bodyPr>
          <a:lstStyle/>
          <a:p>
            <a:pPr algn="l">
              <a:lnSpc>
                <a:spcPct val="110000"/>
              </a:lnSpc>
            </a:pPr>
            <a:r>
              <a:rPr sz="1300" b="0" i="0">
                <a:solidFill>
                  <a:srgbClr val="555C72"/>
                </a:solidFill>
                <a:latin typeface="Source Sans 3"/>
              </a:rPr>
              <a:t>Full descriptions instead of truncated text, a deep link for every listing, and Team pages visible to non-Citizens so links work for anyone.</a:t>
            </a:r>
          </a:p>
        </p:txBody>
      </p:sp>
      <p:sp>
        <p:nvSpPr>
          <p:cNvPr id="21" name="TextBox 20"/>
          <p:cNvSpPr txBox="1"/>
          <p:nvPr/>
        </p:nvSpPr>
        <p:spPr>
          <a:xfrm>
            <a:off x="5166360" y="3108960"/>
            <a:ext cx="6202375" cy="274320"/>
          </a:xfrm>
          <a:prstGeom prst="rect">
            <a:avLst/>
          </a:prstGeom>
          <a:noFill/>
        </p:spPr>
        <p:txBody>
          <a:bodyPr wrap="square" anchor="t" lIns="0" rIns="0" tIns="0" bIns="0">
            <a:spAutoFit/>
          </a:bodyPr>
          <a:lstStyle/>
          <a:p>
            <a:pPr algn="l"/>
            <a:r>
              <a:rPr sz="1100" b="0" i="1">
                <a:solidFill>
                  <a:srgbClr val="2B4C9B"/>
                </a:solidFill>
                <a:latin typeface="Source Sans 3"/>
              </a:rPr>
              <a:t>Asked for by The Inspired 24, Habitat Marte, LunCO</a:t>
            </a:r>
          </a:p>
        </p:txBody>
      </p:sp>
      <p:sp>
        <p:nvSpPr>
          <p:cNvPr id="22" name="Rounded Rectangle 21"/>
          <p:cNvSpPr/>
          <p:nvPr/>
        </p:nvSpPr>
        <p:spPr>
          <a:xfrm>
            <a:off x="4846320" y="3749040"/>
            <a:ext cx="6751015" cy="210312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46320" y="3749040"/>
            <a:ext cx="54864" cy="2103120"/>
          </a:xfrm>
          <a:prstGeom prst="roundRect">
            <a:avLst>
              <a:gd name="adj" fmla="val 50000"/>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3950208"/>
            <a:ext cx="6202375" cy="365760"/>
          </a:xfrm>
          <a:prstGeom prst="rect">
            <a:avLst/>
          </a:prstGeom>
          <a:noFill/>
        </p:spPr>
        <p:txBody>
          <a:bodyPr wrap="square" anchor="t" lIns="0" rIns="0" tIns="0" bIns="0">
            <a:spAutoFit/>
          </a:bodyPr>
          <a:lstStyle/>
          <a:p>
            <a:pPr algn="l"/>
            <a:r>
              <a:rPr sz="1600" b="1" i="0">
                <a:solidFill>
                  <a:srgbClr val="141B3A"/>
                </a:solidFill>
                <a:latin typeface="Montserrat"/>
              </a:rPr>
              <a:t>Shipped  2   ·   Card &amp; bank onramp for purchases</a:t>
            </a:r>
          </a:p>
        </p:txBody>
      </p:sp>
      <p:sp>
        <p:nvSpPr>
          <p:cNvPr id="25" name="TextBox 24"/>
          <p:cNvSpPr txBox="1"/>
          <p:nvPr/>
        </p:nvSpPr>
        <p:spPr>
          <a:xfrm>
            <a:off x="5166360" y="4434840"/>
            <a:ext cx="6202375" cy="868680"/>
          </a:xfrm>
          <a:prstGeom prst="rect">
            <a:avLst/>
          </a:prstGeom>
          <a:noFill/>
        </p:spPr>
        <p:txBody>
          <a:bodyPr wrap="square" anchor="t" lIns="0" rIns="0" tIns="0" bIns="0">
            <a:spAutoFit/>
          </a:bodyPr>
          <a:lstStyle/>
          <a:p>
            <a:pPr algn="l">
              <a:lnSpc>
                <a:spcPct val="110000"/>
              </a:lnSpc>
            </a:pPr>
            <a:r>
              <a:rPr sz="1300" b="0" i="0">
                <a:solidFill>
                  <a:srgbClr val="555C72"/>
                </a:solidFill>
                <a:latin typeface="Source Sans 3"/>
              </a:rPr>
              <a:t>Buyers fund a wallet and buy a listing in one flow without holding crypto. Onboarding no longer steers people to a single provider.</a:t>
            </a:r>
          </a:p>
        </p:txBody>
      </p:sp>
      <p:sp>
        <p:nvSpPr>
          <p:cNvPr id="26" name="TextBox 25"/>
          <p:cNvSpPr txBox="1"/>
          <p:nvPr/>
        </p:nvSpPr>
        <p:spPr>
          <a:xfrm>
            <a:off x="5166360" y="5394960"/>
            <a:ext cx="6202375" cy="274320"/>
          </a:xfrm>
          <a:prstGeom prst="rect">
            <a:avLst/>
          </a:prstGeom>
          <a:noFill/>
        </p:spPr>
        <p:txBody>
          <a:bodyPr wrap="square" anchor="t" lIns="0" rIns="0" tIns="0" bIns="0">
            <a:spAutoFit/>
          </a:bodyPr>
          <a:lstStyle/>
          <a:p>
            <a:pPr algn="l"/>
            <a:r>
              <a:rPr sz="1100" b="0" i="1">
                <a:solidFill>
                  <a:srgbClr val="2B4C9B"/>
                </a:solidFill>
                <a:latin typeface="Source Sans 3"/>
              </a:rPr>
              <a:t>Asked for by Habitat Marte (international payments), LunARC (crypto hurdles)</a:t>
            </a:r>
          </a:p>
        </p:txBody>
      </p:sp>
      <p:cxnSp>
        <p:nvCxnSpPr>
          <p:cNvPr id="27" name="Connector 26"/>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29" name="TextBox 28"/>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09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OBJECTIVE 3  ·  OPERATIONS &amp; GOVERNANCE</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Most of the operating agenda delivered</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94360" y="1463040"/>
            <a:ext cx="11002975" cy="1856232"/>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463040"/>
            <a:ext cx="54864" cy="1856232"/>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2226564"/>
            <a:ext cx="1097280" cy="329184"/>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281428"/>
            <a:ext cx="1097280" cy="274320"/>
          </a:xfrm>
          <a:prstGeom prst="rect">
            <a:avLst/>
          </a:prstGeom>
          <a:noFill/>
        </p:spPr>
        <p:txBody>
          <a:bodyPr wrap="square" anchor="t" lIns="0" rIns="0" tIns="0" bIns="0">
            <a:spAutoFit/>
          </a:bodyPr>
          <a:lstStyle/>
          <a:p>
            <a:pPr algn="ctr"/>
            <a:r>
              <a:rPr sz="1100" b="1" i="0">
                <a:solidFill>
                  <a:srgbClr val="FFFFFF"/>
                </a:solidFill>
                <a:latin typeface="Montserrat"/>
              </a:rPr>
              <a:t>Done</a:t>
            </a:r>
          </a:p>
        </p:txBody>
      </p:sp>
      <p:sp>
        <p:nvSpPr>
          <p:cNvPr id="11" name="TextBox 10"/>
          <p:cNvSpPr txBox="1"/>
          <p:nvPr/>
        </p:nvSpPr>
        <p:spPr>
          <a:xfrm>
            <a:off x="2240280" y="1645920"/>
            <a:ext cx="9082735" cy="1581912"/>
          </a:xfrm>
          <a:prstGeom prst="rect">
            <a:avLst/>
          </a:prstGeom>
          <a:noFill/>
        </p:spPr>
        <p:txBody>
          <a:bodyPr wrap="square" anchor="t" lIns="0" rIns="0" tIns="0" bIns="0">
            <a:spAutoFit/>
          </a:bodyPr>
          <a:lstStyle/>
          <a:p>
            <a:pPr algn="l">
              <a:lnSpc>
                <a:spcPct val="120000"/>
              </a:lnSpc>
              <a:spcAft>
                <a:spcPts val="400"/>
              </a:spcAft>
            </a:pPr>
            <a:r>
              <a:rPr sz="1400" b="1">
                <a:solidFill>
                  <a:srgbClr val="2E8B57"/>
                </a:solidFill>
                <a:latin typeface="Montserrat"/>
              </a:rPr>
              <a:t>·  </a:t>
            </a:r>
            <a:r>
              <a:rPr sz="1400" b="1">
                <a:solidFill>
                  <a:srgbClr val="1A1E2C"/>
                </a:solidFill>
                <a:latin typeface="Montserrat"/>
              </a:rPr>
              <a:t>Project system: </a:t>
            </a:r>
            <a:r>
              <a:rPr sz="1400" b="0">
                <a:solidFill>
                  <a:srgbClr val="555C72"/>
                </a:solidFill>
                <a:latin typeface="Source Sans 3"/>
              </a:rPr>
              <a:t>100% migrated, then Project System v9 (MDP-267)</a:t>
            </a:r>
          </a:p>
          <a:p>
            <a:pPr algn="l">
              <a:lnSpc>
                <a:spcPct val="120000"/>
              </a:lnSpc>
              <a:spcAft>
                <a:spcPts val="400"/>
              </a:spcAft>
            </a:pPr>
            <a:r>
              <a:rPr sz="1400" b="1">
                <a:solidFill>
                  <a:srgbClr val="2E8B57"/>
                </a:solidFill>
                <a:latin typeface="Montserrat"/>
              </a:rPr>
              <a:t>·  </a:t>
            </a:r>
            <a:r>
              <a:rPr sz="1400" b="1">
                <a:solidFill>
                  <a:srgbClr val="1A1E2C"/>
                </a:solidFill>
                <a:latin typeface="Montserrat"/>
              </a:rPr>
              <a:t>Operational audit: </a:t>
            </a:r>
            <a:r>
              <a:rPr sz="1400" b="0">
                <a:solidFill>
                  <a:srgbClr val="555C72"/>
                </a:solidFill>
                <a:latin typeface="Source Sans 3"/>
              </a:rPr>
              <a:t>14 Aug financial disclosure and burn report, live dashboard</a:t>
            </a:r>
          </a:p>
          <a:p>
            <a:pPr algn="l">
              <a:lnSpc>
                <a:spcPct val="120000"/>
              </a:lnSpc>
              <a:spcAft>
                <a:spcPts val="400"/>
              </a:spcAft>
            </a:pPr>
            <a:r>
              <a:rPr sz="1400" b="1">
                <a:solidFill>
                  <a:srgbClr val="2E8B57"/>
                </a:solidFill>
                <a:latin typeface="Montserrat"/>
              </a:rPr>
              <a:t>·  </a:t>
            </a:r>
            <a:r>
              <a:rPr sz="1400" b="1">
                <a:solidFill>
                  <a:srgbClr val="1A1E2C"/>
                </a:solidFill>
                <a:latin typeface="Montserrat"/>
              </a:rPr>
              <a:t>GDPR: </a:t>
            </a:r>
            <a:r>
              <a:rPr sz="1400" b="0">
                <a:solidFill>
                  <a:srgbClr val="555C72"/>
                </a:solidFill>
                <a:latin typeface="Source Sans 3"/>
              </a:rPr>
              <a:t>Europe opened to browsing; only Citizen creation restricted</a:t>
            </a:r>
          </a:p>
          <a:p>
            <a:pPr algn="l">
              <a:lnSpc>
                <a:spcPct val="120000"/>
              </a:lnSpc>
              <a:spcAft>
                <a:spcPts val="400"/>
              </a:spcAft>
            </a:pPr>
            <a:r>
              <a:rPr sz="1400" b="1">
                <a:solidFill>
                  <a:srgbClr val="2E8B57"/>
                </a:solidFill>
                <a:latin typeface="Montserrat"/>
              </a:rPr>
              <a:t>·  </a:t>
            </a:r>
            <a:r>
              <a:rPr sz="1400" b="1">
                <a:solidFill>
                  <a:srgbClr val="1A1E2C"/>
                </a:solidFill>
                <a:latin typeface="Montserrat"/>
              </a:rPr>
              <a:t>Realistic Goals: </a:t>
            </a:r>
            <a:r>
              <a:rPr sz="1400" b="0">
                <a:solidFill>
                  <a:srgbClr val="555C72"/>
                </a:solidFill>
                <a:latin typeface="Source Sans 3"/>
              </a:rPr>
              <a:t>delivered as the OKRs of the next EB proposal, MDP-271</a:t>
            </a:r>
          </a:p>
        </p:txBody>
      </p:sp>
      <p:sp>
        <p:nvSpPr>
          <p:cNvPr id="12" name="Rounded Rectangle 11"/>
          <p:cNvSpPr/>
          <p:nvPr/>
        </p:nvSpPr>
        <p:spPr>
          <a:xfrm>
            <a:off x="594360" y="3483864"/>
            <a:ext cx="11002975" cy="1088136"/>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94360" y="3483864"/>
            <a:ext cx="54864" cy="1088136"/>
          </a:xfrm>
          <a:prstGeom prst="roundRect">
            <a:avLst>
              <a:gd name="adj" fmla="val 50000"/>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3863340"/>
            <a:ext cx="1097280" cy="329184"/>
          </a:xfrm>
          <a:prstGeom prst="roundRect">
            <a:avLst>
              <a:gd name="adj" fmla="val 50000"/>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18204"/>
            <a:ext cx="1097280" cy="274320"/>
          </a:xfrm>
          <a:prstGeom prst="rect">
            <a:avLst/>
          </a:prstGeom>
          <a:noFill/>
        </p:spPr>
        <p:txBody>
          <a:bodyPr wrap="square" anchor="t" lIns="0" rIns="0" tIns="0" bIns="0">
            <a:spAutoFit/>
          </a:bodyPr>
          <a:lstStyle/>
          <a:p>
            <a:pPr algn="ctr"/>
            <a:r>
              <a:rPr sz="1100" b="1" i="0">
                <a:solidFill>
                  <a:srgbClr val="FFFFFF"/>
                </a:solidFill>
                <a:latin typeface="Montserrat"/>
              </a:rPr>
              <a:t>Partly</a:t>
            </a:r>
          </a:p>
        </p:txBody>
      </p:sp>
      <p:sp>
        <p:nvSpPr>
          <p:cNvPr id="16" name="TextBox 15"/>
          <p:cNvSpPr txBox="1"/>
          <p:nvPr/>
        </p:nvSpPr>
        <p:spPr>
          <a:xfrm>
            <a:off x="2240280" y="3666744"/>
            <a:ext cx="9082735" cy="813816"/>
          </a:xfrm>
          <a:prstGeom prst="rect">
            <a:avLst/>
          </a:prstGeom>
          <a:noFill/>
        </p:spPr>
        <p:txBody>
          <a:bodyPr wrap="square" anchor="t" lIns="0" rIns="0" tIns="0" bIns="0">
            <a:spAutoFit/>
          </a:bodyPr>
          <a:lstStyle/>
          <a:p>
            <a:pPr algn="l">
              <a:lnSpc>
                <a:spcPct val="120000"/>
              </a:lnSpc>
              <a:spcAft>
                <a:spcPts val="400"/>
              </a:spcAft>
            </a:pPr>
            <a:r>
              <a:rPr sz="1400" b="1">
                <a:solidFill>
                  <a:srgbClr val="E88B1F"/>
                </a:solidFill>
                <a:latin typeface="Montserrat"/>
              </a:rPr>
              <a:t>·  </a:t>
            </a:r>
            <a:r>
              <a:rPr sz="1400" b="1">
                <a:solidFill>
                  <a:srgbClr val="1A1E2C"/>
                </a:solidFill>
                <a:latin typeface="Montserrat"/>
              </a:rPr>
              <a:t>For-profit arm: </a:t>
            </a:r>
            <a:r>
              <a:rPr sz="1400" b="0">
                <a:solidFill>
                  <a:srgbClr val="555C72"/>
                </a:solidFill>
                <a:latin typeface="Source Sans 3"/>
              </a:rPr>
              <a:t>plan and business case drafted, not yet presented</a:t>
            </a:r>
          </a:p>
          <a:p>
            <a:pPr algn="l">
              <a:lnSpc>
                <a:spcPct val="120000"/>
              </a:lnSpc>
              <a:spcAft>
                <a:spcPts val="400"/>
              </a:spcAft>
            </a:pPr>
            <a:r>
              <a:rPr sz="1400" b="1">
                <a:solidFill>
                  <a:srgbClr val="E88B1F"/>
                </a:solidFill>
                <a:latin typeface="Montserrat"/>
              </a:rPr>
              <a:t>·  </a:t>
            </a:r>
            <a:r>
              <a:rPr sz="1400" b="1">
                <a:solidFill>
                  <a:srgbClr val="1A1E2C"/>
                </a:solidFill>
                <a:latin typeface="Montserrat"/>
              </a:rPr>
              <a:t>Burn reporting: </a:t>
            </a:r>
            <a:r>
              <a:rPr sz="1400" b="0">
                <a:solidFill>
                  <a:srgbClr val="555C72"/>
                </a:solidFill>
                <a:latin typeface="Source Sans 3"/>
              </a:rPr>
              <a:t>continuous internal dashboard instead of monthly reports</a:t>
            </a:r>
          </a:p>
        </p:txBody>
      </p:sp>
      <p:sp>
        <p:nvSpPr>
          <p:cNvPr id="17" name="Rounded Rectangle 16"/>
          <p:cNvSpPr/>
          <p:nvPr/>
        </p:nvSpPr>
        <p:spPr>
          <a:xfrm>
            <a:off x="594360" y="4736592"/>
            <a:ext cx="11002975" cy="1088136"/>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4360" y="4736592"/>
            <a:ext cx="54864" cy="1088136"/>
          </a:xfrm>
          <a:prstGeom prst="roundRect">
            <a:avLst>
              <a:gd name="adj" fmla="val 50000"/>
            </a:avLst>
          </a:prstGeom>
          <a:solidFill>
            <a:srgbClr val="A32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5116068"/>
            <a:ext cx="1097280" cy="329184"/>
          </a:xfrm>
          <a:prstGeom prst="roundRect">
            <a:avLst>
              <a:gd name="adj" fmla="val 50000"/>
            </a:avLst>
          </a:prstGeom>
          <a:solidFill>
            <a:srgbClr val="A32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70932"/>
            <a:ext cx="1097280" cy="274320"/>
          </a:xfrm>
          <a:prstGeom prst="rect">
            <a:avLst/>
          </a:prstGeom>
          <a:noFill/>
        </p:spPr>
        <p:txBody>
          <a:bodyPr wrap="square" anchor="t" lIns="0" rIns="0" tIns="0" bIns="0">
            <a:spAutoFit/>
          </a:bodyPr>
          <a:lstStyle/>
          <a:p>
            <a:pPr algn="ctr"/>
            <a:r>
              <a:rPr sz="1100" b="1" i="0">
                <a:solidFill>
                  <a:srgbClr val="FFFFFF"/>
                </a:solidFill>
                <a:latin typeface="Montserrat"/>
              </a:rPr>
              <a:t>Not yet</a:t>
            </a:r>
          </a:p>
        </p:txBody>
      </p:sp>
      <p:sp>
        <p:nvSpPr>
          <p:cNvPr id="21" name="TextBox 20"/>
          <p:cNvSpPr txBox="1"/>
          <p:nvPr/>
        </p:nvSpPr>
        <p:spPr>
          <a:xfrm>
            <a:off x="2240280" y="4919472"/>
            <a:ext cx="9082735" cy="813816"/>
          </a:xfrm>
          <a:prstGeom prst="rect">
            <a:avLst/>
          </a:prstGeom>
          <a:noFill/>
        </p:spPr>
        <p:txBody>
          <a:bodyPr wrap="square" anchor="t" lIns="0" rIns="0" tIns="0" bIns="0">
            <a:spAutoFit/>
          </a:bodyPr>
          <a:lstStyle/>
          <a:p>
            <a:pPr algn="l">
              <a:lnSpc>
                <a:spcPct val="120000"/>
              </a:lnSpc>
              <a:spcAft>
                <a:spcPts val="400"/>
              </a:spcAft>
            </a:pPr>
            <a:r>
              <a:rPr sz="1400" b="1">
                <a:solidFill>
                  <a:srgbClr val="A32E35"/>
                </a:solidFill>
                <a:latin typeface="Montserrat"/>
              </a:rPr>
              <a:t>·  </a:t>
            </a:r>
            <a:r>
              <a:rPr sz="1400" b="1">
                <a:solidFill>
                  <a:srgbClr val="1A1E2C"/>
                </a:solidFill>
                <a:latin typeface="Montserrat"/>
              </a:rPr>
              <a:t>Cost reduction: </a:t>
            </a:r>
            <a:r>
              <a:rPr sz="1400" b="0">
                <a:solidFill>
                  <a:srgbClr val="555C72"/>
                </a:solidFill>
                <a:latin typeface="Source Sans 3"/>
              </a:rPr>
              <a:t>none; AI-tooling costs rose</a:t>
            </a:r>
          </a:p>
          <a:p>
            <a:pPr algn="l">
              <a:lnSpc>
                <a:spcPct val="120000"/>
              </a:lnSpc>
              <a:spcAft>
                <a:spcPts val="400"/>
              </a:spcAft>
            </a:pPr>
            <a:r>
              <a:rPr sz="1400" b="1">
                <a:solidFill>
                  <a:srgbClr val="A32E35"/>
                </a:solidFill>
                <a:latin typeface="Montserrat"/>
              </a:rPr>
              <a:t>·  </a:t>
            </a:r>
            <a:r>
              <a:rPr sz="1400" b="1">
                <a:solidFill>
                  <a:srgbClr val="1A1E2C"/>
                </a:solidFill>
                <a:latin typeface="Montserrat"/>
              </a:rPr>
              <a:t>Election: </a:t>
            </a:r>
            <a:r>
              <a:rPr sz="1400" b="0">
                <a:solidFill>
                  <a:srgbClr val="555C72"/>
                </a:solidFill>
                <a:latin typeface="Source Sans 3"/>
              </a:rPr>
              <a:t>nominations and town hall held; Member House vote postponed</a:t>
            </a:r>
          </a:p>
        </p:txBody>
      </p:sp>
      <p:cxnSp>
        <p:nvCxnSpPr>
          <p:cNvPr id="22" name="Connector 21"/>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24" name="TextBox 23"/>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BUDGET &amp; TREASURY</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On budget: $132.7k spent of $132k</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pic>
        <p:nvPicPr>
          <p:cNvPr id="7" name="Picture 6" descr="07-budget-vs-actual.png"/>
          <p:cNvPicPr>
            <a:picLocks noChangeAspect="1"/>
          </p:cNvPicPr>
          <p:nvPr/>
        </p:nvPicPr>
        <p:blipFill>
          <a:blip r:embed="rId4"/>
          <a:stretch>
            <a:fillRect/>
          </a:stretch>
        </p:blipFill>
        <p:spPr>
          <a:xfrm>
            <a:off x="594360" y="1884242"/>
            <a:ext cx="7223760" cy="3363835"/>
          </a:xfrm>
          <a:prstGeom prst="rect">
            <a:avLst/>
          </a:prstGeom>
        </p:spPr>
      </p:pic>
      <p:sp>
        <p:nvSpPr>
          <p:cNvPr id="8" name="Rounded Rectangle 7"/>
          <p:cNvSpPr/>
          <p:nvPr/>
        </p:nvSpPr>
        <p:spPr>
          <a:xfrm>
            <a:off x="8046720" y="1463040"/>
            <a:ext cx="3550615"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0" y="1463040"/>
            <a:ext cx="54864" cy="1371600"/>
          </a:xfrm>
          <a:prstGeom prst="roundRect">
            <a:avLst>
              <a:gd name="adj" fmla="val 50000"/>
            </a:avLst>
          </a:prstGeom>
          <a:solidFill>
            <a:srgbClr val="1E2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645920"/>
            <a:ext cx="3139135" cy="548640"/>
          </a:xfrm>
          <a:prstGeom prst="rect">
            <a:avLst/>
          </a:prstGeom>
          <a:noFill/>
        </p:spPr>
        <p:txBody>
          <a:bodyPr wrap="square" anchor="t" lIns="0" rIns="0" tIns="0" bIns="0">
            <a:spAutoFit/>
          </a:bodyPr>
          <a:lstStyle/>
          <a:p>
            <a:pPr algn="l"/>
            <a:r>
              <a:rPr sz="3000" b="1" i="0">
                <a:solidFill>
                  <a:srgbClr val="141B3A"/>
                </a:solidFill>
                <a:latin typeface="Montserrat"/>
              </a:rPr>
              <a:t>+0.6%</a:t>
            </a:r>
          </a:p>
        </p:txBody>
      </p:sp>
      <p:sp>
        <p:nvSpPr>
          <p:cNvPr id="11" name="TextBox 10"/>
          <p:cNvSpPr txBox="1"/>
          <p:nvPr/>
        </p:nvSpPr>
        <p:spPr>
          <a:xfrm>
            <a:off x="8302752" y="2286000"/>
            <a:ext cx="3139135" cy="320040"/>
          </a:xfrm>
          <a:prstGeom prst="rect">
            <a:avLst/>
          </a:prstGeom>
          <a:noFill/>
        </p:spPr>
        <p:txBody>
          <a:bodyPr wrap="square" anchor="t" lIns="0" rIns="0" tIns="0" bIns="0">
            <a:spAutoFit/>
          </a:bodyPr>
          <a:lstStyle/>
          <a:p>
            <a:pPr algn="l"/>
            <a:r>
              <a:rPr sz="1300" b="1" i="0">
                <a:solidFill>
                  <a:srgbClr val="1A1E2C"/>
                </a:solidFill>
                <a:latin typeface="Montserrat"/>
              </a:rPr>
              <a:t>vs core budget</a:t>
            </a:r>
          </a:p>
        </p:txBody>
      </p:sp>
      <p:sp>
        <p:nvSpPr>
          <p:cNvPr id="12" name="TextBox 11"/>
          <p:cNvSpPr txBox="1"/>
          <p:nvPr/>
        </p:nvSpPr>
        <p:spPr>
          <a:xfrm>
            <a:off x="8302752" y="2606040"/>
            <a:ext cx="3139135" cy="182880"/>
          </a:xfrm>
          <a:prstGeom prst="rect">
            <a:avLst/>
          </a:prstGeom>
          <a:noFill/>
        </p:spPr>
        <p:txBody>
          <a:bodyPr wrap="square" anchor="t" lIns="0" rIns="0" tIns="0" bIns="0">
            <a:spAutoFit/>
          </a:bodyPr>
          <a:lstStyle/>
          <a:p>
            <a:pPr algn="l"/>
            <a:r>
              <a:rPr sz="1150" b="0" i="0">
                <a:solidFill>
                  <a:srgbClr val="555C72"/>
                </a:solidFill>
                <a:latin typeface="Source Sans 3"/>
              </a:rPr>
              <a:t>$120.5k payroll + $12.2k ops &amp; flex</a:t>
            </a:r>
          </a:p>
        </p:txBody>
      </p:sp>
      <p:sp>
        <p:nvSpPr>
          <p:cNvPr id="13" name="Rounded Rectangle 12"/>
          <p:cNvSpPr/>
          <p:nvPr/>
        </p:nvSpPr>
        <p:spPr>
          <a:xfrm>
            <a:off x="8046720" y="3017520"/>
            <a:ext cx="3550615"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46720" y="3017520"/>
            <a:ext cx="54864" cy="1371600"/>
          </a:xfrm>
          <a:prstGeom prst="roundRect">
            <a:avLst>
              <a:gd name="adj" fmla="val 50000"/>
            </a:avLst>
          </a:prstGeom>
          <a:solidFill>
            <a:srgbClr val="1E2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3200400"/>
            <a:ext cx="3139135" cy="548640"/>
          </a:xfrm>
          <a:prstGeom prst="rect">
            <a:avLst/>
          </a:prstGeom>
          <a:noFill/>
        </p:spPr>
        <p:txBody>
          <a:bodyPr wrap="square" anchor="t" lIns="0" rIns="0" tIns="0" bIns="0">
            <a:spAutoFit/>
          </a:bodyPr>
          <a:lstStyle/>
          <a:p>
            <a:pPr algn="l"/>
            <a:r>
              <a:rPr sz="3000" b="1" i="0">
                <a:solidFill>
                  <a:srgbClr val="141B3A"/>
                </a:solidFill>
                <a:latin typeface="Montserrat"/>
              </a:rPr>
              <a:t>$0</a:t>
            </a:r>
          </a:p>
        </p:txBody>
      </p:sp>
      <p:sp>
        <p:nvSpPr>
          <p:cNvPr id="16" name="TextBox 15"/>
          <p:cNvSpPr txBox="1"/>
          <p:nvPr/>
        </p:nvSpPr>
        <p:spPr>
          <a:xfrm>
            <a:off x="8302752" y="3840480"/>
            <a:ext cx="3139135" cy="320040"/>
          </a:xfrm>
          <a:prstGeom prst="rect">
            <a:avLst/>
          </a:prstGeom>
          <a:noFill/>
        </p:spPr>
        <p:txBody>
          <a:bodyPr wrap="square" anchor="t" lIns="0" rIns="0" tIns="0" bIns="0">
            <a:spAutoFit/>
          </a:bodyPr>
          <a:lstStyle/>
          <a:p>
            <a:pPr algn="l"/>
            <a:r>
              <a:rPr sz="1300" b="1" i="0">
                <a:solidFill>
                  <a:srgbClr val="1A1E2C"/>
                </a:solidFill>
                <a:latin typeface="Montserrat"/>
              </a:rPr>
              <a:t>Bonus paid</a:t>
            </a:r>
          </a:p>
        </p:txBody>
      </p:sp>
      <p:sp>
        <p:nvSpPr>
          <p:cNvPr id="17" name="TextBox 16"/>
          <p:cNvSpPr txBox="1"/>
          <p:nvPr/>
        </p:nvSpPr>
        <p:spPr>
          <a:xfrm>
            <a:off x="8302752" y="4160520"/>
            <a:ext cx="3139135" cy="182880"/>
          </a:xfrm>
          <a:prstGeom prst="rect">
            <a:avLst/>
          </a:prstGeom>
          <a:noFill/>
        </p:spPr>
        <p:txBody>
          <a:bodyPr wrap="square" anchor="t" lIns="0" rIns="0" tIns="0" bIns="0">
            <a:spAutoFit/>
          </a:bodyPr>
          <a:lstStyle/>
          <a:p>
            <a:pPr algn="l"/>
            <a:r>
              <a:rPr sz="1150" b="0" i="0">
                <a:solidFill>
                  <a:srgbClr val="555C72"/>
                </a:solidFill>
                <a:latin typeface="Source Sans 3"/>
              </a:rPr>
              <a:t>Of the $24k at-risk pool</a:t>
            </a:r>
          </a:p>
        </p:txBody>
      </p:sp>
      <p:sp>
        <p:nvSpPr>
          <p:cNvPr id="18" name="Rounded Rectangle 17"/>
          <p:cNvSpPr/>
          <p:nvPr/>
        </p:nvSpPr>
        <p:spPr>
          <a:xfrm>
            <a:off x="8046720" y="4572000"/>
            <a:ext cx="3550615" cy="13716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46720" y="4572000"/>
            <a:ext cx="54864" cy="1371600"/>
          </a:xfrm>
          <a:prstGeom prst="roundRect">
            <a:avLst>
              <a:gd name="adj" fmla="val 50000"/>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4754880"/>
            <a:ext cx="3139135" cy="548640"/>
          </a:xfrm>
          <a:prstGeom prst="rect">
            <a:avLst/>
          </a:prstGeom>
          <a:noFill/>
        </p:spPr>
        <p:txBody>
          <a:bodyPr wrap="square" anchor="t" lIns="0" rIns="0" tIns="0" bIns="0">
            <a:spAutoFit/>
          </a:bodyPr>
          <a:lstStyle/>
          <a:p>
            <a:pPr algn="l"/>
            <a:r>
              <a:rPr sz="3000" b="1" i="0">
                <a:solidFill>
                  <a:srgbClr val="141B3A"/>
                </a:solidFill>
                <a:latin typeface="Montserrat"/>
              </a:rPr>
              <a:t>≈ $4.3k</a:t>
            </a:r>
          </a:p>
        </p:txBody>
      </p:sp>
      <p:sp>
        <p:nvSpPr>
          <p:cNvPr id="21" name="TextBox 20"/>
          <p:cNvSpPr txBox="1"/>
          <p:nvPr/>
        </p:nvSpPr>
        <p:spPr>
          <a:xfrm>
            <a:off x="8302752" y="5394960"/>
            <a:ext cx="3139135" cy="320040"/>
          </a:xfrm>
          <a:prstGeom prst="rect">
            <a:avLst/>
          </a:prstGeom>
          <a:noFill/>
        </p:spPr>
        <p:txBody>
          <a:bodyPr wrap="square" anchor="t" lIns="0" rIns="0" tIns="0" bIns="0">
            <a:spAutoFit/>
          </a:bodyPr>
          <a:lstStyle/>
          <a:p>
            <a:pPr algn="l"/>
            <a:r>
              <a:rPr sz="1300" b="1" i="0">
                <a:solidFill>
                  <a:srgbClr val="1A1E2C"/>
                </a:solidFill>
                <a:latin typeface="Montserrat"/>
              </a:rPr>
              <a:t>On-chain revenue, 12 months</a:t>
            </a:r>
          </a:p>
        </p:txBody>
      </p:sp>
      <p:sp>
        <p:nvSpPr>
          <p:cNvPr id="22" name="TextBox 21"/>
          <p:cNvSpPr txBox="1"/>
          <p:nvPr/>
        </p:nvSpPr>
        <p:spPr>
          <a:xfrm>
            <a:off x="8302752" y="5715000"/>
            <a:ext cx="3139135" cy="182880"/>
          </a:xfrm>
          <a:prstGeom prst="rect">
            <a:avLst/>
          </a:prstGeom>
          <a:noFill/>
        </p:spPr>
        <p:txBody>
          <a:bodyPr wrap="square" anchor="t" lIns="0" rIns="0" tIns="0" bIns="0">
            <a:spAutoFit/>
          </a:bodyPr>
          <a:lstStyle/>
          <a:p>
            <a:pPr algn="l"/>
            <a:r>
              <a:rPr sz="1150" b="0" i="0">
                <a:solidFill>
                  <a:srgbClr val="555C72"/>
                </a:solidFill>
                <a:latin typeface="Source Sans 3"/>
              </a:rPr>
              <a:t>1.67 ETH to the treasury; excludes card/fiat</a:t>
            </a:r>
          </a:p>
        </p:txBody>
      </p:sp>
      <p:cxnSp>
        <p:nvCxnSpPr>
          <p:cNvPr id="23" name="Connector 22"/>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25" name="TextBox 24"/>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4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56032"/>
            <a:ext cx="8778240" cy="256032"/>
          </a:xfrm>
          <a:prstGeom prst="rect">
            <a:avLst/>
          </a:prstGeom>
          <a:noFill/>
        </p:spPr>
        <p:txBody>
          <a:bodyPr wrap="square" anchor="t" lIns="0" rIns="0" tIns="0" bIns="0">
            <a:spAutoFit/>
          </a:bodyPr>
          <a:lstStyle/>
          <a:p>
            <a:pPr algn="l"/>
            <a:r>
              <a:rPr sz="1100" b="1" i="0">
                <a:solidFill>
                  <a:srgbClr val="E88B1F"/>
                </a:solidFill>
                <a:latin typeface="Montserrat"/>
              </a:rPr>
              <a:t>SELF-ASSESSMENT</a:t>
            </a:r>
          </a:p>
        </p:txBody>
      </p:sp>
      <p:sp>
        <p:nvSpPr>
          <p:cNvPr id="4" name="TextBox 3"/>
          <p:cNvSpPr txBox="1"/>
          <p:nvPr/>
        </p:nvSpPr>
        <p:spPr>
          <a:xfrm>
            <a:off x="594360" y="502920"/>
            <a:ext cx="8961120" cy="594360"/>
          </a:xfrm>
          <a:prstGeom prst="rect">
            <a:avLst/>
          </a:prstGeom>
          <a:noFill/>
        </p:spPr>
        <p:txBody>
          <a:bodyPr wrap="square" anchor="t" lIns="0" rIns="0" tIns="0" bIns="0">
            <a:spAutoFit/>
          </a:bodyPr>
          <a:lstStyle/>
          <a:p>
            <a:pPr algn="l"/>
            <a:r>
              <a:rPr sz="2800" b="1" i="0">
                <a:solidFill>
                  <a:srgbClr val="141B3A"/>
                </a:solidFill>
                <a:latin typeface="Montserrat"/>
              </a:rPr>
              <a:t>Provisional grades</a:t>
            </a:r>
          </a:p>
        </p:txBody>
      </p:sp>
      <p:pic>
        <p:nvPicPr>
          <p:cNvPr id="5" name="Picture 4" descr="MoonDAO_icon.png"/>
          <p:cNvPicPr>
            <a:picLocks noChangeAspect="1"/>
          </p:cNvPicPr>
          <p:nvPr/>
        </p:nvPicPr>
        <p:blipFill>
          <a:blip r:embed="rId3"/>
          <a:stretch>
            <a:fillRect/>
          </a:stretch>
        </p:blipFill>
        <p:spPr>
          <a:xfrm>
            <a:off x="10271455" y="347472"/>
            <a:ext cx="1325880" cy="370988"/>
          </a:xfrm>
          <a:prstGeom prst="rect">
            <a:avLst/>
          </a:prstGeom>
        </p:spPr>
      </p:pic>
      <p:cxnSp>
        <p:nvCxnSpPr>
          <p:cNvPr id="6" name="Connector 5"/>
          <p:cNvCxnSpPr/>
          <p:nvPr/>
        </p:nvCxnSpPr>
        <p:spPr>
          <a:xfrm>
            <a:off x="594360" y="117043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94360" y="1463040"/>
            <a:ext cx="3454298" cy="27432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463040"/>
            <a:ext cx="3454298" cy="7315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2814218" cy="320040"/>
          </a:xfrm>
          <a:prstGeom prst="rect">
            <a:avLst/>
          </a:prstGeom>
          <a:noFill/>
        </p:spPr>
        <p:txBody>
          <a:bodyPr wrap="square" anchor="t" lIns="0" rIns="0" tIns="0" bIns="0">
            <a:spAutoFit/>
          </a:bodyPr>
          <a:lstStyle/>
          <a:p>
            <a:pPr algn="l"/>
            <a:r>
              <a:rPr sz="1100" b="1" i="0">
                <a:solidFill>
                  <a:srgbClr val="E88B1F"/>
                </a:solidFill>
                <a:latin typeface="Montserrat"/>
              </a:rPr>
              <a:t>OBJECTIVE 1</a:t>
            </a:r>
          </a:p>
        </p:txBody>
      </p:sp>
      <p:sp>
        <p:nvSpPr>
          <p:cNvPr id="10" name="TextBox 9"/>
          <p:cNvSpPr txBox="1"/>
          <p:nvPr/>
        </p:nvSpPr>
        <p:spPr>
          <a:xfrm>
            <a:off x="914400" y="2029968"/>
            <a:ext cx="2814218" cy="365760"/>
          </a:xfrm>
          <a:prstGeom prst="rect">
            <a:avLst/>
          </a:prstGeom>
          <a:noFill/>
        </p:spPr>
        <p:txBody>
          <a:bodyPr wrap="square" anchor="t" lIns="0" rIns="0" tIns="0" bIns="0">
            <a:spAutoFit/>
          </a:bodyPr>
          <a:lstStyle/>
          <a:p>
            <a:pPr algn="l"/>
            <a:r>
              <a:rPr sz="1700" b="1" i="0">
                <a:solidFill>
                  <a:srgbClr val="141B3A"/>
                </a:solidFill>
                <a:latin typeface="Montserrat"/>
              </a:rPr>
              <a:t>Frank &amp; DePrize</a:t>
            </a:r>
          </a:p>
        </p:txBody>
      </p:sp>
      <p:sp>
        <p:nvSpPr>
          <p:cNvPr id="11" name="Rounded Rectangle 10"/>
          <p:cNvSpPr/>
          <p:nvPr/>
        </p:nvSpPr>
        <p:spPr>
          <a:xfrm>
            <a:off x="914400" y="2560320"/>
            <a:ext cx="2814218" cy="329184"/>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615184"/>
            <a:ext cx="2814218" cy="274320"/>
          </a:xfrm>
          <a:prstGeom prst="rect">
            <a:avLst/>
          </a:prstGeom>
          <a:noFill/>
        </p:spPr>
        <p:txBody>
          <a:bodyPr wrap="square" anchor="t" lIns="0" rIns="0" tIns="0" bIns="0">
            <a:spAutoFit/>
          </a:bodyPr>
          <a:lstStyle/>
          <a:p>
            <a:pPr algn="ctr"/>
            <a:r>
              <a:rPr sz="1100" b="1" i="0">
                <a:solidFill>
                  <a:srgbClr val="FFFFFF"/>
                </a:solidFill>
                <a:latin typeface="Montserrat"/>
              </a:rPr>
              <a:t>Meets</a:t>
            </a:r>
          </a:p>
        </p:txBody>
      </p:sp>
      <p:sp>
        <p:nvSpPr>
          <p:cNvPr id="13" name="TextBox 12"/>
          <p:cNvSpPr txBox="1"/>
          <p:nvPr/>
        </p:nvSpPr>
        <p:spPr>
          <a:xfrm>
            <a:off x="914400" y="3108960"/>
            <a:ext cx="2814218" cy="1005840"/>
          </a:xfrm>
          <a:prstGeom prst="rect">
            <a:avLst/>
          </a:prstGeom>
          <a:noFill/>
        </p:spPr>
        <p:txBody>
          <a:bodyPr wrap="square" anchor="t" lIns="0" rIns="0" tIns="0" bIns="0">
            <a:spAutoFit/>
          </a:bodyPr>
          <a:lstStyle/>
          <a:p>
            <a:pPr algn="l">
              <a:lnSpc>
                <a:spcPct val="110000"/>
              </a:lnSpc>
            </a:pPr>
            <a:r>
              <a:rPr sz="1300" b="0" i="0">
                <a:solidFill>
                  <a:srgbClr val="555C72"/>
                </a:solidFill>
                <a:latin typeface="Source Sans 3"/>
              </a:rPr>
              <a:t>Beyond scope on infrastructure; late; no revenue or prototype test yet</a:t>
            </a:r>
          </a:p>
        </p:txBody>
      </p:sp>
      <p:sp>
        <p:nvSpPr>
          <p:cNvPr id="14" name="Rounded Rectangle 13"/>
          <p:cNvSpPr/>
          <p:nvPr/>
        </p:nvSpPr>
        <p:spPr>
          <a:xfrm>
            <a:off x="4368698" y="1463040"/>
            <a:ext cx="3454298" cy="27432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8698" y="1463040"/>
            <a:ext cx="3454298" cy="73152"/>
          </a:xfrm>
          <a:prstGeom prst="rect">
            <a:avLst/>
          </a:prstGeom>
          <a:solidFill>
            <a:srgbClr val="A32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88738" y="1737360"/>
            <a:ext cx="2814218" cy="320040"/>
          </a:xfrm>
          <a:prstGeom prst="rect">
            <a:avLst/>
          </a:prstGeom>
          <a:noFill/>
        </p:spPr>
        <p:txBody>
          <a:bodyPr wrap="square" anchor="t" lIns="0" rIns="0" tIns="0" bIns="0">
            <a:spAutoFit/>
          </a:bodyPr>
          <a:lstStyle/>
          <a:p>
            <a:pPr algn="l"/>
            <a:r>
              <a:rPr sz="1100" b="1" i="0">
                <a:solidFill>
                  <a:srgbClr val="E88B1F"/>
                </a:solidFill>
                <a:latin typeface="Montserrat"/>
              </a:rPr>
              <a:t>OBJECTIVE 2</a:t>
            </a:r>
          </a:p>
        </p:txBody>
      </p:sp>
      <p:sp>
        <p:nvSpPr>
          <p:cNvPr id="17" name="TextBox 16"/>
          <p:cNvSpPr txBox="1"/>
          <p:nvPr/>
        </p:nvSpPr>
        <p:spPr>
          <a:xfrm>
            <a:off x="4688738" y="2029968"/>
            <a:ext cx="2814218" cy="365760"/>
          </a:xfrm>
          <a:prstGeom prst="rect">
            <a:avLst/>
          </a:prstGeom>
          <a:noFill/>
        </p:spPr>
        <p:txBody>
          <a:bodyPr wrap="square" anchor="t" lIns="0" rIns="0" tIns="0" bIns="0">
            <a:spAutoFit/>
          </a:bodyPr>
          <a:lstStyle/>
          <a:p>
            <a:pPr algn="l"/>
            <a:r>
              <a:rPr sz="1700" b="1" i="0">
                <a:solidFill>
                  <a:srgbClr val="141B3A"/>
                </a:solidFill>
                <a:latin typeface="Montserrat"/>
              </a:rPr>
              <a:t>Network growth</a:t>
            </a:r>
          </a:p>
        </p:txBody>
      </p:sp>
      <p:sp>
        <p:nvSpPr>
          <p:cNvPr id="18" name="Rounded Rectangle 17"/>
          <p:cNvSpPr/>
          <p:nvPr/>
        </p:nvSpPr>
        <p:spPr>
          <a:xfrm>
            <a:off x="4688738" y="2560320"/>
            <a:ext cx="2814218" cy="329184"/>
          </a:xfrm>
          <a:prstGeom prst="roundRect">
            <a:avLst>
              <a:gd name="adj" fmla="val 50000"/>
            </a:avLst>
          </a:prstGeom>
          <a:solidFill>
            <a:srgbClr val="A32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88738" y="2615184"/>
            <a:ext cx="2814218" cy="274320"/>
          </a:xfrm>
          <a:prstGeom prst="rect">
            <a:avLst/>
          </a:prstGeom>
          <a:noFill/>
        </p:spPr>
        <p:txBody>
          <a:bodyPr wrap="square" anchor="t" lIns="0" rIns="0" tIns="0" bIns="0">
            <a:spAutoFit/>
          </a:bodyPr>
          <a:lstStyle/>
          <a:p>
            <a:pPr algn="ctr"/>
            <a:r>
              <a:rPr sz="1100" b="1" i="0">
                <a:solidFill>
                  <a:srgbClr val="FFFFFF"/>
                </a:solidFill>
                <a:latin typeface="Montserrat"/>
              </a:rPr>
              <a:t>Does not meet</a:t>
            </a:r>
          </a:p>
        </p:txBody>
      </p:sp>
      <p:sp>
        <p:nvSpPr>
          <p:cNvPr id="20" name="TextBox 19"/>
          <p:cNvSpPr txBox="1"/>
          <p:nvPr/>
        </p:nvSpPr>
        <p:spPr>
          <a:xfrm>
            <a:off x="4688738" y="3108960"/>
            <a:ext cx="2814218" cy="1005840"/>
          </a:xfrm>
          <a:prstGeom prst="rect">
            <a:avLst/>
          </a:prstGeom>
          <a:noFill/>
        </p:spPr>
        <p:txBody>
          <a:bodyPr wrap="square" anchor="t" lIns="0" rIns="0" tIns="0" bIns="0">
            <a:spAutoFit/>
          </a:bodyPr>
          <a:lstStyle/>
          <a:p>
            <a:pPr algn="l">
              <a:lnSpc>
                <a:spcPct val="110000"/>
              </a:lnSpc>
            </a:pPr>
            <a:r>
              <a:rPr sz="1300" b="0" i="0">
                <a:solidFill>
                  <a:srgbClr val="555C72"/>
                </a:solidFill>
                <a:latin typeface="Source Sans 3"/>
              </a:rPr>
              <a:t>Strong growth and discovery done; Citizen, Team and utilization targets missed</a:t>
            </a:r>
          </a:p>
        </p:txBody>
      </p:sp>
      <p:sp>
        <p:nvSpPr>
          <p:cNvPr id="21" name="Rounded Rectangle 20"/>
          <p:cNvSpPr/>
          <p:nvPr/>
        </p:nvSpPr>
        <p:spPr>
          <a:xfrm>
            <a:off x="8143036" y="1463040"/>
            <a:ext cx="3454298" cy="2743200"/>
          </a:xfrm>
          <a:prstGeom prst="roundRect">
            <a:avLst>
              <a:gd name="adj" fmla="val 8000"/>
            </a:avLst>
          </a:prstGeom>
          <a:solidFill>
            <a:srgbClr val="FFFFFF"/>
          </a:solidFill>
          <a:ln w="9525">
            <a:solidFill>
              <a:srgbClr val="E0E4EF"/>
            </a:solidFill>
          </a:ln>
          <a:effectLst/>
          <a:effectLst>
            <a:outerShdw blurRad="70000" dist="28000" dir="5400000" rotWithShape="0">
              <a:srgbClr val="141B3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3036" y="1463040"/>
            <a:ext cx="3454298" cy="73152"/>
          </a:xfrm>
          <a:prstGeom prst="rect">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63076" y="1737360"/>
            <a:ext cx="2814218" cy="320040"/>
          </a:xfrm>
          <a:prstGeom prst="rect">
            <a:avLst/>
          </a:prstGeom>
          <a:noFill/>
        </p:spPr>
        <p:txBody>
          <a:bodyPr wrap="square" anchor="t" lIns="0" rIns="0" tIns="0" bIns="0">
            <a:spAutoFit/>
          </a:bodyPr>
          <a:lstStyle/>
          <a:p>
            <a:pPr algn="l"/>
            <a:r>
              <a:rPr sz="1100" b="1" i="0">
                <a:solidFill>
                  <a:srgbClr val="E88B1F"/>
                </a:solidFill>
                <a:latin typeface="Montserrat"/>
              </a:rPr>
              <a:t>OBJECTIVE 3</a:t>
            </a:r>
          </a:p>
        </p:txBody>
      </p:sp>
      <p:sp>
        <p:nvSpPr>
          <p:cNvPr id="24" name="TextBox 23"/>
          <p:cNvSpPr txBox="1"/>
          <p:nvPr/>
        </p:nvSpPr>
        <p:spPr>
          <a:xfrm>
            <a:off x="8463076" y="2029968"/>
            <a:ext cx="2814218" cy="365760"/>
          </a:xfrm>
          <a:prstGeom prst="rect">
            <a:avLst/>
          </a:prstGeom>
          <a:noFill/>
        </p:spPr>
        <p:txBody>
          <a:bodyPr wrap="square" anchor="t" lIns="0" rIns="0" tIns="0" bIns="0">
            <a:spAutoFit/>
          </a:bodyPr>
          <a:lstStyle/>
          <a:p>
            <a:pPr algn="l"/>
            <a:r>
              <a:rPr sz="1700" b="1" i="0">
                <a:solidFill>
                  <a:srgbClr val="141B3A"/>
                </a:solidFill>
                <a:latin typeface="Montserrat"/>
              </a:rPr>
              <a:t>Operations</a:t>
            </a:r>
          </a:p>
        </p:txBody>
      </p:sp>
      <p:sp>
        <p:nvSpPr>
          <p:cNvPr id="25" name="Rounded Rectangle 24"/>
          <p:cNvSpPr/>
          <p:nvPr/>
        </p:nvSpPr>
        <p:spPr>
          <a:xfrm>
            <a:off x="8463076" y="2560320"/>
            <a:ext cx="2814218" cy="329184"/>
          </a:xfrm>
          <a:prstGeom prst="roundRect">
            <a:avLst>
              <a:gd name="adj" fmla="val 50000"/>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63076" y="2615184"/>
            <a:ext cx="2814218" cy="274320"/>
          </a:xfrm>
          <a:prstGeom prst="rect">
            <a:avLst/>
          </a:prstGeom>
          <a:noFill/>
        </p:spPr>
        <p:txBody>
          <a:bodyPr wrap="square" anchor="t" lIns="0" rIns="0" tIns="0" bIns="0">
            <a:spAutoFit/>
          </a:bodyPr>
          <a:lstStyle/>
          <a:p>
            <a:pPr algn="ctr"/>
            <a:r>
              <a:rPr sz="1100" b="1" i="0">
                <a:solidFill>
                  <a:srgbClr val="FFFFFF"/>
                </a:solidFill>
                <a:latin typeface="Montserrat"/>
              </a:rPr>
              <a:t>Meets (borderline)</a:t>
            </a:r>
          </a:p>
        </p:txBody>
      </p:sp>
      <p:sp>
        <p:nvSpPr>
          <p:cNvPr id="27" name="TextBox 26"/>
          <p:cNvSpPr txBox="1"/>
          <p:nvPr/>
        </p:nvSpPr>
        <p:spPr>
          <a:xfrm>
            <a:off x="8463076" y="3108960"/>
            <a:ext cx="2814218" cy="1005840"/>
          </a:xfrm>
          <a:prstGeom prst="rect">
            <a:avLst/>
          </a:prstGeom>
          <a:noFill/>
        </p:spPr>
        <p:txBody>
          <a:bodyPr wrap="square" anchor="t" lIns="0" rIns="0" tIns="0" bIns="0">
            <a:spAutoFit/>
          </a:bodyPr>
          <a:lstStyle/>
          <a:p>
            <a:pPr algn="l">
              <a:lnSpc>
                <a:spcPct val="110000"/>
              </a:lnSpc>
            </a:pPr>
            <a:r>
              <a:rPr sz="1300" b="0" i="0">
                <a:solidFill>
                  <a:srgbClr val="555C72"/>
                </a:solidFill>
                <a:latin typeface="Source Sans 3"/>
              </a:rPr>
              <a:t>Budget, project system, audit, GDPR done; election and cost cuts not</a:t>
            </a:r>
          </a:p>
        </p:txBody>
      </p:sp>
      <p:sp>
        <p:nvSpPr>
          <p:cNvPr id="28" name="Rounded Rectangle 27"/>
          <p:cNvSpPr/>
          <p:nvPr/>
        </p:nvSpPr>
        <p:spPr>
          <a:xfrm>
            <a:off x="594360" y="4434840"/>
            <a:ext cx="11002975" cy="1371600"/>
          </a:xfrm>
          <a:prstGeom prst="roundRect">
            <a:avLst>
              <a:gd name="adj" fmla="val 8000"/>
            </a:avLst>
          </a:prstGeom>
          <a:solidFill>
            <a:srgbClr val="EEF0F7"/>
          </a:solidFill>
          <a:ln w="9525">
            <a:solidFill>
              <a:srgbClr val="E0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572000"/>
            <a:ext cx="2743200" cy="274320"/>
          </a:xfrm>
          <a:prstGeom prst="rect">
            <a:avLst/>
          </a:prstGeom>
          <a:noFill/>
        </p:spPr>
        <p:txBody>
          <a:bodyPr wrap="square" anchor="t" lIns="0" rIns="0" tIns="0" bIns="0">
            <a:spAutoFit/>
          </a:bodyPr>
          <a:lstStyle/>
          <a:p>
            <a:pPr algn="l"/>
            <a:r>
              <a:rPr sz="1100" b="1" i="0">
                <a:solidFill>
                  <a:srgbClr val="E88B1F"/>
                </a:solidFill>
                <a:latin typeface="Montserrat"/>
              </a:rPr>
              <a:t>PERFORMANCE BONUS</a:t>
            </a:r>
          </a:p>
        </p:txBody>
      </p:sp>
      <p:sp>
        <p:nvSpPr>
          <p:cNvPr id="30" name="TextBox 29"/>
          <p:cNvSpPr txBox="1"/>
          <p:nvPr/>
        </p:nvSpPr>
        <p:spPr>
          <a:xfrm>
            <a:off x="914400" y="4892040"/>
            <a:ext cx="10362895" cy="822960"/>
          </a:xfrm>
          <a:prstGeom prst="rect">
            <a:avLst/>
          </a:prstGeom>
          <a:noFill/>
        </p:spPr>
        <p:txBody>
          <a:bodyPr wrap="square" anchor="t" lIns="0" rIns="0" tIns="0" bIns="0">
            <a:spAutoFit/>
          </a:bodyPr>
          <a:lstStyle/>
          <a:p>
            <a:pPr algn="l">
              <a:lnSpc>
                <a:spcPct val="110000"/>
              </a:lnSpc>
            </a:pPr>
            <a:r>
              <a:rPr sz="1400" b="0" i="0">
                <a:solidFill>
                  <a:srgbClr val="1A1E2C"/>
                </a:solidFill>
                <a:latin typeface="Source Sans 3"/>
              </a:rPr>
              <a:t>$0 of the $24,000 pool paid. Of the 10 claimable items, only "project system 100% live" ($1,000) is clearly met. DePrize launch timing and the lunar challenge are judgment calls for the Executive Leads and the Senate.</a:t>
            </a:r>
          </a:p>
        </p:txBody>
      </p:sp>
      <p:cxnSp>
        <p:nvCxnSpPr>
          <p:cNvPr id="31" name="Connector 30"/>
          <p:cNvCxnSpPr/>
          <p:nvPr/>
        </p:nvCxnSpPr>
        <p:spPr>
          <a:xfrm>
            <a:off x="594360" y="6382512"/>
            <a:ext cx="11002975" cy="0"/>
          </a:xfrm>
          <a:prstGeom prst="line">
            <a:avLst/>
          </a:prstGeom>
          <a:ln w="9525">
            <a:solidFill>
              <a:srgbClr val="E0E4E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94360" y="6473952"/>
            <a:ext cx="8686800" cy="256032"/>
          </a:xfrm>
          <a:prstGeom prst="rect">
            <a:avLst/>
          </a:prstGeom>
          <a:noFill/>
        </p:spPr>
        <p:txBody>
          <a:bodyPr wrap="square" anchor="t" lIns="0" rIns="0" tIns="0" bIns="0">
            <a:spAutoFit/>
          </a:bodyPr>
          <a:lstStyle/>
          <a:p>
            <a:pPr algn="l"/>
            <a:r>
              <a:rPr sz="900" b="0" i="0">
                <a:solidFill>
                  <a:srgbClr val="8A90A3"/>
                </a:solidFill>
                <a:latin typeface="Source Sans 3"/>
              </a:rPr>
              <a:t>MoonDAO Town Hall  ·  Executive Branch Final Report, Q2 – Q3 2026 (MDP-249)  ·  Data as of 7 Oct 2026</a:t>
            </a:r>
          </a:p>
        </p:txBody>
      </p:sp>
      <p:sp>
        <p:nvSpPr>
          <p:cNvPr id="33" name="TextBox 32"/>
          <p:cNvSpPr txBox="1"/>
          <p:nvPr/>
        </p:nvSpPr>
        <p:spPr>
          <a:xfrm>
            <a:off x="10408615" y="6473952"/>
            <a:ext cx="1188720" cy="256032"/>
          </a:xfrm>
          <a:prstGeom prst="rect">
            <a:avLst/>
          </a:prstGeom>
          <a:noFill/>
        </p:spPr>
        <p:txBody>
          <a:bodyPr wrap="square" anchor="t" lIns="0" rIns="0" tIns="0" bIns="0">
            <a:spAutoFit/>
          </a:bodyPr>
          <a:lstStyle/>
          <a:p>
            <a:pPr algn="r"/>
            <a:r>
              <a:rPr sz="900" b="0" i="0">
                <a:solidFill>
                  <a:srgbClr val="8A90A3"/>
                </a:solidFill>
                <a:latin typeface="Montserrat"/>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1B3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88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8229600" cy="274320"/>
          </a:xfrm>
          <a:prstGeom prst="rect">
            <a:avLst/>
          </a:prstGeom>
          <a:noFill/>
        </p:spPr>
        <p:txBody>
          <a:bodyPr wrap="square" anchor="t" lIns="0" rIns="0" tIns="0" bIns="0">
            <a:spAutoFit/>
          </a:bodyPr>
          <a:lstStyle/>
          <a:p>
            <a:pPr algn="l"/>
            <a:r>
              <a:rPr sz="1200" b="1" i="0">
                <a:solidFill>
                  <a:srgbClr val="E88B1F"/>
                </a:solidFill>
                <a:latin typeface="Montserrat"/>
              </a:rPr>
              <a:t>LEARNINGS  →  NEXT TERM</a:t>
            </a:r>
          </a:p>
        </p:txBody>
      </p:sp>
      <p:sp>
        <p:nvSpPr>
          <p:cNvPr id="4" name="TextBox 3"/>
          <p:cNvSpPr txBox="1"/>
          <p:nvPr/>
        </p:nvSpPr>
        <p:spPr>
          <a:xfrm>
            <a:off x="594360" y="822960"/>
            <a:ext cx="10058400" cy="640080"/>
          </a:xfrm>
          <a:prstGeom prst="rect">
            <a:avLst/>
          </a:prstGeom>
          <a:noFill/>
        </p:spPr>
        <p:txBody>
          <a:bodyPr wrap="square" anchor="t" lIns="0" rIns="0" tIns="0" bIns="0">
            <a:spAutoFit/>
          </a:bodyPr>
          <a:lstStyle/>
          <a:p>
            <a:pPr algn="l"/>
            <a:r>
              <a:rPr sz="3200" b="1" i="0">
                <a:solidFill>
                  <a:srgbClr val="FFFFFF"/>
                </a:solidFill>
                <a:latin typeface="Montserrat"/>
              </a:rPr>
              <a:t>What we're carrying into MDP-271</a:t>
            </a:r>
          </a:p>
        </p:txBody>
      </p:sp>
      <p:sp>
        <p:nvSpPr>
          <p:cNvPr id="5" name="TextBox 4"/>
          <p:cNvSpPr txBox="1"/>
          <p:nvPr/>
        </p:nvSpPr>
        <p:spPr>
          <a:xfrm>
            <a:off x="594360" y="1828800"/>
            <a:ext cx="7498079" cy="3657600"/>
          </a:xfrm>
          <a:prstGeom prst="rect">
            <a:avLst/>
          </a:prstGeom>
          <a:noFill/>
        </p:spPr>
        <p:txBody>
          <a:bodyPr wrap="square" anchor="t" lIns="0" rIns="0" tIns="0" bIns="0">
            <a:spAutoFit/>
          </a:bodyPr>
          <a:lstStyle/>
          <a:p>
            <a:pPr algn="l">
              <a:lnSpc>
                <a:spcPct val="120000"/>
              </a:lnSpc>
              <a:spcAft>
                <a:spcPts val="1600"/>
              </a:spcAft>
            </a:pPr>
            <a:r>
              <a:rPr sz="1700" b="1">
                <a:solidFill>
                  <a:srgbClr val="E88B1F"/>
                </a:solidFill>
                <a:latin typeface="Montserrat"/>
              </a:rPr>
              <a:t>—  </a:t>
            </a:r>
            <a:r>
              <a:rPr sz="1700" b="1">
                <a:solidFill>
                  <a:srgbClr val="FFFFFF"/>
                </a:solidFill>
                <a:latin typeface="Montserrat"/>
              </a:rPr>
              <a:t>Let holders decide. </a:t>
            </a:r>
            <a:r>
              <a:rPr sz="1700" b="0">
                <a:solidFill>
                  <a:srgbClr val="C7CCE4"/>
                </a:solidFill>
                <a:latin typeface="Source Sans 3"/>
              </a:rPr>
              <a:t>The path vote gave a clear mandate, but DePrize launched without a seed pool.</a:t>
            </a:r>
          </a:p>
          <a:p>
            <a:pPr algn="l">
              <a:lnSpc>
                <a:spcPct val="120000"/>
              </a:lnSpc>
              <a:spcAft>
                <a:spcPts val="1600"/>
              </a:spcAft>
            </a:pPr>
            <a:r>
              <a:rPr sz="1700" b="1">
                <a:solidFill>
                  <a:srgbClr val="E88B1F"/>
                </a:solidFill>
                <a:latin typeface="Montserrat"/>
              </a:rPr>
              <a:t>—  </a:t>
            </a:r>
            <a:r>
              <a:rPr sz="1700" b="1">
                <a:solidFill>
                  <a:srgbClr val="FFFFFF"/>
                </a:solidFill>
                <a:latin typeface="Montserrat"/>
              </a:rPr>
              <a:t>Growth follows activity. </a:t>
            </a:r>
            <a:r>
              <a:rPr sz="1700" b="0">
                <a:solidFill>
                  <a:srgbClr val="C7CCE4"/>
                </a:solidFill>
                <a:latin typeface="Source Sans 3"/>
              </a:rPr>
              <a:t>Our best months had a live campaign; the next term needs a raise.</a:t>
            </a:r>
          </a:p>
          <a:p>
            <a:pPr algn="l">
              <a:lnSpc>
                <a:spcPct val="120000"/>
              </a:lnSpc>
              <a:spcAft>
                <a:spcPts val="1600"/>
              </a:spcAft>
            </a:pPr>
            <a:r>
              <a:rPr sz="1700" b="1">
                <a:solidFill>
                  <a:srgbClr val="E88B1F"/>
                </a:solidFill>
                <a:latin typeface="Montserrat"/>
              </a:rPr>
              <a:t>—  </a:t>
            </a:r>
            <a:r>
              <a:rPr sz="1700" b="1">
                <a:solidFill>
                  <a:srgbClr val="FFFFFF"/>
                </a:solidFill>
                <a:latin typeface="Montserrat"/>
              </a:rPr>
              <a:t>Remove payment friction. </a:t>
            </a:r>
            <a:r>
              <a:rPr sz="1700" b="0">
                <a:solidFill>
                  <a:srgbClr val="C7CCE4"/>
                </a:solidFill>
                <a:latin typeface="Source Sans 3"/>
              </a:rPr>
              <a:t>Teams named payments as the blocker; the onramp is now live.</a:t>
            </a:r>
          </a:p>
          <a:p>
            <a:pPr algn="l">
              <a:lnSpc>
                <a:spcPct val="120000"/>
              </a:lnSpc>
              <a:spcAft>
                <a:spcPts val="1600"/>
              </a:spcAft>
            </a:pPr>
            <a:r>
              <a:rPr sz="1700" b="1">
                <a:solidFill>
                  <a:srgbClr val="E88B1F"/>
                </a:solidFill>
                <a:latin typeface="Montserrat"/>
              </a:rPr>
              <a:t>—  </a:t>
            </a:r>
            <a:r>
              <a:rPr sz="1700" b="1">
                <a:solidFill>
                  <a:srgbClr val="FFFFFF"/>
                </a:solidFill>
                <a:latin typeface="Montserrat"/>
              </a:rPr>
              <a:t>Measure cost per outcome. </a:t>
            </a:r>
            <a:r>
              <a:rPr sz="1700" b="0">
                <a:solidFill>
                  <a:srgbClr val="C7CCE4"/>
                </a:solidFill>
                <a:latin typeface="Source Sans 3"/>
              </a:rPr>
              <a:t>AI doubled throughput but moved spend from salaries to tooling.</a:t>
            </a:r>
          </a:p>
        </p:txBody>
      </p:sp>
      <p:sp>
        <p:nvSpPr>
          <p:cNvPr id="6" name="Rounded Rectangle 5"/>
          <p:cNvSpPr/>
          <p:nvPr/>
        </p:nvSpPr>
        <p:spPr>
          <a:xfrm>
            <a:off x="8641080" y="1828800"/>
            <a:ext cx="2956255" cy="3291840"/>
          </a:xfrm>
          <a:prstGeom prst="roundRect">
            <a:avLst>
              <a:gd name="adj" fmla="val 6000"/>
            </a:avLst>
          </a:prstGeom>
          <a:solidFill>
            <a:srgbClr val="1E2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0" y="2103120"/>
            <a:ext cx="2316175" cy="457200"/>
          </a:xfrm>
          <a:prstGeom prst="rect">
            <a:avLst/>
          </a:prstGeom>
          <a:noFill/>
        </p:spPr>
        <p:txBody>
          <a:bodyPr wrap="square" anchor="t" lIns="0" rIns="0" tIns="0" bIns="0">
            <a:spAutoFit/>
          </a:bodyPr>
          <a:lstStyle/>
          <a:p>
            <a:pPr algn="l"/>
            <a:r>
              <a:rPr sz="2800" b="1" i="0">
                <a:solidFill>
                  <a:srgbClr val="FFFFFF"/>
                </a:solidFill>
                <a:latin typeface="Montserrat"/>
              </a:rPr>
              <a:t>Questions?</a:t>
            </a:r>
          </a:p>
        </p:txBody>
      </p:sp>
      <p:sp>
        <p:nvSpPr>
          <p:cNvPr id="8" name="TextBox 7"/>
          <p:cNvSpPr txBox="1"/>
          <p:nvPr/>
        </p:nvSpPr>
        <p:spPr>
          <a:xfrm>
            <a:off x="8961120" y="2834640"/>
            <a:ext cx="2316175" cy="2103120"/>
          </a:xfrm>
          <a:prstGeom prst="rect">
            <a:avLst/>
          </a:prstGeom>
          <a:noFill/>
        </p:spPr>
        <p:txBody>
          <a:bodyPr wrap="square" anchor="t" lIns="0" rIns="0" tIns="0" bIns="0">
            <a:spAutoFit/>
          </a:bodyPr>
          <a:lstStyle/>
          <a:p>
            <a:pPr algn="l">
              <a:lnSpc>
                <a:spcPct val="115000"/>
              </a:lnSpc>
            </a:pPr>
            <a:r>
              <a:rPr sz="1400" b="0" i="0">
                <a:solidFill>
                  <a:srgbClr val="C7CCE4"/>
                </a:solidFill>
                <a:latin typeface="Source Sans 3"/>
              </a:rPr>
              <a:t>Full report, data and every transaction link:</a:t>
            </a:r>
          </a:p>
          <a:p>
            <a:pPr algn="l">
              <a:lnSpc>
                <a:spcPct val="115000"/>
              </a:lnSpc>
            </a:pPr>
            <a:r>
              <a:rPr sz="1400" b="0" i="0">
                <a:solidFill>
                  <a:srgbClr val="C7CCE4"/>
                </a:solidFill>
                <a:latin typeface="Source Sans 3"/>
              </a:rPr>
              <a:t>moondao.com/project/131</a:t>
            </a:r>
          </a:p>
          <a:p>
            <a:pPr algn="l">
              <a:lnSpc>
                <a:spcPct val="115000"/>
              </a:lnSpc>
            </a:pPr>
          </a:p>
          <a:p>
            <a:pPr algn="l">
              <a:lnSpc>
                <a:spcPct val="115000"/>
              </a:lnSpc>
            </a:pPr>
            <a:r>
              <a:rPr sz="1400" b="0" i="0">
                <a:solidFill>
                  <a:srgbClr val="C7CCE4"/>
                </a:solidFill>
                <a:latin typeface="Source Sans 3"/>
              </a:rPr>
              <a:t>Next EB proposal:</a:t>
            </a:r>
          </a:p>
          <a:p>
            <a:pPr algn="l">
              <a:lnSpc>
                <a:spcPct val="115000"/>
              </a:lnSpc>
            </a:pPr>
            <a:r>
              <a:rPr sz="1400" b="0" i="0">
                <a:solidFill>
                  <a:srgbClr val="C7CCE4"/>
                </a:solidFill>
                <a:latin typeface="Source Sans 3"/>
              </a:rPr>
              <a:t>moondao.com/project/153</a:t>
            </a:r>
          </a:p>
        </p:txBody>
      </p:sp>
      <p:sp>
        <p:nvSpPr>
          <p:cNvPr id="9" name="TextBox 8"/>
          <p:cNvSpPr txBox="1"/>
          <p:nvPr/>
        </p:nvSpPr>
        <p:spPr>
          <a:xfrm>
            <a:off x="594360" y="6309360"/>
            <a:ext cx="11002975" cy="274320"/>
          </a:xfrm>
          <a:prstGeom prst="rect">
            <a:avLst/>
          </a:prstGeom>
          <a:noFill/>
        </p:spPr>
        <p:txBody>
          <a:bodyPr wrap="square" anchor="t" lIns="0" rIns="0" tIns="0" bIns="0">
            <a:spAutoFit/>
          </a:bodyPr>
          <a:lstStyle/>
          <a:p>
            <a:pPr algn="l"/>
            <a:r>
              <a:rPr sz="1200" b="0" i="1">
                <a:solidFill>
                  <a:srgbClr val="8A90A3"/>
                </a:solidFill>
                <a:latin typeface="Source Sans 3"/>
              </a:rPr>
              <a:t>Thank you to every Citizen, Team and contributor who built with us this term.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