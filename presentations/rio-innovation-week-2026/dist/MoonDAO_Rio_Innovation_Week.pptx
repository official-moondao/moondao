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E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Point at the QR code directly — invite the room to scan right now while you talk. $100+ gets citizenship and a shot at flying.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These are real, live candidates — say so explicitly. Point out anyone can enter and climb the board with community backing. QR code lets people back a candidate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the 3-step mechanism fast, then spend the time on the real fission-power race — 354-hour lunar night is the number that lands.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[~35s] Name it clearly as Moonbase Zero, in development — a true-to-scale site model with a real, sourced capability-race board. Let the visual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This is the slide that answers the panel's brief directly — bring it back to Brazil, AEB, and GRU explicitly if the moderator hasn't already framed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Point at the QR code — invite people to scan and join MoonDAO before you leave the stage. Contact info stays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6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5240" y="0"/>
            <a:ext cx="54864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907" y="4160520"/>
            <a:ext cx="2103120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6355080"/>
            <a:ext cx="4190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Space Acceleration Network</a:t>
            </a:r>
          </a:p>
        </p:txBody>
      </p:sp>
      <p:pic>
        <p:nvPicPr>
          <p:cNvPr id="6" name="Picture 5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2834640" cy="793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7830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8B1F"/>
                </a:solidFill>
                <a:latin typeface="Calibri"/>
              </a:rPr>
              <a:t>THE INTERNET'S SPACE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48840"/>
            <a:ext cx="6766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1A224A"/>
                </a:solidFill>
                <a:latin typeface="Calibri"/>
              </a:rPr>
              <a:t>MoonDAO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4612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2357A"/>
                </a:solidFill>
                <a:latin typeface="Calibri"/>
              </a:rPr>
              <a:t>Deep Space and the Lunar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3075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2nd Space Industry Workshop Brazil  ·  Brazilian Space Agency (AEB)  ·  Rio de Janeiro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434840"/>
            <a:ext cx="6309360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0916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91640" y="473659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1023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26364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90A3"/>
                </a:solidFill>
                <a:latin typeface="Calibri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08760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959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2511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Founder &amp; Executive</a:t>
            </a:r>
          </a:p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Calibri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76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91640"/>
            <a:ext cx="725393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Founder of MoonDAO.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First elected Executive Lead, since 2021.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Career: Waymo, YouTube, STEL. </a:t>
            </a:r>
            <a:r>
              <a:rPr sz="1550" b="0">
                <a:solidFill>
                  <a:srgbClr val="202433"/>
                </a:solidFill>
                <a:latin typeface="Calibri"/>
              </a:rPr>
              <a:t>Software engineer at Google, then biotech.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Core contributor, ConstitutionDAO.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Helped raise $47M in days for the U.S. Constitution.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University of Michigan. </a:t>
            </a:r>
            <a:r>
              <a:rPr sz="1550" b="0">
                <a:solidFill>
                  <a:srgbClr val="202433"/>
                </a:solidFill>
                <a:latin typeface="Calibri"/>
              </a:rPr>
              <a:t>CS, Mechanical Engineering &amp;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725393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468112"/>
            <a:ext cx="67418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“I see decentralization as a way to fix the risks of centralized control over billions of people's lives.”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24A"/>
                </a:solidFill>
                <a:latin typeface="Calibri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115568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31720"/>
            <a:ext cx="8366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1A224A"/>
                </a:solidFill>
                <a:latin typeface="Calibri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Decentralized. </a:t>
            </a:r>
            <a:r>
              <a:rPr sz="1550" b="0">
                <a:solidFill>
                  <a:srgbClr val="202433"/>
                </a:solidFill>
                <a:latin typeface="Calibri"/>
              </a:rPr>
              <a:t>Governed onchain via the $MOONEY token.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Global &amp; permissionless. </a:t>
            </a:r>
            <a:r>
              <a:rPr sz="1550" b="0">
                <a:solidFill>
                  <a:srgbClr val="202433"/>
                </a:solidFill>
                <a:latin typeface="Calibri"/>
              </a:rPr>
              <a:t>Anyone, anywhere can join, fund, or build.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Radically transparent. </a:t>
            </a:r>
            <a:r>
              <a:rPr sz="1550" b="0">
                <a:solidFill>
                  <a:srgbClr val="202433"/>
                </a:solidFill>
                <a:latin typeface="Calibri"/>
              </a:rPr>
              <a:t>Every vote and dollar is public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44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944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61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61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Raised onchain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836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836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953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953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728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R&amp;D projects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620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737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37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Crowdfunded citizen-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astronauts sent to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85900.0" y="2606040"/>
            <a:ext cx="9219895.0" cy="0"/>
          </a:xfrm>
          <a:prstGeom prst="line">
            <a:avLst/>
          </a:prstGeom>
          <a:ln w="3175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85316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69028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89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Calibri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89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89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Calibri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30023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784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Calibri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784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84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605211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281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281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Dr. Eiman Jahangir — 2nd astronaut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Two crowdfunded citizens sent to space by onchain vote.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338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$600K+ allocated to 80+ projects via open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Zero-gravity flights and astronaut-prep experiences.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An onchain “startup society” for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6338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338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Every vote and treasury move, public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156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1156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Constitution, Launchpad, and missions — building toward the Moon.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Calibri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rank_white_citizen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B6278"/>
                </a:solidFill>
                <a:latin typeface="Calibri"/>
              </a:rPr>
              <a:t>Author, “The Overview Effect”</a:t>
            </a:r>
          </a:p>
        </p:txBody>
      </p:sp>
      <p:pic>
        <p:nvPicPr>
          <p:cNvPr id="10" name="Picture 9" descr="earthrise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526280"/>
            <a:ext cx="3566160" cy="148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4875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Calibri"/>
              </a:rPr>
              <a:t>“Earthrise,” Apollo 8, 1968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91640"/>
            <a:ext cx="697961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Coined “the Overview Effect.” </a:t>
            </a:r>
            <a:r>
              <a:rPr sz="1600" b="0">
                <a:solidFill>
                  <a:srgbClr val="202433"/>
                </a:solidFill>
                <a:latin typeface="Calibri"/>
              </a:rPr>
              <a:t>The name for the shift astronauts feel seeing Earth from space.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40 years of research. </a:t>
            </a:r>
            <a:r>
              <a:rPr sz="1600" b="0">
                <a:solidFill>
                  <a:srgbClr val="202433"/>
                </a:solidFill>
                <a:latin typeface="Calibri"/>
              </a:rPr>
              <a:t>Interviewed 50+ astronauts and cosmonauts.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Shaped the industry. </a:t>
            </a:r>
            <a:r>
              <a:rPr sz="1600" b="0">
                <a:solidFill>
                  <a:srgbClr val="202433"/>
                </a:solidFill>
                <a:latin typeface="Calibri"/>
              </a:rPr>
              <a:t>Co-founded the Overview Institute; inspired a documentary.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Has never been to space.</a:t>
            </a:r>
            <a:r>
              <a:rPr sz="1600" b="0">
                <a:solidFill>
                  <a:srgbClr val="202433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09160"/>
            <a:ext cx="6979615" cy="123444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64608"/>
            <a:ext cx="643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417320" y="1828800"/>
          <a:ext cx="329184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417320" y="288036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A224A"/>
                </a:solidFill>
                <a:latin typeface="Calibri"/>
              </a:rPr>
              <a:t>69%</a:t>
            </a:r>
          </a:p>
          <a:p>
            <a:pPr algn="ctr"/>
            <a:r>
              <a:rPr sz="2200" b="1" i="0">
                <a:solidFill>
                  <a:srgbClr val="1A224A"/>
                </a:solidFill>
                <a:latin typeface="Calibri"/>
              </a:rPr>
              <a:t>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A224A"/>
                </a:solidFill>
                <a:latin typeface="Calibri"/>
              </a:rPr>
              <a:t>$172K of $250K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21808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157 contributors — goal secures a seat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965960"/>
            <a:ext cx="2258568" cy="2258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support_fr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2112264"/>
            <a:ext cx="1965960" cy="1965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4370832"/>
            <a:ext cx="28072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24A"/>
                </a:solidFill>
                <a:latin typeface="Calibri"/>
              </a:rPr>
              <a:t>Scan to Support Frank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736592"/>
            <a:ext cx="2807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moondao.com/mission/4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06440"/>
            <a:ext cx="11185855" cy="502920"/>
          </a:xfrm>
          <a:prstGeom prst="roundRect">
            <a:avLst>
              <a:gd name="adj" fmla="val 2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4577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A224A"/>
                </a:solidFill>
                <a:latin typeface="Calibri"/>
              </a:rPr>
              <a:t>$100+ grants free citizenship — and a shot at flying alongside Frank.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with Frank — Leaderboard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224A"/>
                </a:solidFill>
                <a:latin typeface="Calibri"/>
              </a:rPr>
              <a:t>Top 25 $OVERVIEW backers advance to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7568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90A3"/>
                </a:solidFill>
                <a:latin typeface="Calibri"/>
              </a:rPr>
              <a:t>1</a:t>
            </a:r>
          </a:p>
        </p:txBody>
      </p:sp>
      <p:pic>
        <p:nvPicPr>
          <p:cNvPr id="9" name="Picture 8" descr="leaderboard_citizen_7_parris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20824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19842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Andrew "Titan" Parris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295144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54480" y="2295144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9476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A224A"/>
                </a:solidFill>
                <a:latin typeface="Calibri"/>
              </a:rPr>
              <a:t>2,083 $OVERVIEW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45059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0A3"/>
                </a:solidFill>
                <a:latin typeface="Calibri"/>
              </a:rPr>
              <a:t>6 backers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82549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2770632"/>
            <a:ext cx="512064" cy="512064"/>
          </a:xfrm>
          <a:prstGeom prst="ellipse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27340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Citizen #180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044952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554480" y="3044952"/>
            <a:ext cx="1388061" cy="12801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6974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A224A"/>
                </a:solidFill>
                <a:latin typeface="Calibri"/>
              </a:rPr>
              <a:t>680 $OVERVIEW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20040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0A3"/>
                </a:solidFill>
                <a:latin typeface="Calibri"/>
              </a:rPr>
              <a:t>1 backer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7530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leaderboard_citizen_184_jas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52044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80" y="348386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Jas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3794760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54480" y="3794760"/>
            <a:ext cx="1330906" cy="12801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4472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A224A"/>
                </a:solidFill>
                <a:latin typeface="Calibri"/>
              </a:rPr>
              <a:t>652 $OVERVIEW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50208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0A3"/>
                </a:solidFill>
                <a:latin typeface="Calibri"/>
              </a:rPr>
              <a:t>5 backers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251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90A3"/>
                </a:solidFill>
                <a:latin typeface="Calibri"/>
              </a:rPr>
              <a:t>4</a:t>
            </a:r>
          </a:p>
        </p:txBody>
      </p:sp>
      <p:pic>
        <p:nvPicPr>
          <p:cNvPr id="30" name="Picture 29" descr="leaderboard_citizen_55_austin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70248"/>
            <a:ext cx="512064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554480" y="423367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austin3wilson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544568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54480" y="4544568"/>
            <a:ext cx="1253338" cy="12801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41970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A224A"/>
                </a:solidFill>
                <a:latin typeface="Calibri"/>
              </a:rPr>
              <a:t>614 $OVERVIEW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4700016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0A3"/>
                </a:solidFill>
                <a:latin typeface="Calibri"/>
              </a:rPr>
              <a:t>2 backers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07492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90A3"/>
                </a:solidFill>
                <a:latin typeface="Calibri"/>
              </a:rPr>
              <a:t>5</a:t>
            </a:r>
          </a:p>
        </p:txBody>
      </p:sp>
      <p:pic>
        <p:nvPicPr>
          <p:cNvPr id="37" name="Picture 36" descr="leaderboard_citizen_9_anastasia_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020056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554480" y="498348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Anastasia Stepanova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54480" y="5294376"/>
            <a:ext cx="4251960" cy="128016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54480" y="5294376"/>
            <a:ext cx="1104325" cy="12801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06440" y="49469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A224A"/>
                </a:solidFill>
                <a:latin typeface="Calibri"/>
              </a:rPr>
              <a:t>541 $OVERVIEW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440" y="5449824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90A3"/>
                </a:solidFill>
                <a:latin typeface="Calibri"/>
              </a:rPr>
              <a:t>3 backers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7607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A3"/>
                </a:solidFill>
                <a:latin typeface="Calibri"/>
              </a:rPr>
              <a:t>Any Citizen can enter — rally backers to climb the board.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32520" y="2103120"/>
            <a:ext cx="2121408" cy="21214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qr_leader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4" y="2249424"/>
            <a:ext cx="1828800" cy="18288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458200" y="43708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224A"/>
                </a:solidFill>
                <a:latin typeface="Calibri"/>
              </a:rPr>
              <a:t>Back a Candidate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472744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A90A3"/>
                </a:solidFill>
                <a:latin typeface="Calibri"/>
              </a:rPr>
              <a:t>moondao.com/overview-vote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DePrize: Betting to Fund the Mission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17320"/>
            <a:ext cx="3515258" cy="1051560"/>
          </a:xfrm>
          <a:prstGeom prst="roundRect">
            <a:avLst>
              <a:gd name="adj" fmla="val 12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691640"/>
            <a:ext cx="502920" cy="502920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17320"/>
            <a:ext cx="250941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Back a Team</a:t>
            </a:r>
          </a:p>
        </p:txBody>
      </p:sp>
      <p:sp>
        <p:nvSpPr>
          <p:cNvPr id="10" name="Chevron 9"/>
          <p:cNvSpPr/>
          <p:nvPr/>
        </p:nvSpPr>
        <p:spPr>
          <a:xfrm>
            <a:off x="4059326" y="1824228"/>
            <a:ext cx="237744" cy="237744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8218" y="1417320"/>
            <a:ext cx="3515258" cy="1051560"/>
          </a:xfrm>
          <a:prstGeom prst="roundRect">
            <a:avLst>
              <a:gd name="adj" fmla="val 12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39386" y="1691640"/>
            <a:ext cx="502920" cy="50292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6898" y="1417320"/>
            <a:ext cx="250941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Live Odds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94624" y="1824228"/>
            <a:ext cx="237744" cy="237744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73516" y="1417320"/>
            <a:ext cx="3515258" cy="1051560"/>
          </a:xfrm>
          <a:prstGeom prst="roundRect">
            <a:avLst>
              <a:gd name="adj" fmla="val 12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74684" y="1691640"/>
            <a:ext cx="502920" cy="50292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2196" y="1417320"/>
            <a:ext cx="250941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Winner Delivers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57860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278"/>
                </a:solidFill>
                <a:latin typeface="Calibri"/>
              </a:rPr>
              <a:t>Bet on a provider → odds update live, growing the prize → the community pays out the winner.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63240"/>
            <a:ext cx="11185855" cy="2971800"/>
          </a:xfrm>
          <a:prstGeom prst="roundRect">
            <a:avLst>
              <a:gd name="adj" fmla="val 5000"/>
            </a:avLst>
          </a:prstGeom>
          <a:solidFill>
            <a:srgbClr val="1A224A"/>
          </a:solidFill>
          <a:ln>
            <a:noFill/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3558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6B962"/>
                </a:solidFill>
                <a:latin typeface="Calibri"/>
              </a:rPr>
              <a:t>A REAL RACE ON MOONBASE 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85032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First Fission Power</a:t>
            </a:r>
          </a:p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on the Moon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5994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88B1F"/>
                </a:solidFill>
                <a:latin typeface="Calibri"/>
              </a:rPr>
              <a:t>354-hour lunar night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93208"/>
            <a:ext cx="4206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7CCE4"/>
                </a:solidFill>
                <a:latin typeface="Calibri"/>
              </a:rPr>
              <a:t>No sunlight for two straight weeks — the reason NASA is funding three competing reactors instead of solar panels.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355848"/>
            <a:ext cx="5882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6B962"/>
                </a:solidFill>
                <a:latin typeface="Calibri"/>
              </a:rPr>
              <a:t>WHO'S LEADING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776472"/>
            <a:ext cx="5333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Lockheed Martin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37764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E88B1F"/>
                </a:solidFill>
                <a:latin typeface="Calibri"/>
              </a:rPr>
              <a:t>35%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4069080"/>
            <a:ext cx="5882335" cy="109728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40680" y="4069080"/>
            <a:ext cx="2058817" cy="10972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4434840"/>
            <a:ext cx="5333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Westinghouse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4434840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E8C45A"/>
                </a:solidFill>
                <a:latin typeface="Calibri"/>
              </a:rPr>
              <a:t>34%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727448"/>
            <a:ext cx="5882335" cy="109728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40680" y="4727448"/>
            <a:ext cx="1999993" cy="109728"/>
          </a:xfrm>
          <a:prstGeom prst="roundRect">
            <a:avLst>
              <a:gd name="adj" fmla="val 50000"/>
            </a:avLst>
          </a:prstGeom>
          <a:solidFill>
            <a:srgbClr val="E8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0680" y="5093208"/>
            <a:ext cx="5333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Intuitive Machines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74375" y="509320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E06B3A"/>
                </a:solidFill>
                <a:latin typeface="Calibri"/>
              </a:rPr>
              <a:t>31%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40680" y="5385816"/>
            <a:ext cx="5882335" cy="109728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40680" y="5385816"/>
            <a:ext cx="1823523" cy="109728"/>
          </a:xfrm>
          <a:prstGeom prst="roundRect">
            <a:avLst>
              <a:gd name="adj" fmla="val 50000"/>
            </a:avLst>
          </a:prstGeom>
          <a:solidFill>
            <a:srgbClr val="E0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0680" y="5824728"/>
            <a:ext cx="5882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8A90B0"/>
                </a:solidFill>
                <a:latin typeface="Calibri"/>
              </a:rPr>
              <a:t>Curator priors — live odds once the market opens.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base_zero_render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45720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08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0350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MOONBASE ZERO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36576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7CCE4"/>
                </a:solidFill>
                <a:latin typeface="Calibri"/>
              </a:rPr>
              <a:t>A true-to-scale base on the Shackleton ridge — every serious program is racing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14055" y="457200"/>
            <a:ext cx="3520440" cy="3858768"/>
          </a:xfrm>
          <a:prstGeom prst="roundRect">
            <a:avLst>
              <a:gd name="adj" fmla="val 8000"/>
            </a:avLst>
          </a:prstGeom>
          <a:solidFill>
            <a:srgbClr val="08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0087" y="585216"/>
            <a:ext cx="3008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6B962"/>
                </a:solidFill>
                <a:latin typeface="Calibri"/>
              </a:rPr>
              <a:t>CAPABILITY RACES</a:t>
            </a:r>
          </a:p>
        </p:txBody>
      </p:sp>
      <p:sp>
        <p:nvSpPr>
          <p:cNvPr id="9" name="Oval 8"/>
          <p:cNvSpPr/>
          <p:nvPr/>
        </p:nvSpPr>
        <p:spPr>
          <a:xfrm>
            <a:off x="8470087" y="1033272"/>
            <a:ext cx="73152" cy="73152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4679" y="960120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Comms / PNT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4679" y="1152144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Nokia Bell Labs</a:t>
            </a:r>
          </a:p>
        </p:txBody>
      </p:sp>
      <p:sp>
        <p:nvSpPr>
          <p:cNvPr id="12" name="Oval 11"/>
          <p:cNvSpPr/>
          <p:nvPr/>
        </p:nvSpPr>
        <p:spPr>
          <a:xfrm>
            <a:off x="8470087" y="1435608"/>
            <a:ext cx="73152" cy="73152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34679" y="1362456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Surface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4679" y="1554480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ICON</a:t>
            </a:r>
          </a:p>
        </p:txBody>
      </p:sp>
      <p:sp>
        <p:nvSpPr>
          <p:cNvPr id="15" name="Oval 14"/>
          <p:cNvSpPr/>
          <p:nvPr/>
        </p:nvSpPr>
        <p:spPr>
          <a:xfrm>
            <a:off x="8470087" y="1837944"/>
            <a:ext cx="73152" cy="73152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4679" y="1764792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Habitat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4679" y="195681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Thales Alenia Space</a:t>
            </a:r>
          </a:p>
        </p:txBody>
      </p:sp>
      <p:sp>
        <p:nvSpPr>
          <p:cNvPr id="18" name="Oval 17"/>
          <p:cNvSpPr/>
          <p:nvPr/>
        </p:nvSpPr>
        <p:spPr>
          <a:xfrm>
            <a:off x="8470087" y="2240280"/>
            <a:ext cx="73152" cy="73152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4679" y="2167128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ISRU plant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4679" y="2359152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Blue Origin</a:t>
            </a:r>
          </a:p>
        </p:txBody>
      </p:sp>
      <p:sp>
        <p:nvSpPr>
          <p:cNvPr id="21" name="Oval 20"/>
          <p:cNvSpPr/>
          <p:nvPr/>
        </p:nvSpPr>
        <p:spPr>
          <a:xfrm>
            <a:off x="8470087" y="2642616"/>
            <a:ext cx="73152" cy="73152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34679" y="2569464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4679" y="276148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Lockheed Martin</a:t>
            </a:r>
          </a:p>
        </p:txBody>
      </p:sp>
      <p:sp>
        <p:nvSpPr>
          <p:cNvPr id="24" name="Oval 23"/>
          <p:cNvSpPr/>
          <p:nvPr/>
        </p:nvSpPr>
        <p:spPr>
          <a:xfrm>
            <a:off x="8470087" y="3044952"/>
            <a:ext cx="73152" cy="73152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34679" y="2971800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4679" y="3163824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Intuitive Machines</a:t>
            </a:r>
          </a:p>
        </p:txBody>
      </p:sp>
      <p:sp>
        <p:nvSpPr>
          <p:cNvPr id="27" name="Oval 26"/>
          <p:cNvSpPr/>
          <p:nvPr/>
        </p:nvSpPr>
        <p:spPr>
          <a:xfrm>
            <a:off x="8470087" y="3447288"/>
            <a:ext cx="73152" cy="73152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34679" y="3374136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Crewed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4679" y="3566160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NASA</a:t>
            </a:r>
          </a:p>
        </p:txBody>
      </p:sp>
      <p:sp>
        <p:nvSpPr>
          <p:cNvPr id="30" name="Oval 29"/>
          <p:cNvSpPr/>
          <p:nvPr/>
        </p:nvSpPr>
        <p:spPr>
          <a:xfrm>
            <a:off x="8470087" y="3849624"/>
            <a:ext cx="73152" cy="73152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4679" y="3776472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Lander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4679" y="396849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SpaceX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436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 DEVELOPMENT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59436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7CCE4"/>
                </a:solidFill>
                <a:latin typeface="Calibri"/>
              </a:rPr>
              <a:t>moondao.com/moonbase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5448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Deep space used to require a national agency — or a billionaire.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88B1F"/>
                </a:solidFill>
                <a:latin typeface="Calibri"/>
              </a:rPr>
              <a:t>—  </a:t>
            </a:r>
            <a:r>
              <a:rPr sz="1700" b="1">
                <a:solidFill>
                  <a:srgbClr val="202433"/>
                </a:solidFill>
                <a:latin typeface="Calibri"/>
              </a:rPr>
              <a:t>Permissionless. </a:t>
            </a:r>
            <a:r>
              <a:rPr sz="1700" b="0">
                <a:solidFill>
                  <a:srgbClr val="202433"/>
                </a:solidFill>
                <a:latin typeface="Calibri"/>
              </a:rPr>
              <a:t>Any country, company, or individual can fund and compete.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88B1F"/>
                </a:solidFill>
                <a:latin typeface="Calibri"/>
              </a:rPr>
              <a:t>—  </a:t>
            </a:r>
            <a:r>
              <a:rPr sz="1700" b="1">
                <a:solidFill>
                  <a:srgbClr val="202433"/>
                </a:solidFill>
                <a:latin typeface="Calibri"/>
              </a:rPr>
              <a:t>Already global. </a:t>
            </a:r>
            <a:r>
              <a:rPr sz="1700" b="0">
                <a:solidFill>
                  <a:srgbClr val="202433"/>
                </a:solidFill>
                <a:latin typeface="Calibri"/>
              </a:rPr>
              <a:t>25+ countries in the Space Acceleration Network.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88B1F"/>
                </a:solidFill>
                <a:latin typeface="Calibri"/>
              </a:rPr>
              <a:t>—  </a:t>
            </a:r>
            <a:r>
              <a:rPr sz="1700" b="1">
                <a:solidFill>
                  <a:srgbClr val="202433"/>
                </a:solidFill>
                <a:latin typeface="Calibri"/>
              </a:rPr>
              <a:t>An open invitation. </a:t>
            </a:r>
            <a:r>
              <a:rPr sz="1700" b="0">
                <a:solidFill>
                  <a:srgbClr val="202433"/>
                </a:solidFill>
                <a:latin typeface="Calibri"/>
              </a:rPr>
              <a:t>To Brazil's AEB, GRU, and space ecosystem — join 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88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088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05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05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Countries in the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420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420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37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 worldwide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0752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9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869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Onchain, transparent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votes &amp; treasury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MOON</a:t>
            </a:r>
            <a:r>
              <a:rPr sz="1300" b="1">
                <a:solidFill>
                  <a:srgbClr val="FFFFFF"/>
                </a:solidFill>
                <a:latin typeface="Calibri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514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pablo@moondao.com   ·   @pablo_moncada_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560320"/>
            <a:ext cx="0" cy="260604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31836" y="2514600"/>
            <a:ext cx="1892808" cy="1892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join_moond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140" y="2660904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453542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Scan to Join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8646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BD1E6"/>
                </a:solidFill>
                <a:latin typeface="Calibri"/>
              </a:rPr>
              <a:t>moondao.com/join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6B962"/>
                </a:solidFill>
                <a:latin typeface="Calibri"/>
              </a:rPr>
              <a:t>moondao.com   ·   Discord: moondao.com/discord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