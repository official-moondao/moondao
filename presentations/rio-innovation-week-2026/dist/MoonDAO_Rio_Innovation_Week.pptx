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dPt>
            <c:idx val="0"/>
            <c:spPr>
              <a:solidFill>
                <a:srgbClr val="E88B1F"/>
              </a:solidFill>
              <a:ln w="3175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E0E4EF"/>
              </a:solidFill>
              <a:ln w="31750">
                <a:solidFill>
                  <a:srgbClr val="FFFFFF"/>
                </a:solidFill>
              </a:ln>
            </c:spPr>
          </c:dPt>
          <c:cat>
            <c:strRef>
              <c:f>Sheet1!$A$2:$A$3</c:f>
              <c:strCache>
                <c:ptCount val="2"/>
                <c:pt idx="0">
                  <c:v>Raised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172</c:v>
                </c:pt>
                <c:pt idx="1">
                  <c:v>78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[~20s] Quick intro — who you are and why MoonDAO is on this panel. Don't linger, the content does the introducing.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[~30s] One or two sentences max — the room can read the bullets. Land on ConstitutionDAO before Google; it's the most relatable proof point for a non-crypto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[~40s] Define MoonDAO in one breath before the stats: an onchain community funding and governing space access. Let the four numbers do the heavy lifting.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[~45s] Walk left to right once, quickly. Slow down only on 2022 (first astronaut) and 2025 (constitution on the Moon) — those are the two moments that make people lean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[~40s] Don't read every card. Group them verbally: 'flight access, funding, training, network, governance, and the roadmap that ties it together.'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[~50s] Walk the 3-step mechanism fast, name the 8 verticals as one group ('comms, construction, habitat, ISRU, power, rover, crewed base, lander'), then slow down for the worked math — the +1.32 ETH number is the one that lands. Frame it as a new financing primitive, not 'crypto betting.'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[~55s] This is the technical-depth moment. Walk physics → extremes → math in order, landing on '120 tons of batteries vs. a 15-ton lander.' It shows MoonDAO understands the engineering, not just the funding mechanics.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[~35s] This is the real, live product — say so explicitly. Point out the second screenshot shows an actual capability race opened live, with real competitors and 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[~40s] This is the slide that answers the panel's brief directly — make it personal to whoever's in the room, not just the named institutions.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[~15s] Quick, human beat — real people, real names, behind the onchain numbers. Don't over-explain, let the faces land.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[~10s] Let this breathe — pause on the title before moving to Frank White. This is the pivot from 'here's how we fund &amp; build' to 'here's the live opportunity.'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[~45s] Frank is the emotional core of this section — 40 years, 50+ astronauts, coined the term, and has never flown himself. That irony is the hook.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[~40s] Point at the QR code directly — invite the room to scan right now while you talk. These are real, live candidates on the board; anyone can enter and climb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[~20s] Point at the QR code — invite people to scan and join MoonDAO before you leave the stage. Contact info stays up during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chart" Target="../charts/chart1.xml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22.png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oon-full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0"/>
            <a:ext cx="44192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772400" y="0"/>
            <a:ext cx="50292" cy="6858000"/>
          </a:xfrm>
          <a:prstGeom prst="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ference_brazil_flag_ro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3977639"/>
            <a:ext cx="3322015" cy="23254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09560" y="6449353"/>
            <a:ext cx="41449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ontserrat"/>
              </a:rPr>
              <a:t>Rio de Janeiro, Brazil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9560" y="6705385"/>
            <a:ext cx="414497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C7CCE4"/>
                </a:solidFill>
                <a:latin typeface="Source Sans 3"/>
              </a:rPr>
              <a:t>2nd Space Industry Workshop</a:t>
            </a:r>
          </a:p>
        </p:txBody>
      </p:sp>
      <p:pic>
        <p:nvPicPr>
          <p:cNvPr id="7" name="Picture 6" descr="MoonDAO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640080"/>
            <a:ext cx="2606040" cy="72918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1874519"/>
            <a:ext cx="6492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88B1F"/>
                </a:solidFill>
                <a:latin typeface="Montserrat"/>
              </a:rPr>
              <a:t>THE INTERNET'S SPACE PROGRAM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2194560"/>
            <a:ext cx="6492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600" b="1" i="0">
                <a:solidFill>
                  <a:srgbClr val="141B3A"/>
                </a:solidFill>
                <a:latin typeface="Montserrat"/>
              </a:rPr>
              <a:t>MoonDAO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54680"/>
            <a:ext cx="6492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1E2F6B"/>
                </a:solidFill>
                <a:latin typeface="Montserrat"/>
              </a:rPr>
              <a:t>Deep Space and the Lunar Economy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11880"/>
            <a:ext cx="6492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55C72"/>
                </a:solidFill>
                <a:latin typeface="Source Sans 3"/>
              </a:rPr>
              <a:t>2nd Space Industry Workshop Brazil  ·  Brazilian Space Agency (AEB)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7240" y="4206240"/>
            <a:ext cx="5852160" cy="0"/>
          </a:xfrm>
          <a:prstGeom prst="line">
            <a:avLst/>
          </a:prstGeom>
          <a:ln w="9525">
            <a:solidFill>
              <a:srgbClr val="E0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pablo_headshot_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526280"/>
            <a:ext cx="822960" cy="822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01368" y="457200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41B3A"/>
                </a:solidFill>
                <a:latin typeface="Montserrat"/>
              </a:rPr>
              <a:t>Pablo Moncada-Larrotiz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01368" y="491947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55C72"/>
                </a:solidFill>
                <a:latin typeface="Source Sans 3"/>
              </a:rPr>
              <a:t>Founder &amp; Executive Director, MoonDAO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172200"/>
            <a:ext cx="6492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90A3"/>
                </a:solidFill>
                <a:latin typeface="Source Sans 3"/>
              </a:rPr>
              <a:t>pablo@moondao.com   ·   @pablo_moncada_   ·   moondao.com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8778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88B1F"/>
                </a:solidFill>
                <a:latin typeface="Montserrat"/>
              </a:rPr>
              <a:t>ABOUT THE SPEAKER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89611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41B3A"/>
                </a:solidFill>
                <a:latin typeface="Montserrat"/>
              </a:rPr>
              <a:t>Pablo Moncada-Larrotiz</a:t>
            </a:r>
          </a:p>
        </p:txBody>
      </p:sp>
      <p:pic>
        <p:nvPicPr>
          <p:cNvPr id="5" name="Picture 4" descr="MoonDA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347472"/>
            <a:ext cx="1325880" cy="370988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594360" y="1170432"/>
            <a:ext cx="11002975" cy="0"/>
          </a:xfrm>
          <a:prstGeom prst="line">
            <a:avLst/>
          </a:prstGeom>
          <a:ln w="9525">
            <a:solidFill>
              <a:srgbClr val="E0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pablo_headshot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600200"/>
            <a:ext cx="2194560" cy="2194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3977639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141B3A"/>
                </a:solidFill>
                <a:latin typeface="Montserrat"/>
              </a:rPr>
              <a:t>Pablo Moncada-Larrotiz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297680"/>
            <a:ext cx="3383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55C72"/>
                </a:solidFill>
                <a:latin typeface="Source Sans 3"/>
              </a:rPr>
              <a:t>Founder &amp; Executive Director</a:t>
            </a:r>
          </a:p>
          <a:p>
            <a:pPr algn="ctr"/>
            <a:r>
              <a:rPr sz="1200" b="0" i="0">
                <a:solidFill>
                  <a:srgbClr val="555C72"/>
                </a:solidFill>
                <a:latin typeface="Source Sans 3"/>
              </a:rPr>
              <a:t>MoonDAO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983480"/>
            <a:ext cx="3383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A90A3"/>
                </a:solidFill>
                <a:latin typeface="Source Sans 3"/>
              </a:rPr>
              <a:t>San Francisco, 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257800"/>
            <a:ext cx="3383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8A90A3"/>
                </a:solidFill>
                <a:latin typeface="Source Sans 3"/>
              </a:rPr>
              <a:t>pablo@moondao.com  ·  @pablo_moncada_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554480"/>
            <a:ext cx="7025335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400" b="1">
                <a:solidFill>
                  <a:srgbClr val="E88B1F"/>
                </a:solidFill>
                <a:latin typeface="Montserrat"/>
              </a:rPr>
              <a:t>—  </a:t>
            </a:r>
            <a:r>
              <a:rPr sz="1400" b="1">
                <a:solidFill>
                  <a:srgbClr val="1A1E2C"/>
                </a:solidFill>
                <a:latin typeface="Montserrat"/>
              </a:rPr>
              <a:t>Founder of MoonDAO. </a:t>
            </a:r>
            <a:r>
              <a:rPr sz="1400" b="0">
                <a:solidFill>
                  <a:srgbClr val="555C72"/>
                </a:solidFill>
                <a:latin typeface="Source Sans 3"/>
              </a:rPr>
              <a:t>First elected Executive Lead, since 2021.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400" b="1">
                <a:solidFill>
                  <a:srgbClr val="E88B1F"/>
                </a:solidFill>
                <a:latin typeface="Montserrat"/>
              </a:rPr>
              <a:t>—  </a:t>
            </a:r>
            <a:r>
              <a:rPr sz="1400" b="1">
                <a:solidFill>
                  <a:srgbClr val="1A1E2C"/>
                </a:solidFill>
                <a:latin typeface="Montserrat"/>
              </a:rPr>
              <a:t>Core contributor, ConstitutionDAO. </a:t>
            </a:r>
            <a:r>
              <a:rPr sz="1400" b="0">
                <a:solidFill>
                  <a:srgbClr val="555C72"/>
                </a:solidFill>
                <a:latin typeface="Source Sans 3"/>
              </a:rPr>
              <a:t>Helped raise $47M in days for the U.S. Constitution.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400" b="1">
                <a:solidFill>
                  <a:srgbClr val="E88B1F"/>
                </a:solidFill>
                <a:latin typeface="Montserrat"/>
              </a:rPr>
              <a:t>—  </a:t>
            </a:r>
            <a:r>
              <a:rPr sz="1400" b="1">
                <a:solidFill>
                  <a:srgbClr val="1A1E2C"/>
                </a:solidFill>
                <a:latin typeface="Montserrat"/>
              </a:rPr>
              <a:t>Google: Waymo &amp; YouTube. </a:t>
            </a:r>
            <a:r>
              <a:rPr sz="1400" b="0">
                <a:solidFill>
                  <a:srgbClr val="555C72"/>
                </a:solidFill>
                <a:latin typeface="Source Sans 3"/>
              </a:rPr>
              <a:t>Software engineer on self-driving perception at Waymo, and VR at YouTube.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400" b="1">
                <a:solidFill>
                  <a:srgbClr val="E88B1F"/>
                </a:solidFill>
                <a:latin typeface="Montserrat"/>
              </a:rPr>
              <a:t>—  </a:t>
            </a:r>
            <a:r>
              <a:rPr sz="1400" b="1">
                <a:solidFill>
                  <a:srgbClr val="1A1E2C"/>
                </a:solidFill>
                <a:latin typeface="Montserrat"/>
              </a:rPr>
              <a:t>STEL. </a:t>
            </a:r>
            <a:r>
              <a:rPr sz="1400" b="0">
                <a:solidFill>
                  <a:srgbClr val="555C72"/>
                </a:solidFill>
                <a:latin typeface="Source Sans 3"/>
              </a:rPr>
              <a:t>Biotech research engineering human tissue.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400" b="1">
                <a:solidFill>
                  <a:srgbClr val="E88B1F"/>
                </a:solidFill>
                <a:latin typeface="Montserrat"/>
              </a:rPr>
              <a:t>—  </a:t>
            </a:r>
            <a:r>
              <a:rPr sz="1400" b="1">
                <a:solidFill>
                  <a:srgbClr val="1A1E2C"/>
                </a:solidFill>
                <a:latin typeface="Montserrat"/>
              </a:rPr>
              <a:t>University of Michigan. </a:t>
            </a:r>
            <a:r>
              <a:rPr sz="1400" b="0">
                <a:solidFill>
                  <a:srgbClr val="555C72"/>
                </a:solidFill>
                <a:latin typeface="Source Sans 3"/>
              </a:rPr>
              <a:t>Computer Science &amp; Mechanical Engineering.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5074920"/>
            <a:ext cx="7025335" cy="960120"/>
          </a:xfrm>
          <a:prstGeom prst="roundRect">
            <a:avLst>
              <a:gd name="adj" fmla="val 10000"/>
            </a:avLst>
          </a:prstGeom>
          <a:solidFill>
            <a:srgbClr val="EEF0F7"/>
          </a:solidFill>
          <a:ln w="9525">
            <a:solidFill>
              <a:srgbClr val="E0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4608" y="5212080"/>
            <a:ext cx="644011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141B3A"/>
                </a:solidFill>
                <a:latin typeface="Source Sans 3"/>
              </a:rPr>
              <a:t>“I see decentralization as a way to fix the risks of centralized control over billions of people's lives.”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6382512"/>
            <a:ext cx="11002975" cy="0"/>
          </a:xfrm>
          <a:prstGeom prst="line">
            <a:avLst/>
          </a:prstGeom>
          <a:ln w="9525">
            <a:solidFill>
              <a:srgbClr val="E0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473952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0A3"/>
                </a:solidFill>
                <a:latin typeface="Source Sans 3"/>
              </a:rPr>
              <a:t>MoonDAO  ·  Deep Space and the Lunar Economy  ·  2nd Space Industry Workshop Brazil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8615" y="6473952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0A3"/>
                </a:solidFill>
                <a:latin typeface="Montserrat"/>
              </a:rPr>
              <a:t>02  / 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8778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88B1F"/>
                </a:solidFill>
                <a:latin typeface="Montserrat"/>
              </a:rPr>
              <a:t>WHO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89611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41B3A"/>
                </a:solidFill>
                <a:latin typeface="Montserrat"/>
              </a:rPr>
              <a:t>What Is MoonDAO</a:t>
            </a:r>
          </a:p>
        </p:txBody>
      </p:sp>
      <p:pic>
        <p:nvPicPr>
          <p:cNvPr id="5" name="Picture 4" descr="MoonDA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347472"/>
            <a:ext cx="1325880" cy="370988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594360" y="1170432"/>
            <a:ext cx="11002975" cy="0"/>
          </a:xfrm>
          <a:prstGeom prst="line">
            <a:avLst/>
          </a:prstGeom>
          <a:ln w="9525">
            <a:solidFill>
              <a:srgbClr val="E0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1417320"/>
            <a:ext cx="110029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41B3A"/>
                </a:solidFill>
                <a:latin typeface="Montserrat"/>
              </a:rPr>
              <a:t>An onchain community — anyone, anywhere — pooling resources to fund and govern humanity's next steps into space.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240280"/>
            <a:ext cx="11002975" cy="822960"/>
          </a:xfrm>
          <a:prstGeom prst="roundRect">
            <a:avLst>
              <a:gd name="adj" fmla="val 12000"/>
            </a:avLst>
          </a:prstGeom>
          <a:solidFill>
            <a:srgbClr val="EEF0F7"/>
          </a:solidFill>
          <a:ln w="9525">
            <a:solidFill>
              <a:srgbClr val="E0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21945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E88B1F"/>
                </a:solidFill>
                <a:latin typeface="Montserrat"/>
              </a:rPr>
              <a:t>OUR 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2240280"/>
            <a:ext cx="812261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141B3A"/>
                </a:solidFill>
                <a:latin typeface="Source Sans 3"/>
              </a:rPr>
              <a:t>To accelerate the development of a self-sustaining, self-governing settlement on the Moon.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91840"/>
            <a:ext cx="1100297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500" b="1">
                <a:solidFill>
                  <a:srgbClr val="E88B1F"/>
                </a:solidFill>
                <a:latin typeface="Montserrat"/>
              </a:rPr>
              <a:t>—  </a:t>
            </a:r>
            <a:r>
              <a:rPr sz="1500" b="1">
                <a:solidFill>
                  <a:srgbClr val="1A1E2C"/>
                </a:solidFill>
                <a:latin typeface="Montserrat"/>
              </a:rPr>
              <a:t>Decentralized. </a:t>
            </a:r>
            <a:r>
              <a:rPr sz="1500" b="0">
                <a:solidFill>
                  <a:srgbClr val="555C72"/>
                </a:solidFill>
                <a:latin typeface="Source Sans 3"/>
              </a:rPr>
              <a:t>Governed onchain via the $MOONEY token.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500" b="1">
                <a:solidFill>
                  <a:srgbClr val="E88B1F"/>
                </a:solidFill>
                <a:latin typeface="Montserrat"/>
              </a:rPr>
              <a:t>—  </a:t>
            </a:r>
            <a:r>
              <a:rPr sz="1500" b="1">
                <a:solidFill>
                  <a:srgbClr val="1A1E2C"/>
                </a:solidFill>
                <a:latin typeface="Montserrat"/>
              </a:rPr>
              <a:t>Global &amp; permissionless. </a:t>
            </a:r>
            <a:r>
              <a:rPr sz="1500" b="0">
                <a:solidFill>
                  <a:srgbClr val="555C72"/>
                </a:solidFill>
                <a:latin typeface="Source Sans 3"/>
              </a:rPr>
              <a:t>Anyone, anywhere can join, fund, or build.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500" b="1">
                <a:solidFill>
                  <a:srgbClr val="E88B1F"/>
                </a:solidFill>
                <a:latin typeface="Montserrat"/>
              </a:rPr>
              <a:t>—  </a:t>
            </a:r>
            <a:r>
              <a:rPr sz="1500" b="1">
                <a:solidFill>
                  <a:srgbClr val="1A1E2C"/>
                </a:solidFill>
                <a:latin typeface="Montserrat"/>
              </a:rPr>
              <a:t>Radically transparent. </a:t>
            </a:r>
            <a:r>
              <a:rPr sz="1500" b="0">
                <a:solidFill>
                  <a:srgbClr val="555C72"/>
                </a:solidFill>
                <a:latin typeface="Source Sans 3"/>
              </a:rPr>
              <a:t>Every vote and dollar is public onchain.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4937760"/>
            <a:ext cx="2599867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0E4EF"/>
            </a:solidFill>
          </a:ln>
          <a:effectLst/>
          <a:effectLst>
            <a:outerShdw blurRad="70000" dist="28000" dir="5400000" rotWithShape="0">
              <a:srgbClr val="141B3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360" y="4937760"/>
            <a:ext cx="54864" cy="1143000"/>
          </a:xfrm>
          <a:prstGeom prst="roundRect">
            <a:avLst>
              <a:gd name="adj" fmla="val 50000"/>
            </a:avLst>
          </a:prstGeom>
          <a:solidFill>
            <a:srgbClr val="1E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5102352"/>
            <a:ext cx="214266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41B3A"/>
                </a:solidFill>
                <a:latin typeface="Montserrat"/>
              </a:rPr>
              <a:t>$8M+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5577840"/>
            <a:ext cx="214266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C72"/>
                </a:solidFill>
                <a:latin typeface="Source Sans 3"/>
              </a:rPr>
              <a:t>Raised onchain</a:t>
            </a:r>
          </a:p>
          <a:p>
            <a:pPr algn="l"/>
            <a:r>
              <a:rPr sz="1100" b="0" i="0">
                <a:solidFill>
                  <a:srgbClr val="555C72"/>
                </a:solidFill>
                <a:latin typeface="Source Sans 3"/>
              </a:rPr>
              <a:t>to fund space access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95395" y="4937760"/>
            <a:ext cx="2599867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0E4EF"/>
            </a:solidFill>
          </a:ln>
          <a:effectLst/>
          <a:effectLst>
            <a:outerShdw blurRad="70000" dist="28000" dir="5400000" rotWithShape="0">
              <a:srgbClr val="141B3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395395" y="4937760"/>
            <a:ext cx="54864" cy="1143000"/>
          </a:xfrm>
          <a:prstGeom prst="roundRect">
            <a:avLst>
              <a:gd name="adj" fmla="val 50000"/>
            </a:avLst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1427" y="5102352"/>
            <a:ext cx="214266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41B3A"/>
                </a:solidFill>
                <a:latin typeface="Montserrat"/>
              </a:rPr>
              <a:t>12,000+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1427" y="5577840"/>
            <a:ext cx="214266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C72"/>
                </a:solidFill>
                <a:latin typeface="Source Sans 3"/>
              </a:rPr>
              <a:t>$MOONEY</a:t>
            </a:r>
          </a:p>
          <a:p>
            <a:pPr algn="l"/>
            <a:r>
              <a:rPr sz="1100" b="0" i="0">
                <a:solidFill>
                  <a:srgbClr val="555C72"/>
                </a:solidFill>
                <a:latin typeface="Source Sans 3"/>
              </a:rPr>
              <a:t>token holders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6431" y="4937760"/>
            <a:ext cx="2599867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0E4EF"/>
            </a:solidFill>
          </a:ln>
          <a:effectLst/>
          <a:effectLst>
            <a:outerShdw blurRad="70000" dist="28000" dir="5400000" rotWithShape="0">
              <a:srgbClr val="141B3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96431" y="4937760"/>
            <a:ext cx="54864" cy="1143000"/>
          </a:xfrm>
          <a:prstGeom prst="roundRect">
            <a:avLst>
              <a:gd name="adj" fmla="val 50000"/>
            </a:avLst>
          </a:prstGeom>
          <a:solidFill>
            <a:srgbClr val="A32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2463" y="5102352"/>
            <a:ext cx="214266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41B3A"/>
                </a:solidFill>
                <a:latin typeface="Montserrat"/>
              </a:rPr>
              <a:t>80+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2463" y="5577840"/>
            <a:ext cx="214266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C72"/>
                </a:solidFill>
                <a:latin typeface="Source Sans 3"/>
              </a:rPr>
              <a:t>Space R&amp;D projects</a:t>
            </a:r>
          </a:p>
          <a:p>
            <a:pPr algn="l"/>
            <a:r>
              <a:rPr sz="1100" b="0" i="0">
                <a:solidFill>
                  <a:srgbClr val="555C72"/>
                </a:solidFill>
                <a:latin typeface="Source Sans 3"/>
              </a:rPr>
              <a:t>funded via governance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97467" y="4937760"/>
            <a:ext cx="2599867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0E4EF"/>
            </a:solidFill>
          </a:ln>
          <a:effectLst/>
          <a:effectLst>
            <a:outerShdw blurRad="70000" dist="28000" dir="5400000" rotWithShape="0">
              <a:srgbClr val="141B3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997467" y="4937760"/>
            <a:ext cx="54864" cy="1143000"/>
          </a:xfrm>
          <a:prstGeom prst="roundRect">
            <a:avLst>
              <a:gd name="adj" fmla="val 50000"/>
            </a:avLst>
          </a:prstGeom>
          <a:solidFill>
            <a:srgbClr val="2B4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53499" y="5102352"/>
            <a:ext cx="214266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41B3A"/>
                </a:solidFill>
                <a:latin typeface="Montserrat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53499" y="5577840"/>
            <a:ext cx="214266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C72"/>
                </a:solidFill>
                <a:latin typeface="Source Sans 3"/>
              </a:rPr>
              <a:t>Crowdfunded citizen-</a:t>
            </a:r>
          </a:p>
          <a:p>
            <a:pPr algn="l"/>
            <a:r>
              <a:rPr sz="1100" b="0" i="0">
                <a:solidFill>
                  <a:srgbClr val="555C72"/>
                </a:solidFill>
                <a:latin typeface="Source Sans 3"/>
              </a:rPr>
              <a:t>astronauts sent to space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94360" y="6382512"/>
            <a:ext cx="11002975" cy="0"/>
          </a:xfrm>
          <a:prstGeom prst="line">
            <a:avLst/>
          </a:prstGeom>
          <a:ln w="9525">
            <a:solidFill>
              <a:srgbClr val="E0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94360" y="6473952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0A3"/>
                </a:solidFill>
                <a:latin typeface="Source Sans 3"/>
              </a:rPr>
              <a:t>MoonDAO  ·  Deep Space and the Lunar Economy  ·  2nd Space Industry Workshop Brazil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08615" y="6473952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0A3"/>
                </a:solidFill>
                <a:latin typeface="Montserrat"/>
              </a:rPr>
              <a:t>03  / 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8778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88B1F"/>
                </a:solidFill>
                <a:latin typeface="Montserrat"/>
              </a:rPr>
              <a:t>OUR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89611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41B3A"/>
                </a:solidFill>
                <a:latin typeface="Montserrat"/>
              </a:rPr>
              <a:t>Five Years of Milestones</a:t>
            </a:r>
          </a:p>
        </p:txBody>
      </p:sp>
      <p:pic>
        <p:nvPicPr>
          <p:cNvPr id="5" name="Picture 4" descr="MoonDA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347472"/>
            <a:ext cx="1325880" cy="370988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594360" y="1170432"/>
            <a:ext cx="11002975" cy="0"/>
          </a:xfrm>
          <a:prstGeom prst="line">
            <a:avLst/>
          </a:prstGeom>
          <a:ln w="9525">
            <a:solidFill>
              <a:srgbClr val="E0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577340.0" y="2606040"/>
            <a:ext cx="9037015.0" cy="0"/>
          </a:xfrm>
          <a:prstGeom prst="line">
            <a:avLst/>
          </a:prstGeom>
          <a:ln w="31750">
            <a:solidFill>
              <a:srgbClr val="E0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476756" y="2505456"/>
            <a:ext cx="201168" cy="201168"/>
          </a:xfrm>
          <a:prstGeom prst="ellipse">
            <a:avLst/>
          </a:prstGeom>
          <a:solidFill>
            <a:srgbClr val="1E2F6B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7160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1E2F6B"/>
                </a:solidFill>
                <a:latin typeface="Montserrat"/>
              </a:rPr>
              <a:t>2021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709928"/>
            <a:ext cx="1965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41B3A"/>
                </a:solidFill>
                <a:latin typeface="Montserrat"/>
              </a:rPr>
              <a:t>MoonDAO Launches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80360"/>
            <a:ext cx="1965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555C72"/>
                </a:solidFill>
                <a:latin typeface="Source Sans 3"/>
              </a:rPr>
              <a:t>First DAO focused on space</a:t>
            </a:r>
          </a:p>
          <a:p>
            <a:pPr algn="ctr"/>
            <a:r>
              <a:rPr sz="1000" b="0" i="0">
                <a:solidFill>
                  <a:srgbClr val="555C72"/>
                </a:solidFill>
                <a:latin typeface="Source Sans 3"/>
              </a:rPr>
              <a:t>exploration &amp; lunar settlement</a:t>
            </a:r>
          </a:p>
        </p:txBody>
      </p:sp>
      <p:sp>
        <p:nvSpPr>
          <p:cNvPr id="12" name="Oval 11"/>
          <p:cNvSpPr/>
          <p:nvPr/>
        </p:nvSpPr>
        <p:spPr>
          <a:xfrm>
            <a:off x="3736009" y="2505456"/>
            <a:ext cx="201168" cy="201168"/>
          </a:xfrm>
          <a:prstGeom prst="ellipse">
            <a:avLst/>
          </a:prstGeom>
          <a:solidFill>
            <a:srgbClr val="2B4C9B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53613" y="137160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2B4C9B"/>
                </a:solidFill>
                <a:latin typeface="Montserrat"/>
              </a:rPr>
              <a:t>2022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53613" y="1709928"/>
            <a:ext cx="1965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41B3A"/>
                </a:solidFill>
                <a:latin typeface="Montserrat"/>
              </a:rPr>
              <a:t>$8M Raised + First Astronaut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3613" y="2880360"/>
            <a:ext cx="1965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555C72"/>
                </a:solidFill>
                <a:latin typeface="Source Sans 3"/>
              </a:rPr>
              <a:t>2,600 ETH raised; Coby Cotton</a:t>
            </a:r>
          </a:p>
          <a:p>
            <a:pPr algn="ctr"/>
            <a:r>
              <a:rPr sz="1000" b="0" i="0">
                <a:solidFill>
                  <a:srgbClr val="555C72"/>
                </a:solidFill>
                <a:latin typeface="Source Sans 3"/>
              </a:rPr>
              <a:t>flies on Blue Origin's NS-22</a:t>
            </a:r>
          </a:p>
        </p:txBody>
      </p:sp>
      <p:sp>
        <p:nvSpPr>
          <p:cNvPr id="16" name="Oval 15"/>
          <p:cNvSpPr/>
          <p:nvPr/>
        </p:nvSpPr>
        <p:spPr>
          <a:xfrm>
            <a:off x="5995263" y="2505456"/>
            <a:ext cx="201168" cy="201168"/>
          </a:xfrm>
          <a:prstGeom prst="ellipse">
            <a:avLst/>
          </a:prstGeom>
          <a:solidFill>
            <a:srgbClr val="E88B1F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12867" y="137160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E88B1F"/>
                </a:solidFill>
                <a:latin typeface="Montserrat"/>
              </a:rPr>
              <a:t>2023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12867" y="1709928"/>
            <a:ext cx="1965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41B3A"/>
                </a:solidFill>
                <a:latin typeface="Montserrat"/>
              </a:rPr>
              <a:t>80+ Projects Funded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12867" y="2880360"/>
            <a:ext cx="1965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555C72"/>
                </a:solidFill>
                <a:latin typeface="Source Sans 3"/>
              </a:rPr>
              <a:t>Community governance funds a</a:t>
            </a:r>
          </a:p>
          <a:p>
            <a:pPr algn="ctr"/>
            <a:r>
              <a:rPr sz="1000" b="0" i="0">
                <a:solidFill>
                  <a:srgbClr val="555C72"/>
                </a:solidFill>
                <a:latin typeface="Source Sans 3"/>
              </a:rPr>
              <a:t>thriving space R&amp;D ecosystem</a:t>
            </a:r>
          </a:p>
        </p:txBody>
      </p:sp>
      <p:sp>
        <p:nvSpPr>
          <p:cNvPr id="20" name="Oval 19"/>
          <p:cNvSpPr/>
          <p:nvPr/>
        </p:nvSpPr>
        <p:spPr>
          <a:xfrm>
            <a:off x="8254517" y="2505456"/>
            <a:ext cx="201168" cy="201168"/>
          </a:xfrm>
          <a:prstGeom prst="ellipse">
            <a:avLst/>
          </a:prstGeom>
          <a:solidFill>
            <a:srgbClr val="A32E35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72121" y="137160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A32E35"/>
                </a:solidFill>
                <a:latin typeface="Montserrat"/>
              </a:rPr>
              <a:t>2024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72121" y="1709928"/>
            <a:ext cx="1965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41B3A"/>
                </a:solidFill>
                <a:latin typeface="Montserrat"/>
              </a:rPr>
              <a:t>Network + 2nd Astronaut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2121" y="2880360"/>
            <a:ext cx="1965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555C72"/>
                </a:solidFill>
                <a:latin typeface="Source Sans 3"/>
              </a:rPr>
              <a:t>Space Acceleration Network launches;</a:t>
            </a:r>
          </a:p>
          <a:p>
            <a:pPr algn="ctr"/>
            <a:r>
              <a:rPr sz="1000" b="0" i="0">
                <a:solidFill>
                  <a:srgbClr val="555C72"/>
                </a:solidFill>
                <a:latin typeface="Source Sans 3"/>
              </a:rPr>
              <a:t>Dr. Eiman Jahangir flies to space</a:t>
            </a:r>
          </a:p>
        </p:txBody>
      </p:sp>
      <p:sp>
        <p:nvSpPr>
          <p:cNvPr id="24" name="Oval 23"/>
          <p:cNvSpPr/>
          <p:nvPr/>
        </p:nvSpPr>
        <p:spPr>
          <a:xfrm>
            <a:off x="10513771" y="2505456"/>
            <a:ext cx="201168" cy="201168"/>
          </a:xfrm>
          <a:prstGeom prst="ellipse">
            <a:avLst/>
          </a:prstGeom>
          <a:solidFill>
            <a:srgbClr val="1E2F6B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31375" y="137160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1E2F6B"/>
                </a:solidFill>
                <a:latin typeface="Montserrat"/>
              </a:rPr>
              <a:t>2025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31375" y="1709928"/>
            <a:ext cx="1965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41B3A"/>
                </a:solidFill>
                <a:latin typeface="Montserrat"/>
              </a:rPr>
              <a:t>Constitution Reaches the Moon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31375" y="2880360"/>
            <a:ext cx="1965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555C72"/>
                </a:solidFill>
                <a:latin typeface="Source Sans 3"/>
              </a:rPr>
              <a:t>MoonDAO Launchpad ships; our</a:t>
            </a:r>
          </a:p>
          <a:p>
            <a:pPr algn="ctr"/>
            <a:r>
              <a:rPr sz="1000" b="0" i="0">
                <a:solidFill>
                  <a:srgbClr val="555C72"/>
                </a:solidFill>
                <a:latin typeface="Source Sans 3"/>
              </a:rPr>
              <a:t>constitution lands on the lunar surface</a:t>
            </a:r>
          </a:p>
        </p:txBody>
      </p:sp>
      <p:pic>
        <p:nvPicPr>
          <p:cNvPr id="28" name="Picture 27" descr="MoonDAO-New-Shepard_ro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7895" y="4572000"/>
            <a:ext cx="2340864" cy="14630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725015" y="6080760"/>
            <a:ext cx="27066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55C72"/>
                </a:solidFill>
                <a:latin typeface="Source Sans 3"/>
              </a:rPr>
              <a:t>Team at Blue Origin’s launch site</a:t>
            </a:r>
          </a:p>
        </p:txBody>
      </p:sp>
      <p:pic>
        <p:nvPicPr>
          <p:cNvPr id="30" name="Picture 29" descr="astronaut-coby_roun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4791" y="4572000"/>
            <a:ext cx="1463040" cy="146304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321911" y="6080760"/>
            <a:ext cx="1828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55C72"/>
                </a:solidFill>
                <a:latin typeface="Source Sans 3"/>
              </a:rPr>
              <a:t>Coby Cotton — 1st MoonDAO astronaut</a:t>
            </a:r>
          </a:p>
        </p:txBody>
      </p:sp>
      <p:pic>
        <p:nvPicPr>
          <p:cNvPr id="32" name="Picture 31" descr="zero-g-image_roun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3863" y="4572000"/>
            <a:ext cx="2340864" cy="146304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040983" y="6080760"/>
            <a:ext cx="27066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55C72"/>
                </a:solidFill>
                <a:latin typeface="Source Sans 3"/>
              </a:rPr>
              <a:t>Zero-gravity training flight</a:t>
            </a:r>
          </a:p>
        </p:txBody>
      </p:sp>
      <p:pic>
        <p:nvPicPr>
          <p:cNvPr id="34" name="Picture 33" descr="astronaut-eiman_roun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0759" y="4572000"/>
            <a:ext cx="1463040" cy="146304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637879" y="6080760"/>
            <a:ext cx="1828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55C72"/>
                </a:solidFill>
                <a:latin typeface="Source Sans 3"/>
              </a:rPr>
              <a:t>Dr. Eiman Jahangir — 2nd astronaut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94360" y="6382512"/>
            <a:ext cx="11002975" cy="0"/>
          </a:xfrm>
          <a:prstGeom prst="line">
            <a:avLst/>
          </a:prstGeom>
          <a:ln w="9525">
            <a:solidFill>
              <a:srgbClr val="E0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94360" y="6473952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0A3"/>
                </a:solidFill>
                <a:latin typeface="Source Sans 3"/>
              </a:rPr>
              <a:t>MoonDAO  ·  Deep Space and the Lunar Economy  ·  2nd Space Industry Workshop Brazil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08615" y="6473952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0A3"/>
                </a:solidFill>
                <a:latin typeface="Montserrat"/>
              </a:rPr>
              <a:t>04  / 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8778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88B1F"/>
                </a:solidFill>
                <a:latin typeface="Montserrat"/>
              </a:rPr>
              <a:t>WHAT WE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89611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41B3A"/>
                </a:solidFill>
                <a:latin typeface="Montserrat"/>
              </a:rPr>
              <a:t>Core Initiatives</a:t>
            </a:r>
          </a:p>
        </p:txBody>
      </p:sp>
      <p:pic>
        <p:nvPicPr>
          <p:cNvPr id="5" name="Picture 4" descr="MoonDA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347472"/>
            <a:ext cx="1325880" cy="370988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594360" y="1170432"/>
            <a:ext cx="11002975" cy="0"/>
          </a:xfrm>
          <a:prstGeom prst="line">
            <a:avLst/>
          </a:prstGeom>
          <a:ln w="9525">
            <a:solidFill>
              <a:srgbClr val="E0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94360" y="1554480"/>
            <a:ext cx="349697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0E4EF"/>
            </a:solidFill>
          </a:ln>
          <a:effectLst/>
          <a:effectLst>
            <a:outerShdw blurRad="70000" dist="28000" dir="5400000" rotWithShape="0">
              <a:srgbClr val="141B3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554480"/>
            <a:ext cx="3496970" cy="64008"/>
          </a:xfrm>
          <a:prstGeom prst="roundRect">
            <a:avLst>
              <a:gd name="adj" fmla="val 50000"/>
            </a:avLst>
          </a:prstGeom>
          <a:solidFill>
            <a:srgbClr val="1E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47088"/>
            <a:ext cx="294833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41B3A"/>
                </a:solidFill>
                <a:latin typeface="Montserrat"/>
              </a:rPr>
              <a:t>Human Spaceflight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77440"/>
            <a:ext cx="294833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55C72"/>
                </a:solidFill>
                <a:latin typeface="Source Sans 3"/>
              </a:rPr>
              <a:t>Two crowdfunded citizens sent to space by onchain vote.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7362" y="1554480"/>
            <a:ext cx="349697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0E4EF"/>
            </a:solidFill>
          </a:ln>
          <a:effectLst/>
          <a:effectLst>
            <a:outerShdw blurRad="70000" dist="28000" dir="5400000" rotWithShape="0">
              <a:srgbClr val="141B3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47362" y="1554480"/>
            <a:ext cx="3496970" cy="64008"/>
          </a:xfrm>
          <a:prstGeom prst="roundRect">
            <a:avLst>
              <a:gd name="adj" fmla="val 50000"/>
            </a:avLst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1682" y="1847088"/>
            <a:ext cx="294833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41B3A"/>
                </a:solidFill>
                <a:latin typeface="Montserrat"/>
              </a:rPr>
              <a:t>Fund Space R&amp;D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1682" y="2377440"/>
            <a:ext cx="294833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55C72"/>
                </a:solidFill>
                <a:latin typeface="Source Sans 3"/>
              </a:rPr>
              <a:t>$600K+ allocated to 80+ projects via open governance.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0364" y="1554480"/>
            <a:ext cx="349697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0E4EF"/>
            </a:solidFill>
          </a:ln>
          <a:effectLst/>
          <a:effectLst>
            <a:outerShdw blurRad="70000" dist="28000" dir="5400000" rotWithShape="0">
              <a:srgbClr val="141B3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00364" y="1554480"/>
            <a:ext cx="3496970" cy="64008"/>
          </a:xfrm>
          <a:prstGeom prst="roundRect">
            <a:avLst>
              <a:gd name="adj" fmla="val 50000"/>
            </a:avLst>
          </a:prstGeom>
          <a:solidFill>
            <a:srgbClr val="2B4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4684" y="1847088"/>
            <a:ext cx="294833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41B3A"/>
                </a:solidFill>
                <a:latin typeface="Montserrat"/>
              </a:rPr>
              <a:t>Space Training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4684" y="2377440"/>
            <a:ext cx="294833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55C72"/>
                </a:solidFill>
                <a:latin typeface="Source Sans 3"/>
              </a:rPr>
              <a:t>Zero-gravity flights and astronaut-prep experiences.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685031"/>
            <a:ext cx="349697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0E4EF"/>
            </a:solidFill>
          </a:ln>
          <a:effectLst/>
          <a:effectLst>
            <a:outerShdw blurRad="70000" dist="28000" dir="5400000" rotWithShape="0">
              <a:srgbClr val="141B3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3685031"/>
            <a:ext cx="3496970" cy="64008"/>
          </a:xfrm>
          <a:prstGeom prst="roundRect">
            <a:avLst>
              <a:gd name="adj" fmla="val 50000"/>
            </a:avLst>
          </a:prstGeom>
          <a:solidFill>
            <a:srgbClr val="A32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977639"/>
            <a:ext cx="294833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41B3A"/>
                </a:solidFill>
                <a:latin typeface="Montserrat"/>
              </a:rPr>
              <a:t>Space Acceleration Network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507991"/>
            <a:ext cx="294833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55C72"/>
                </a:solidFill>
                <a:latin typeface="Source Sans 3"/>
              </a:rPr>
              <a:t>An onchain “startup society” for the space industry.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7362" y="3685031"/>
            <a:ext cx="349697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0E4EF"/>
            </a:solidFill>
          </a:ln>
          <a:effectLst/>
          <a:effectLst>
            <a:outerShdw blurRad="70000" dist="28000" dir="5400000" rotWithShape="0">
              <a:srgbClr val="141B3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347362" y="3685031"/>
            <a:ext cx="3496970" cy="64008"/>
          </a:xfrm>
          <a:prstGeom prst="roundRect">
            <a:avLst>
              <a:gd name="adj" fmla="val 50000"/>
            </a:avLst>
          </a:prstGeom>
          <a:solidFill>
            <a:srgbClr val="1E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21682" y="3977639"/>
            <a:ext cx="294833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41B3A"/>
                </a:solidFill>
                <a:latin typeface="Montserrat"/>
              </a:rPr>
              <a:t>Transparent Governance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21682" y="4507991"/>
            <a:ext cx="294833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55C72"/>
                </a:solidFill>
                <a:latin typeface="Source Sans 3"/>
              </a:rPr>
              <a:t>Every vote and treasury move, public onchain.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00364" y="3685031"/>
            <a:ext cx="349697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0E4EF"/>
            </a:solidFill>
          </a:ln>
          <a:effectLst/>
          <a:effectLst>
            <a:outerShdw blurRad="70000" dist="28000" dir="5400000" rotWithShape="0">
              <a:srgbClr val="141B3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100364" y="3685031"/>
            <a:ext cx="3496970" cy="64008"/>
          </a:xfrm>
          <a:prstGeom prst="roundRect">
            <a:avLst>
              <a:gd name="adj" fmla="val 50000"/>
            </a:avLst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4684" y="3977639"/>
            <a:ext cx="294833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41B3A"/>
                </a:solidFill>
                <a:latin typeface="Montserrat"/>
              </a:rPr>
              <a:t>Lunar Settlement Roadmap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74684" y="4507991"/>
            <a:ext cx="294833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55C72"/>
                </a:solidFill>
                <a:latin typeface="Source Sans 3"/>
              </a:rPr>
              <a:t>Constitution, Launchpad, and missions — building toward the Moon.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94360" y="6382512"/>
            <a:ext cx="11002975" cy="0"/>
          </a:xfrm>
          <a:prstGeom prst="line">
            <a:avLst/>
          </a:prstGeom>
          <a:ln w="9525">
            <a:solidFill>
              <a:srgbClr val="E0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94360" y="6473952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0A3"/>
                </a:solidFill>
                <a:latin typeface="Source Sans 3"/>
              </a:rPr>
              <a:t>MoonDAO  ·  Deep Space and the Lunar Economy  ·  2nd Space Industry Workshop Brazil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08615" y="6473952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0A3"/>
                </a:solidFill>
                <a:latin typeface="Montserrat"/>
              </a:rPr>
              <a:t>05  / 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8778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88B1F"/>
                </a:solidFill>
                <a:latin typeface="Montserrat"/>
              </a:rPr>
              <a:t>FUNDING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89611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41B3A"/>
                </a:solidFill>
                <a:latin typeface="Montserrat"/>
              </a:rPr>
              <a:t>DePrize: A Prediction Market for Space Delivery</a:t>
            </a:r>
          </a:p>
        </p:txBody>
      </p:sp>
      <p:pic>
        <p:nvPicPr>
          <p:cNvPr id="5" name="Picture 4" descr="MoonDA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347472"/>
            <a:ext cx="1325880" cy="370988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594360" y="1170432"/>
            <a:ext cx="11002975" cy="0"/>
          </a:xfrm>
          <a:prstGeom prst="line">
            <a:avLst/>
          </a:prstGeom>
          <a:ln w="9525">
            <a:solidFill>
              <a:srgbClr val="E0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94360" y="1417320"/>
            <a:ext cx="3496970" cy="1143000"/>
          </a:xfrm>
          <a:prstGeom prst="roundRect">
            <a:avLst>
              <a:gd name="adj" fmla="val 8000"/>
            </a:avLst>
          </a:prstGeom>
          <a:solidFill>
            <a:srgbClr val="F7F8FC"/>
          </a:solidFill>
          <a:ln w="9525">
            <a:solidFill>
              <a:srgbClr val="E0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95528" y="1618488"/>
            <a:ext cx="384048" cy="384048"/>
          </a:xfrm>
          <a:prstGeom prst="ellipse">
            <a:avLst/>
          </a:prstGeom>
          <a:solidFill>
            <a:srgbClr val="1E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7592" y="1618488"/>
            <a:ext cx="258257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41B3A"/>
                </a:solidFill>
                <a:latin typeface="Montserrat"/>
              </a:rPr>
              <a:t>Back a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130552"/>
            <a:ext cx="309463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C72"/>
                </a:solidFill>
                <a:latin typeface="Source Sans 3"/>
              </a:rPr>
              <a:t>Wager ETH on who delivers first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7362" y="1417320"/>
            <a:ext cx="3496970" cy="1143000"/>
          </a:xfrm>
          <a:prstGeom prst="roundRect">
            <a:avLst>
              <a:gd name="adj" fmla="val 8000"/>
            </a:avLst>
          </a:prstGeom>
          <a:solidFill>
            <a:srgbClr val="F7F8FC"/>
          </a:solidFill>
          <a:ln w="9525">
            <a:solidFill>
              <a:srgbClr val="E0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48530" y="1618488"/>
            <a:ext cx="384048" cy="384048"/>
          </a:xfrm>
          <a:prstGeom prst="ellipse">
            <a:avLst/>
          </a:prstGeom>
          <a:solidFill>
            <a:srgbClr val="2B4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60594" y="1618488"/>
            <a:ext cx="258257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41B3A"/>
                </a:solidFill>
                <a:latin typeface="Montserrat"/>
              </a:rPr>
              <a:t>Live Odds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8530" y="2130552"/>
            <a:ext cx="309463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C72"/>
                </a:solidFill>
                <a:latin typeface="Source Sans 3"/>
              </a:rPr>
              <a:t>Every bet grows the shared prize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0364" y="1417320"/>
            <a:ext cx="3496970" cy="1143000"/>
          </a:xfrm>
          <a:prstGeom prst="roundRect">
            <a:avLst>
              <a:gd name="adj" fmla="val 8000"/>
            </a:avLst>
          </a:prstGeom>
          <a:solidFill>
            <a:srgbClr val="F7F8FC"/>
          </a:solidFill>
          <a:ln w="9525">
            <a:solidFill>
              <a:srgbClr val="E0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01532" y="1618488"/>
            <a:ext cx="384048" cy="384048"/>
          </a:xfrm>
          <a:prstGeom prst="ellipse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13596" y="1618488"/>
            <a:ext cx="258257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41B3A"/>
                </a:solidFill>
                <a:latin typeface="Montserrat"/>
              </a:rPr>
              <a:t>Winner Delivers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1532" y="2130552"/>
            <a:ext cx="309463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C72"/>
                </a:solidFill>
                <a:latin typeface="Source Sans 3"/>
              </a:rPr>
              <a:t>Community declares winner; backers get paid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2816352"/>
            <a:ext cx="110029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88B1F"/>
                </a:solidFill>
                <a:latin typeface="Montserrat"/>
              </a:rPr>
              <a:t>8 CAPABILITY VERTICALS ON THE TECH TREE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136392"/>
            <a:ext cx="2641015" cy="384048"/>
          </a:xfrm>
          <a:prstGeom prst="roundRect">
            <a:avLst>
              <a:gd name="adj" fmla="val 40000"/>
            </a:avLst>
          </a:prstGeom>
          <a:solidFill>
            <a:srgbClr val="F7F8FC"/>
          </a:solidFill>
          <a:ln w="9525">
            <a:solidFill>
              <a:srgbClr val="E0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8952" y="3282696"/>
            <a:ext cx="91440" cy="91440"/>
          </a:xfrm>
          <a:prstGeom prst="ellipse">
            <a:avLst/>
          </a:prstGeom>
          <a:solidFill>
            <a:srgbClr val="1E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136392"/>
            <a:ext cx="213809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41B3A"/>
                </a:solidFill>
                <a:latin typeface="Montserrat"/>
              </a:rPr>
              <a:t>Comms / PNT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81679" y="3136392"/>
            <a:ext cx="2641015" cy="384048"/>
          </a:xfrm>
          <a:prstGeom prst="roundRect">
            <a:avLst>
              <a:gd name="adj" fmla="val 40000"/>
            </a:avLst>
          </a:prstGeom>
          <a:solidFill>
            <a:srgbClr val="F7F8FC"/>
          </a:solidFill>
          <a:ln w="9525">
            <a:solidFill>
              <a:srgbClr val="E0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546271" y="3282696"/>
            <a:ext cx="91440" cy="91440"/>
          </a:xfrm>
          <a:prstGeom prst="ellipse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47439" y="3136392"/>
            <a:ext cx="213809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41B3A"/>
                </a:solidFill>
                <a:latin typeface="Montserrat"/>
              </a:rPr>
              <a:t>Surface Construction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68999" y="3136392"/>
            <a:ext cx="2641015" cy="384048"/>
          </a:xfrm>
          <a:prstGeom prst="roundRect">
            <a:avLst>
              <a:gd name="adj" fmla="val 40000"/>
            </a:avLst>
          </a:prstGeom>
          <a:solidFill>
            <a:srgbClr val="F7F8FC"/>
          </a:solidFill>
          <a:ln w="9525">
            <a:solidFill>
              <a:srgbClr val="E0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33591" y="3282696"/>
            <a:ext cx="91440" cy="91440"/>
          </a:xfrm>
          <a:prstGeom prst="ellipse">
            <a:avLst/>
          </a:prstGeom>
          <a:solidFill>
            <a:srgbClr val="2B4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4759" y="3136392"/>
            <a:ext cx="213809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41B3A"/>
                </a:solidFill>
                <a:latin typeface="Montserrat"/>
              </a:rPr>
              <a:t>Habitat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56319" y="3136392"/>
            <a:ext cx="2641015" cy="384048"/>
          </a:xfrm>
          <a:prstGeom prst="roundRect">
            <a:avLst>
              <a:gd name="adj" fmla="val 40000"/>
            </a:avLst>
          </a:prstGeom>
          <a:solidFill>
            <a:srgbClr val="F7F8FC"/>
          </a:solidFill>
          <a:ln w="9525">
            <a:solidFill>
              <a:srgbClr val="E0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20911" y="3282696"/>
            <a:ext cx="91440" cy="91440"/>
          </a:xfrm>
          <a:prstGeom prst="ellipse">
            <a:avLst/>
          </a:prstGeom>
          <a:solidFill>
            <a:srgbClr val="A32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2079" y="3136392"/>
            <a:ext cx="213809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41B3A"/>
                </a:solidFill>
                <a:latin typeface="Montserrat"/>
              </a:rPr>
              <a:t>ISRU Plant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3630168"/>
            <a:ext cx="2641015" cy="384048"/>
          </a:xfrm>
          <a:prstGeom prst="roundRect">
            <a:avLst>
              <a:gd name="adj" fmla="val 40000"/>
            </a:avLst>
          </a:prstGeom>
          <a:solidFill>
            <a:srgbClr val="F7F8FC"/>
          </a:solidFill>
          <a:ln w="9525">
            <a:solidFill>
              <a:srgbClr val="E0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58952" y="3776472"/>
            <a:ext cx="91440" cy="91440"/>
          </a:xfrm>
          <a:prstGeom prst="ellipse">
            <a:avLst/>
          </a:prstGeom>
          <a:solidFill>
            <a:srgbClr val="1E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3630168"/>
            <a:ext cx="213809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41B3A"/>
                </a:solidFill>
                <a:latin typeface="Montserrat"/>
              </a:rPr>
              <a:t>Power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81679" y="3630168"/>
            <a:ext cx="2641015" cy="384048"/>
          </a:xfrm>
          <a:prstGeom prst="roundRect">
            <a:avLst>
              <a:gd name="adj" fmla="val 40000"/>
            </a:avLst>
          </a:prstGeom>
          <a:solidFill>
            <a:srgbClr val="F7F8FC"/>
          </a:solidFill>
          <a:ln w="9525">
            <a:solidFill>
              <a:srgbClr val="E0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546271" y="3776472"/>
            <a:ext cx="91440" cy="91440"/>
          </a:xfrm>
          <a:prstGeom prst="ellipse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47439" y="3630168"/>
            <a:ext cx="213809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41B3A"/>
                </a:solidFill>
                <a:latin typeface="Montserrat"/>
              </a:rPr>
              <a:t>Rover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68999" y="3630168"/>
            <a:ext cx="2641015" cy="384048"/>
          </a:xfrm>
          <a:prstGeom prst="roundRect">
            <a:avLst>
              <a:gd name="adj" fmla="val 40000"/>
            </a:avLst>
          </a:prstGeom>
          <a:solidFill>
            <a:srgbClr val="F7F8FC"/>
          </a:solidFill>
          <a:ln w="9525">
            <a:solidFill>
              <a:srgbClr val="E0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333591" y="3776472"/>
            <a:ext cx="91440" cy="91440"/>
          </a:xfrm>
          <a:prstGeom prst="ellipse">
            <a:avLst/>
          </a:prstGeom>
          <a:solidFill>
            <a:srgbClr val="2B4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34759" y="3630168"/>
            <a:ext cx="213809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41B3A"/>
                </a:solidFill>
                <a:latin typeface="Montserrat"/>
              </a:rPr>
              <a:t>Crewed Base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56319" y="3630168"/>
            <a:ext cx="2641015" cy="384048"/>
          </a:xfrm>
          <a:prstGeom prst="roundRect">
            <a:avLst>
              <a:gd name="adj" fmla="val 40000"/>
            </a:avLst>
          </a:prstGeom>
          <a:solidFill>
            <a:srgbClr val="F7F8FC"/>
          </a:solidFill>
          <a:ln w="9525">
            <a:solidFill>
              <a:srgbClr val="E0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120911" y="3776472"/>
            <a:ext cx="91440" cy="91440"/>
          </a:xfrm>
          <a:prstGeom prst="ellipse">
            <a:avLst/>
          </a:prstGeom>
          <a:solidFill>
            <a:srgbClr val="A32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2079" y="3630168"/>
            <a:ext cx="213809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41B3A"/>
                </a:solidFill>
                <a:latin typeface="Montserrat"/>
              </a:rPr>
              <a:t>Lander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94360" y="4325112"/>
            <a:ext cx="11002975" cy="1691640"/>
          </a:xfrm>
          <a:prstGeom prst="roundRect">
            <a:avLst>
              <a:gd name="adj" fmla="val 8000"/>
            </a:avLst>
          </a:prstGeom>
          <a:solidFill>
            <a:srgbClr val="EEF0F7"/>
          </a:solidFill>
          <a:ln w="9525">
            <a:solidFill>
              <a:srgbClr val="E0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4489704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88B1F"/>
                </a:solidFill>
                <a:latin typeface="Montserrat"/>
              </a:rPr>
              <a:t>THE MATH, WORKED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" y="4782312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A1E2C"/>
                </a:solidFill>
                <a:latin typeface="Source Sans 3"/>
              </a:rPr>
              <a:t>→  Bet 1 ETH on a provider priced at 40% odds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" y="5038344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A1E2C"/>
                </a:solidFill>
                <a:latin typeface="Source Sans 3"/>
              </a:rPr>
              <a:t>→  5% → prize pool  ·  95% → market (2.375 shares at $0.40)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529437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A1E2C"/>
                </a:solidFill>
                <a:latin typeface="Source Sans 3"/>
              </a:rPr>
              <a:t>→  Less the 1% LMSR fee → ≈ 2.35 shares held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555040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A1E2C"/>
                </a:solidFill>
                <a:latin typeface="Source Sans 3"/>
              </a:rPr>
              <a:t>→  If they win: shares redeem 1:1 → ≈ 2.32 ETH back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8549639" y="4553712"/>
            <a:ext cx="0" cy="1234440"/>
          </a:xfrm>
          <a:prstGeom prst="line">
            <a:avLst/>
          </a:prstGeom>
          <a:ln w="9525">
            <a:solidFill>
              <a:srgbClr val="E0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8778239" y="4690872"/>
            <a:ext cx="268193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E88B1F"/>
                </a:solidFill>
                <a:latin typeface="Montserrat"/>
              </a:rPr>
              <a:t>+1.32 ETH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78239" y="5239512"/>
            <a:ext cx="26819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555C72"/>
                </a:solidFill>
                <a:latin typeface="Source Sans 3"/>
              </a:rPr>
              <a:t>net gain + 50 $OVERVIEW,</a:t>
            </a:r>
          </a:p>
          <a:p>
            <a:pPr algn="ctr"/>
            <a:r>
              <a:rPr sz="1050" b="0" i="0">
                <a:solidFill>
                  <a:srgbClr val="555C72"/>
                </a:solidFill>
                <a:latin typeface="Source Sans 3"/>
              </a:rPr>
              <a:t>funded by other bettors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94360" y="6382512"/>
            <a:ext cx="11002975" cy="0"/>
          </a:xfrm>
          <a:prstGeom prst="line">
            <a:avLst/>
          </a:prstGeom>
          <a:ln w="9525">
            <a:solidFill>
              <a:srgbClr val="E0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94360" y="6473952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0A3"/>
                </a:solidFill>
                <a:latin typeface="Source Sans 3"/>
              </a:rPr>
              <a:t>MoonDAO  ·  Deep Space and the Lunar Economy  ·  2nd Space Industry Workshop Brazil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08615" y="6473952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0A3"/>
                </a:solidFill>
                <a:latin typeface="Montserrat"/>
              </a:rPr>
              <a:t>06  / 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8778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88B1F"/>
                </a:solidFill>
                <a:latin typeface="Montserrat"/>
              </a:rPr>
              <a:t>FUNDING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89611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41B3A"/>
                </a:solidFill>
                <a:latin typeface="Montserrat"/>
              </a:rPr>
              <a:t>Surviving the 354-Hour Lunar Night</a:t>
            </a:r>
          </a:p>
        </p:txBody>
      </p:sp>
      <p:pic>
        <p:nvPicPr>
          <p:cNvPr id="5" name="Picture 4" descr="MoonDA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347472"/>
            <a:ext cx="1325880" cy="370988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594360" y="1170432"/>
            <a:ext cx="11002975" cy="0"/>
          </a:xfrm>
          <a:prstGeom prst="line">
            <a:avLst/>
          </a:prstGeom>
          <a:ln w="9525">
            <a:solidFill>
              <a:srgbClr val="E0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94360" y="1417320"/>
            <a:ext cx="3496970" cy="3703320"/>
          </a:xfrm>
          <a:prstGeom prst="roundRect">
            <a:avLst>
              <a:gd name="adj" fmla="val 8000"/>
            </a:avLst>
          </a:prstGeom>
          <a:solidFill>
            <a:srgbClr val="F7F8FC"/>
          </a:solidFill>
          <a:ln w="9525">
            <a:solidFill>
              <a:srgbClr val="E0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3496970" cy="64008"/>
          </a:xfrm>
          <a:prstGeom prst="roundRect">
            <a:avLst>
              <a:gd name="adj" fmla="val 50000"/>
            </a:avLst>
          </a:prstGeom>
          <a:solidFill>
            <a:srgbClr val="1E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" y="1618488"/>
            <a:ext cx="302148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E2F6B"/>
                </a:solidFill>
                <a:latin typeface="Montserrat"/>
              </a:rPr>
              <a:t>THE PHYSICS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" y="1892808"/>
            <a:ext cx="302148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41B3A"/>
                </a:solidFill>
                <a:latin typeface="Montserrat"/>
              </a:rPr>
              <a:t>354 hrs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2423160"/>
            <a:ext cx="302148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555C72"/>
                </a:solidFill>
                <a:latin typeface="Source Sans 3"/>
              </a:rPr>
              <a:t>of total darkness, every cycle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32104.0" y="2880360"/>
            <a:ext cx="3021482.3333333335" cy="0"/>
          </a:xfrm>
          <a:prstGeom prst="line">
            <a:avLst/>
          </a:prstGeom>
          <a:ln w="9525">
            <a:solidFill>
              <a:srgbClr val="E0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32104" y="3063240"/>
            <a:ext cx="302148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E2C"/>
                </a:solidFill>
                <a:latin typeface="Source Sans 3"/>
              </a:rPr>
              <a:t>•  The Moon is tidally locked: one rotation = one 29.5-day orbit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" y="3566160"/>
            <a:ext cx="302148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E2C"/>
                </a:solidFill>
                <a:latin typeface="Source Sans 3"/>
              </a:rPr>
              <a:t>•  → sunrise to sunrise (“lunar day”) = 29.5 Earth days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4069080"/>
            <a:ext cx="302148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E2C"/>
                </a:solidFill>
                <a:latin typeface="Source Sans 3"/>
              </a:rPr>
              <a:t>•  → continuous night ≈ 14.75 days = 354 hours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" y="4572000"/>
            <a:ext cx="302148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E2C"/>
                </a:solidFill>
                <a:latin typeface="Source Sans 3"/>
              </a:rPr>
              <a:t>•  No atmosphere → no convection — heat only radiates away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7362" y="1417320"/>
            <a:ext cx="3496970" cy="3703320"/>
          </a:xfrm>
          <a:prstGeom prst="roundRect">
            <a:avLst>
              <a:gd name="adj" fmla="val 8000"/>
            </a:avLst>
          </a:prstGeom>
          <a:solidFill>
            <a:srgbClr val="F7F8FC"/>
          </a:solidFill>
          <a:ln w="9525">
            <a:solidFill>
              <a:srgbClr val="E0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47362" y="1417320"/>
            <a:ext cx="3496970" cy="64008"/>
          </a:xfrm>
          <a:prstGeom prst="roundRect">
            <a:avLst>
              <a:gd name="adj" fmla="val 50000"/>
            </a:avLst>
          </a:prstGeom>
          <a:solidFill>
            <a:srgbClr val="A32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5106" y="1618488"/>
            <a:ext cx="302148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A32E35"/>
                </a:solidFill>
                <a:latin typeface="Montserrat"/>
              </a:rPr>
              <a:t>THE EXTREMES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5106" y="1892808"/>
            <a:ext cx="302148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41B3A"/>
                </a:solidFill>
                <a:latin typeface="Montserrat"/>
              </a:rPr>
              <a:t>257°C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5106" y="2423160"/>
            <a:ext cx="302148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555C72"/>
                </a:solidFill>
                <a:latin typeface="Source Sans 3"/>
              </a:rPr>
              <a:t>swing between sun and shadow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585106.333333334" y="2880360"/>
            <a:ext cx="3021482.333333334" cy="0"/>
          </a:xfrm>
          <a:prstGeom prst="line">
            <a:avLst/>
          </a:prstGeom>
          <a:ln w="9525">
            <a:solidFill>
              <a:srgbClr val="E0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585106" y="3063240"/>
            <a:ext cx="302148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E2C"/>
                </a:solidFill>
                <a:latin typeface="Source Sans 3"/>
              </a:rPr>
              <a:t>•  South Pole sunlit ground: up to 54°C (130°F)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5106" y="3566160"/>
            <a:ext cx="302148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E2C"/>
                </a:solidFill>
                <a:latin typeface="Source Sans 3"/>
              </a:rPr>
              <a:t>•  Nearby permanent shadow: as low as −203°C (−334°F)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85106" y="4069080"/>
            <a:ext cx="302148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E2C"/>
                </a:solidFill>
                <a:latin typeface="Source Sans 3"/>
              </a:rPr>
              <a:t>•  Colder than anywhere ever recorded on Earth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85106" y="4572000"/>
            <a:ext cx="302148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E2C"/>
                </a:solidFill>
                <a:latin typeface="Source Sans 3"/>
              </a:rPr>
              <a:t>•  Regolith insulates the subsurface, but can't power a base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00364" y="1417320"/>
            <a:ext cx="3496970" cy="3703320"/>
          </a:xfrm>
          <a:prstGeom prst="roundRect">
            <a:avLst>
              <a:gd name="adj" fmla="val 8000"/>
            </a:avLst>
          </a:prstGeom>
          <a:solidFill>
            <a:srgbClr val="F7F8FC"/>
          </a:solidFill>
          <a:ln w="9525">
            <a:solidFill>
              <a:srgbClr val="E0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100364" y="1417320"/>
            <a:ext cx="3496970" cy="64008"/>
          </a:xfrm>
          <a:prstGeom prst="roundRect">
            <a:avLst>
              <a:gd name="adj" fmla="val 50000"/>
            </a:avLst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8108" y="1618488"/>
            <a:ext cx="302148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E88B1F"/>
                </a:solidFill>
                <a:latin typeface="Montserrat"/>
              </a:rPr>
              <a:t>THE MATH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8108" y="1892808"/>
            <a:ext cx="302148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41B3A"/>
                </a:solidFill>
                <a:latin typeface="Montserrat"/>
              </a:rPr>
              <a:t>120 tons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8108" y="2423160"/>
            <a:ext cx="302148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555C72"/>
                </a:solidFill>
                <a:latin typeface="Source Sans 3"/>
              </a:rPr>
              <a:t>of batteries — for one night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338108.666666667" y="2880360"/>
            <a:ext cx="3021482.333333333" cy="0"/>
          </a:xfrm>
          <a:prstGeom prst="line">
            <a:avLst/>
          </a:prstGeom>
          <a:ln w="9525">
            <a:solidFill>
              <a:srgbClr val="E0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338108" y="3063240"/>
            <a:ext cx="302148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E2C"/>
                </a:solidFill>
                <a:latin typeface="Source Sans 3"/>
              </a:rPr>
              <a:t>•  40 kWe load × 354 hrs ≈ 14,160 kWh needed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8108" y="3566160"/>
            <a:ext cx="302148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E2C"/>
                </a:solidFill>
                <a:latin typeface="Source Sans 3"/>
              </a:rPr>
              <a:t>•  At Tesla Powerwall density (13.5 kWh / 114 kg):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38108" y="4069080"/>
            <a:ext cx="302148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E2C"/>
                </a:solidFill>
                <a:latin typeface="Source Sans 3"/>
              </a:rPr>
              <a:t>•  → ≈ 1,050 units ≈ 120 metric tons of batteries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8108" y="4572000"/>
            <a:ext cx="302148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E2C"/>
                </a:solidFill>
                <a:latin typeface="Source Sans 3"/>
              </a:rPr>
              <a:t>•  NASA's whole heavy-lander budget: 15 tons, total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5303520"/>
            <a:ext cx="11002975" cy="566928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 w="9525">
            <a:solidFill>
              <a:srgbClr val="E0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303520"/>
            <a:ext cx="1036289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FFFFFF"/>
                </a:solidFill>
                <a:latin typeface="Source Sans 3"/>
              </a:rPr>
              <a:t>THE ANSWER — a 40 kWe fission reactor, shielding, and radiators fit the same 15-ton lander and run for a 10-year design life. NASA calls this civil-space shortfall #1.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5989320"/>
            <a:ext cx="110029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8A90A3"/>
                </a:solidFill>
                <a:latin typeface="Source Sans 3"/>
              </a:rPr>
              <a:t>Sources: NASA — The Harsh Environment of the Lunar South Pole; NASA Fission Surface Power Program; NASA HLS Lunar Thermal Analysis Guidebook.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94360" y="6382512"/>
            <a:ext cx="11002975" cy="0"/>
          </a:xfrm>
          <a:prstGeom prst="line">
            <a:avLst/>
          </a:prstGeom>
          <a:ln w="9525">
            <a:solidFill>
              <a:srgbClr val="E0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94360" y="6473952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0A3"/>
                </a:solidFill>
                <a:latin typeface="Source Sans 3"/>
              </a:rPr>
              <a:t>MoonDAO  ·  Deep Space and the Lunar Economy  ·  2nd Space Industry Workshop Brazil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08615" y="6473952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0A3"/>
                </a:solidFill>
                <a:latin typeface="Montserrat"/>
              </a:rPr>
              <a:t>07  / 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88B1F"/>
                </a:solidFill>
                <a:latin typeface="Montserrat"/>
              </a:rPr>
              <a:t>FUNDING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486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Moonbase Zero</a:t>
            </a:r>
          </a:p>
        </p:txBody>
      </p:sp>
      <p:pic>
        <p:nvPicPr>
          <p:cNvPr id="5" name="Picture 4" descr="moondao_mar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7626" y="365760"/>
            <a:ext cx="479708" cy="502920"/>
          </a:xfrm>
          <a:prstGeom prst="rect">
            <a:avLst/>
          </a:prstGeom>
        </p:spPr>
      </p:pic>
      <p:pic>
        <p:nvPicPr>
          <p:cNvPr id="6" name="Picture 5" descr="moonbase_real_moonbase_main_ro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88720"/>
            <a:ext cx="5373471" cy="3910233"/>
          </a:xfrm>
          <a:prstGeom prst="rect">
            <a:avLst/>
          </a:prstGeom>
        </p:spPr>
      </p:pic>
      <p:pic>
        <p:nvPicPr>
          <p:cNvPr id="7" name="Picture 6" descr="moonbase_real_moonbase_lander_detail_roun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863" y="1188720"/>
            <a:ext cx="5373471" cy="391023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94360" y="5245257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245257"/>
            <a:ext cx="1783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ontserrat"/>
              </a:rPr>
              <a:t>IN 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5245257"/>
            <a:ext cx="2743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7CCE4"/>
                </a:solidFill>
                <a:latin typeface="Source Sans 3"/>
              </a:rPr>
              <a:t>moondao.com/moonbase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3863" y="5245257"/>
            <a:ext cx="5373471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C7CCE4"/>
                </a:solidFill>
                <a:latin typeface="Source Sans 3"/>
              </a:rPr>
              <a:t>Click a race to see live competitors, criteria, and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989320"/>
            <a:ext cx="110029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9AA1BF"/>
                </a:solidFill>
                <a:latin typeface="Source Sans 3"/>
              </a:rPr>
              <a:t>A true-to-scale 3D site on the Shackleton connecting ridge — 8 capability races, 24 real competitors, all publicly sourced.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AFB6CC"/>
                </a:solidFill>
                <a:latin typeface="Source Sans 3"/>
              </a:rPr>
              <a:t>MoonDAO  ·  Deep Space and the Lunar Economy  ·  2nd Space Industry Workshop Brazil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08615" y="6473952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AFB6CC"/>
                </a:solidFill>
                <a:latin typeface="Montserrat"/>
              </a:rPr>
              <a:t>08  / 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8778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88B1F"/>
                </a:solidFill>
                <a:latin typeface="Montserrat"/>
              </a:rPr>
              <a:t>THE BIGGER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89611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41B3A"/>
                </a:solidFill>
                <a:latin typeface="Montserrat"/>
              </a:rPr>
              <a:t>A Level Playing Field for the Next Space Age</a:t>
            </a:r>
          </a:p>
        </p:txBody>
      </p:sp>
      <p:pic>
        <p:nvPicPr>
          <p:cNvPr id="5" name="Picture 4" descr="MoonDA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347472"/>
            <a:ext cx="1325880" cy="370988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594360" y="1170432"/>
            <a:ext cx="11002975" cy="0"/>
          </a:xfrm>
          <a:prstGeom prst="line">
            <a:avLst/>
          </a:prstGeom>
          <a:ln w="9525">
            <a:solidFill>
              <a:srgbClr val="E0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1554480"/>
            <a:ext cx="6492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41B3A"/>
                </a:solidFill>
                <a:latin typeface="Montserrat"/>
              </a:rPr>
              <a:t>Deep space used to require a national agency — or a billionaire.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68880"/>
            <a:ext cx="64922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0"/>
              </a:spcAft>
            </a:pPr>
            <a:r>
              <a:rPr sz="1650" b="1">
                <a:solidFill>
                  <a:srgbClr val="E88B1F"/>
                </a:solidFill>
                <a:latin typeface="Montserrat"/>
              </a:rPr>
              <a:t>—  </a:t>
            </a:r>
            <a:r>
              <a:rPr sz="1650" b="1">
                <a:solidFill>
                  <a:srgbClr val="1A1E2C"/>
                </a:solidFill>
                <a:latin typeface="Montserrat"/>
              </a:rPr>
              <a:t>Permissionless. </a:t>
            </a:r>
            <a:r>
              <a:rPr sz="1650" b="0">
                <a:solidFill>
                  <a:srgbClr val="555C72"/>
                </a:solidFill>
                <a:latin typeface="Source Sans 3"/>
              </a:rPr>
              <a:t>Any country, company, or individual can fund and compete.</a:t>
            </a:r>
          </a:p>
          <a:p>
            <a:pPr algn="l">
              <a:lnSpc>
                <a:spcPct val="120000"/>
              </a:lnSpc>
              <a:spcAft>
                <a:spcPts val="2000"/>
              </a:spcAft>
            </a:pPr>
            <a:r>
              <a:rPr sz="1650" b="1">
                <a:solidFill>
                  <a:srgbClr val="E88B1F"/>
                </a:solidFill>
                <a:latin typeface="Montserrat"/>
              </a:rPr>
              <a:t>—  </a:t>
            </a:r>
            <a:r>
              <a:rPr sz="1650" b="1">
                <a:solidFill>
                  <a:srgbClr val="1A1E2C"/>
                </a:solidFill>
                <a:latin typeface="Montserrat"/>
              </a:rPr>
              <a:t>Already global. </a:t>
            </a:r>
            <a:r>
              <a:rPr sz="1650" b="0">
                <a:solidFill>
                  <a:srgbClr val="555C72"/>
                </a:solidFill>
                <a:latin typeface="Source Sans 3"/>
              </a:rPr>
              <a:t>25+ countries in the Space Acceleration Network.</a:t>
            </a:r>
          </a:p>
          <a:p>
            <a:pPr algn="l">
              <a:lnSpc>
                <a:spcPct val="120000"/>
              </a:lnSpc>
              <a:spcAft>
                <a:spcPts val="2000"/>
              </a:spcAft>
            </a:pPr>
            <a:r>
              <a:rPr sz="1650" b="1">
                <a:solidFill>
                  <a:srgbClr val="E88B1F"/>
                </a:solidFill>
                <a:latin typeface="Montserrat"/>
              </a:rPr>
              <a:t>—  </a:t>
            </a:r>
            <a:r>
              <a:rPr sz="1650" b="1">
                <a:solidFill>
                  <a:srgbClr val="1A1E2C"/>
                </a:solidFill>
                <a:latin typeface="Montserrat"/>
              </a:rPr>
              <a:t>An open invitation. </a:t>
            </a:r>
            <a:r>
              <a:rPr sz="1650" b="0">
                <a:solidFill>
                  <a:srgbClr val="555C72"/>
                </a:solidFill>
                <a:latin typeface="Source Sans 3"/>
              </a:rPr>
              <a:t>To anyone in this room — and your own ecosystem back home.</a:t>
            </a:r>
          </a:p>
        </p:txBody>
      </p:sp>
      <p:pic>
        <p:nvPicPr>
          <p:cNvPr id="9" name="Picture 8" descr="reference_space_acceleration_network_ro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2423160"/>
            <a:ext cx="4144975" cy="233672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94360" y="5212080"/>
            <a:ext cx="349697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0E4EF"/>
            </a:solidFill>
          </a:ln>
          <a:effectLst/>
          <a:effectLst>
            <a:outerShdw blurRad="70000" dist="28000" dir="5400000" rotWithShape="0">
              <a:srgbClr val="141B3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4360" y="5212080"/>
            <a:ext cx="54864" cy="960120"/>
          </a:xfrm>
          <a:prstGeom prst="roundRect">
            <a:avLst>
              <a:gd name="adj" fmla="val 50000"/>
            </a:avLst>
          </a:prstGeom>
          <a:solidFill>
            <a:srgbClr val="1E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5376672"/>
            <a:ext cx="303977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41B3A"/>
                </a:solidFill>
                <a:latin typeface="Montserrat"/>
              </a:rPr>
              <a:t>25+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5669280"/>
            <a:ext cx="303977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C72"/>
                </a:solidFill>
                <a:latin typeface="Source Sans 3"/>
              </a:rPr>
              <a:t>Countries in the</a:t>
            </a:r>
          </a:p>
          <a:p>
            <a:pPr algn="l"/>
            <a:r>
              <a:rPr sz="1100" b="0" i="0">
                <a:solidFill>
                  <a:srgbClr val="555C72"/>
                </a:solidFill>
                <a:latin typeface="Source Sans 3"/>
              </a:rPr>
              <a:t>Space Acceleration Network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7362" y="5212080"/>
            <a:ext cx="349697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0E4EF"/>
            </a:solidFill>
          </a:ln>
          <a:effectLst/>
          <a:effectLst>
            <a:outerShdw blurRad="70000" dist="28000" dir="5400000" rotWithShape="0">
              <a:srgbClr val="141B3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47362" y="5212080"/>
            <a:ext cx="54864" cy="960120"/>
          </a:xfrm>
          <a:prstGeom prst="roundRect">
            <a:avLst>
              <a:gd name="adj" fmla="val 50000"/>
            </a:avLst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03394" y="5376672"/>
            <a:ext cx="303977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41B3A"/>
                </a:solidFill>
                <a:latin typeface="Montserrat"/>
              </a:rPr>
              <a:t>12,000+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3394" y="5669280"/>
            <a:ext cx="303977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C72"/>
                </a:solidFill>
                <a:latin typeface="Source Sans 3"/>
              </a:rPr>
              <a:t>$MOONEY</a:t>
            </a:r>
          </a:p>
          <a:p>
            <a:pPr algn="l"/>
            <a:r>
              <a:rPr sz="1100" b="0" i="0">
                <a:solidFill>
                  <a:srgbClr val="555C72"/>
                </a:solidFill>
                <a:latin typeface="Source Sans 3"/>
              </a:rPr>
              <a:t>token holders worldwide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0364" y="5212080"/>
            <a:ext cx="349697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0E4EF"/>
            </a:solidFill>
          </a:ln>
          <a:effectLst/>
          <a:effectLst>
            <a:outerShdw blurRad="70000" dist="28000" dir="5400000" rotWithShape="0">
              <a:srgbClr val="141B3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00364" y="5212080"/>
            <a:ext cx="54864" cy="960120"/>
          </a:xfrm>
          <a:prstGeom prst="roundRect">
            <a:avLst>
              <a:gd name="adj" fmla="val 50000"/>
            </a:avLst>
          </a:prstGeom>
          <a:solidFill>
            <a:srgbClr val="A32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6396" y="5376672"/>
            <a:ext cx="303977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41B3A"/>
                </a:solidFill>
                <a:latin typeface="Montserrat"/>
              </a:rPr>
              <a:t>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6396" y="5669280"/>
            <a:ext cx="303977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C72"/>
                </a:solidFill>
                <a:latin typeface="Source Sans 3"/>
              </a:rPr>
              <a:t>Onchain, transparent</a:t>
            </a:r>
          </a:p>
          <a:p>
            <a:pPr algn="l"/>
            <a:r>
              <a:rPr sz="1100" b="0" i="0">
                <a:solidFill>
                  <a:srgbClr val="555C72"/>
                </a:solidFill>
                <a:latin typeface="Source Sans 3"/>
              </a:rPr>
              <a:t>votes &amp; treasury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4360" y="6382512"/>
            <a:ext cx="11002975" cy="0"/>
          </a:xfrm>
          <a:prstGeom prst="line">
            <a:avLst/>
          </a:prstGeom>
          <a:ln w="9525">
            <a:solidFill>
              <a:srgbClr val="E0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94360" y="6473952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0A3"/>
                </a:solidFill>
                <a:latin typeface="Source Sans 3"/>
              </a:rPr>
              <a:t>MoonDAO  ·  Deep Space and the Lunar Economy  ·  2nd Space Industry Workshop Brazil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08615" y="6473952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0A3"/>
                </a:solidFill>
                <a:latin typeface="Montserrat"/>
              </a:rPr>
              <a:t>09  / 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88B1F"/>
                </a:solidFill>
                <a:latin typeface="Montserrat"/>
              </a:rPr>
              <a:t>THE BIGGER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4864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Our Global Citizens</a:t>
            </a:r>
          </a:p>
        </p:txBody>
      </p:sp>
      <p:pic>
        <p:nvPicPr>
          <p:cNvPr id="5" name="Picture 4" descr="moondao_mar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7626" y="365760"/>
            <a:ext cx="479708" cy="502920"/>
          </a:xfrm>
          <a:prstGeom prst="rect">
            <a:avLst/>
          </a:prstGeom>
        </p:spPr>
      </p:pic>
      <p:pic>
        <p:nvPicPr>
          <p:cNvPr id="6" name="Picture 5" descr="reference_moondao_citizens_network_ro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9927" y="1188720"/>
            <a:ext cx="8371840" cy="4709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025896"/>
            <a:ext cx="110029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9AA1BF"/>
                </a:solidFill>
                <a:latin typeface="Source Sans 3"/>
              </a:rPr>
              <a:t>12,000+ $MOONEY holders and a growing roster of onchain “citizens” — engineers, artists, and space professionals — building this together.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AFB6CC"/>
                </a:solidFill>
                <a:latin typeface="Source Sans 3"/>
              </a:rPr>
              <a:t>MoonDAO  ·  Deep Space and the Lunar Economy  ·  2nd Space Industry Workshop Brazil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08615" y="6473952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AFB6CC"/>
                </a:solidFill>
                <a:latin typeface="Montserrat"/>
              </a:rPr>
              <a:t>10  / 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erence_earth_sunrise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331720"/>
            <a:ext cx="10149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E88B1F"/>
                </a:solidFill>
                <a:latin typeface="Montserrat"/>
              </a:rPr>
              <a:t>THE NEXT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788920"/>
            <a:ext cx="101498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Montserrat"/>
              </a:rPr>
              <a:t>Go to Space with Frank White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3794760"/>
            <a:ext cx="8869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50" b="0" i="0">
                <a:solidFill>
                  <a:srgbClr val="E6E9F5"/>
                </a:solidFill>
                <a:latin typeface="Source Sans 3"/>
              </a:rPr>
              <a:t>Funding a flight for the author of “The Overview Effect” — and one MoonDAO community member — to finally see Earth from space.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AFB6CC"/>
                </a:solidFill>
                <a:latin typeface="Source Sans 3"/>
              </a:rPr>
              <a:t>MoonDAO  ·  Deep Space and the Lunar Economy  ·  2nd Space Industry Workshop Brazil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08615" y="6473952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AFB6CC"/>
                </a:solidFill>
                <a:latin typeface="Montserrat"/>
              </a:rPr>
              <a:t>11  / 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8778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88B1F"/>
                </a:solidFill>
                <a:latin typeface="Montserrat"/>
              </a:rPr>
              <a:t>THE NEXT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89611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41B3A"/>
                </a:solidFill>
                <a:latin typeface="Montserrat"/>
              </a:rPr>
              <a:t>Who Is Frank White</a:t>
            </a:r>
          </a:p>
        </p:txBody>
      </p:sp>
      <p:pic>
        <p:nvPicPr>
          <p:cNvPr id="5" name="Picture 4" descr="MoonDA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347472"/>
            <a:ext cx="1325880" cy="370988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594360" y="1170432"/>
            <a:ext cx="11002975" cy="0"/>
          </a:xfrm>
          <a:prstGeom prst="line">
            <a:avLst/>
          </a:prstGeom>
          <a:ln w="9525">
            <a:solidFill>
              <a:srgbClr val="E0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reference_frank_white_real_photo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1554480"/>
            <a:ext cx="2103120" cy="2103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379476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141B3A"/>
                </a:solidFill>
                <a:latin typeface="Montserrat"/>
              </a:rPr>
              <a:t>Frank White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11480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55C72"/>
                </a:solidFill>
                <a:latin typeface="Source Sans 3"/>
              </a:rPr>
              <a:t>Author, “The Overview Effect”</a:t>
            </a:r>
          </a:p>
        </p:txBody>
      </p:sp>
      <p:pic>
        <p:nvPicPr>
          <p:cNvPr id="10" name="Picture 9" descr="reference_overview_effect_book_roun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3080" y="4526280"/>
            <a:ext cx="1188720" cy="1783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4360" y="6364224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8A90A3"/>
                </a:solidFill>
                <a:latin typeface="Source Sans 3"/>
              </a:rPr>
              <a:t>“The Overview Effect,” 4th 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691640"/>
            <a:ext cx="6888175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800"/>
              </a:spcAft>
            </a:pPr>
            <a:r>
              <a:rPr sz="1600" b="1">
                <a:solidFill>
                  <a:srgbClr val="E88B1F"/>
                </a:solidFill>
                <a:latin typeface="Montserrat"/>
              </a:rPr>
              <a:t>—  </a:t>
            </a:r>
            <a:r>
              <a:rPr sz="1600" b="1">
                <a:solidFill>
                  <a:srgbClr val="1A1E2C"/>
                </a:solidFill>
                <a:latin typeface="Montserrat"/>
              </a:rPr>
              <a:t>Coined “the Overview Effect.” </a:t>
            </a:r>
            <a:r>
              <a:rPr sz="1600" b="0">
                <a:solidFill>
                  <a:srgbClr val="555C72"/>
                </a:solidFill>
                <a:latin typeface="Source Sans 3"/>
              </a:rPr>
              <a:t>The name for the shift astronauts feel seeing Earth from space.</a:t>
            </a:r>
          </a:p>
          <a:p>
            <a:pPr algn="l">
              <a:lnSpc>
                <a:spcPct val="120000"/>
              </a:lnSpc>
              <a:spcAft>
                <a:spcPts val="1800"/>
              </a:spcAft>
            </a:pPr>
            <a:r>
              <a:rPr sz="1600" b="1">
                <a:solidFill>
                  <a:srgbClr val="E88B1F"/>
                </a:solidFill>
                <a:latin typeface="Montserrat"/>
              </a:rPr>
              <a:t>—  </a:t>
            </a:r>
            <a:r>
              <a:rPr sz="1600" b="1">
                <a:solidFill>
                  <a:srgbClr val="1A1E2C"/>
                </a:solidFill>
                <a:latin typeface="Montserrat"/>
              </a:rPr>
              <a:t>40 years of research. </a:t>
            </a:r>
            <a:r>
              <a:rPr sz="1600" b="0">
                <a:solidFill>
                  <a:srgbClr val="555C72"/>
                </a:solidFill>
                <a:latin typeface="Source Sans 3"/>
              </a:rPr>
              <a:t>Interviewed 50+ astronauts and cosmonauts.</a:t>
            </a:r>
          </a:p>
          <a:p>
            <a:pPr algn="l">
              <a:lnSpc>
                <a:spcPct val="120000"/>
              </a:lnSpc>
              <a:spcAft>
                <a:spcPts val="1800"/>
              </a:spcAft>
            </a:pPr>
            <a:r>
              <a:rPr sz="1600" b="1">
                <a:solidFill>
                  <a:srgbClr val="E88B1F"/>
                </a:solidFill>
                <a:latin typeface="Montserrat"/>
              </a:rPr>
              <a:t>—  </a:t>
            </a:r>
            <a:r>
              <a:rPr sz="1600" b="1">
                <a:solidFill>
                  <a:srgbClr val="1A1E2C"/>
                </a:solidFill>
                <a:latin typeface="Montserrat"/>
              </a:rPr>
              <a:t>Shaped the industry. </a:t>
            </a:r>
            <a:r>
              <a:rPr sz="1600" b="0">
                <a:solidFill>
                  <a:srgbClr val="555C72"/>
                </a:solidFill>
                <a:latin typeface="Source Sans 3"/>
              </a:rPr>
              <a:t>Co-founded the Overview Institute; inspired a documentary.</a:t>
            </a:r>
          </a:p>
          <a:p>
            <a:pPr algn="l">
              <a:lnSpc>
                <a:spcPct val="120000"/>
              </a:lnSpc>
              <a:spcAft>
                <a:spcPts val="1800"/>
              </a:spcAft>
            </a:pPr>
            <a:r>
              <a:rPr sz="1600" b="1">
                <a:solidFill>
                  <a:srgbClr val="E88B1F"/>
                </a:solidFill>
                <a:latin typeface="Montserrat"/>
              </a:rPr>
              <a:t>—  </a:t>
            </a:r>
            <a:r>
              <a:rPr sz="1600" b="1">
                <a:solidFill>
                  <a:srgbClr val="1A1E2C"/>
                </a:solidFill>
                <a:latin typeface="Montserrat"/>
              </a:rPr>
              <a:t>Has never been to space.</a:t>
            </a:r>
            <a:r>
              <a:rPr sz="1600" b="0">
                <a:solidFill>
                  <a:srgbClr val="555C72"/>
                </a:solidFill>
                <a:latin typeface="Source Sans 3"/>
              </a:rPr>
              <a:t/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4754880"/>
            <a:ext cx="6888175" cy="1143000"/>
          </a:xfrm>
          <a:prstGeom prst="roundRect">
            <a:avLst>
              <a:gd name="adj" fmla="val 10000"/>
            </a:avLst>
          </a:prstGeom>
          <a:solidFill>
            <a:srgbClr val="EEF0F7"/>
          </a:solidFill>
          <a:ln w="9525">
            <a:solidFill>
              <a:srgbClr val="E0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892040"/>
            <a:ext cx="6339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141B3A"/>
                </a:solidFill>
                <a:latin typeface="Source Sans 3"/>
              </a:rPr>
              <a:t>“Astronauts describe seeing Earth from space as an instant, visceral realization that we share one planet, one atmosphere, one destiny — the Overview Effect.”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6382512"/>
            <a:ext cx="11002975" cy="0"/>
          </a:xfrm>
          <a:prstGeom prst="line">
            <a:avLst/>
          </a:prstGeom>
          <a:ln w="9525">
            <a:solidFill>
              <a:srgbClr val="E0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473952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0A3"/>
                </a:solidFill>
                <a:latin typeface="Source Sans 3"/>
              </a:rPr>
              <a:t>MoonDAO  ·  Deep Space and the Lunar Economy  ·  2nd Space Industry Workshop Brazil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8615" y="6473952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0A3"/>
                </a:solidFill>
                <a:latin typeface="Montserrat"/>
              </a:rPr>
              <a:t>12  / 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8778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88B1F"/>
                </a:solidFill>
                <a:latin typeface="Montserrat"/>
              </a:rPr>
              <a:t>THE NEXT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89611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41B3A"/>
                </a:solidFill>
                <a:latin typeface="Montserrat"/>
              </a:rPr>
              <a:t>Fly to Space with Frank White</a:t>
            </a:r>
          </a:p>
        </p:txBody>
      </p:sp>
      <p:pic>
        <p:nvPicPr>
          <p:cNvPr id="5" name="Picture 4" descr="MoonDA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347472"/>
            <a:ext cx="1325880" cy="370988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594360" y="1170432"/>
            <a:ext cx="11002975" cy="0"/>
          </a:xfrm>
          <a:prstGeom prst="line">
            <a:avLst/>
          </a:prstGeom>
          <a:ln w="9525">
            <a:solidFill>
              <a:srgbClr val="E0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94360" y="1463040"/>
            <a:ext cx="3454298" cy="3977639"/>
          </a:xfrm>
          <a:prstGeom prst="roundRect">
            <a:avLst>
              <a:gd name="adj" fmla="val 8000"/>
            </a:avLst>
          </a:prstGeom>
          <a:solidFill>
            <a:srgbClr val="F7F8FC"/>
          </a:solidFill>
          <a:ln w="9525">
            <a:solidFill>
              <a:srgbClr val="E0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1005840" y="1783080"/>
          <a:ext cx="2631338.3333333335" cy="21488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05840" y="2514600"/>
            <a:ext cx="263133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141B3A"/>
                </a:solidFill>
                <a:latin typeface="Montserrat"/>
              </a:rPr>
              <a:t>69%</a:t>
            </a:r>
          </a:p>
          <a:p>
            <a:pPr algn="ctr"/>
            <a:r>
              <a:rPr sz="1600" b="1" i="0">
                <a:solidFill>
                  <a:srgbClr val="141B3A"/>
                </a:solidFill>
                <a:latin typeface="Montserrat"/>
              </a:rPr>
              <a:t>funded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14800"/>
            <a:ext cx="30885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141B3A"/>
                </a:solidFill>
                <a:latin typeface="Montserrat"/>
              </a:rPr>
              <a:t>$172K of $250K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30885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555C72"/>
                </a:solidFill>
                <a:latin typeface="Source Sans 3"/>
              </a:rPr>
              <a:t>157 contributors</a:t>
            </a:r>
          </a:p>
          <a:p>
            <a:pPr algn="ctr"/>
            <a:r>
              <a:rPr sz="1150" b="0" i="0">
                <a:solidFill>
                  <a:srgbClr val="555C72"/>
                </a:solidFill>
                <a:latin typeface="Source Sans 3"/>
              </a:rPr>
              <a:t>goal secures a seat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8698" y="1463040"/>
            <a:ext cx="3454298" cy="3977639"/>
          </a:xfrm>
          <a:prstGeom prst="roundRect">
            <a:avLst>
              <a:gd name="adj" fmla="val 8000"/>
            </a:avLst>
          </a:prstGeom>
          <a:solidFill>
            <a:srgbClr val="F7F8FC"/>
          </a:solidFill>
          <a:ln w="9525">
            <a:solidFill>
              <a:srgbClr val="E0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7298" y="1664208"/>
            <a:ext cx="299709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1B3A"/>
                </a:solidFill>
                <a:latin typeface="Montserrat"/>
              </a:rPr>
              <a:t>Top candidates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7298" y="1938528"/>
            <a:ext cx="299709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90A3"/>
                </a:solidFill>
                <a:latin typeface="Source Sans 3"/>
              </a:rPr>
              <a:t>25 advance to Round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9866" y="248716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8A90A3"/>
                </a:solidFill>
                <a:latin typeface="Montserrat"/>
              </a:rPr>
              <a:t>1</a:t>
            </a:r>
          </a:p>
        </p:txBody>
      </p:sp>
      <p:pic>
        <p:nvPicPr>
          <p:cNvPr id="16" name="Picture 15" descr="leaderboard_citizen_7_parris_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1618" y="2450592"/>
            <a:ext cx="502920" cy="5029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511698" y="2423160"/>
            <a:ext cx="203697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41B3A"/>
                </a:solidFill>
                <a:latin typeface="Montserrat"/>
              </a:rPr>
              <a:t>Andrew "Titan" Parris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11698" y="2724912"/>
            <a:ext cx="2036978" cy="1097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511698" y="2724912"/>
            <a:ext cx="2036978" cy="109728"/>
          </a:xfrm>
          <a:prstGeom prst="roundRect">
            <a:avLst>
              <a:gd name="adj" fmla="val 50000"/>
            </a:avLst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11698" y="2880360"/>
            <a:ext cx="203697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55C72"/>
                </a:solidFill>
                <a:latin typeface="Source Sans 3"/>
              </a:rPr>
              <a:t>2,083 $OVERVIEW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9866" y="335584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8A90A3"/>
                </a:solidFill>
                <a:latin typeface="Montserrat"/>
              </a:rPr>
              <a:t>2</a:t>
            </a:r>
          </a:p>
        </p:txBody>
      </p:sp>
      <p:pic>
        <p:nvPicPr>
          <p:cNvPr id="22" name="Picture 21" descr="leaderboard_citizen_engibob_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1618" y="3319272"/>
            <a:ext cx="502920" cy="5029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511698" y="3291840"/>
            <a:ext cx="203697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41B3A"/>
                </a:solidFill>
                <a:latin typeface="Montserrat"/>
              </a:rPr>
              <a:t>EngiBob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11698" y="3593592"/>
            <a:ext cx="2036978" cy="1097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511698" y="3593592"/>
            <a:ext cx="664976" cy="109728"/>
          </a:xfrm>
          <a:prstGeom prst="roundRect">
            <a:avLst>
              <a:gd name="adj" fmla="val 50000"/>
            </a:avLst>
          </a:prstGeom>
          <a:solidFill>
            <a:srgbClr val="1E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11698" y="3749040"/>
            <a:ext cx="203697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55C72"/>
                </a:solidFill>
                <a:latin typeface="Source Sans 3"/>
              </a:rPr>
              <a:t>680 $OVERVIEW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9866" y="422452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8A90A3"/>
                </a:solidFill>
                <a:latin typeface="Montserrat"/>
              </a:rPr>
              <a:t>3</a:t>
            </a:r>
          </a:p>
        </p:txBody>
      </p:sp>
      <p:pic>
        <p:nvPicPr>
          <p:cNvPr id="28" name="Picture 27" descr="leaderboard_citizen_184_jas_circ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1618" y="4187952"/>
            <a:ext cx="502920" cy="5029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511698" y="4160520"/>
            <a:ext cx="203697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41B3A"/>
                </a:solidFill>
                <a:latin typeface="Montserrat"/>
              </a:rPr>
              <a:t>Jas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11698" y="4462272"/>
            <a:ext cx="2036978" cy="1097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511698" y="4462272"/>
            <a:ext cx="637594" cy="109728"/>
          </a:xfrm>
          <a:prstGeom prst="roundRect">
            <a:avLst>
              <a:gd name="adj" fmla="val 50000"/>
            </a:avLst>
          </a:prstGeom>
          <a:solidFill>
            <a:srgbClr val="2B4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11698" y="4617720"/>
            <a:ext cx="203697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55C72"/>
                </a:solidFill>
                <a:latin typeface="Source Sans 3"/>
              </a:rPr>
              <a:t>652 $OVERVIEW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97298" y="5074920"/>
            <a:ext cx="299709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0A3"/>
                </a:solidFill>
                <a:latin typeface="Source Sans 3"/>
              </a:rPr>
              <a:t>Any Citizen can enter and climb.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43036" y="1463040"/>
            <a:ext cx="3454298" cy="3977639"/>
          </a:xfrm>
          <a:prstGeom prst="roundRect">
            <a:avLst>
              <a:gd name="adj" fmla="val 8000"/>
            </a:avLst>
          </a:prstGeom>
          <a:solidFill>
            <a:srgbClr val="F7F8FC"/>
          </a:solidFill>
          <a:ln w="9525">
            <a:solidFill>
              <a:srgbClr val="E0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791193" y="1965960"/>
            <a:ext cx="2157984" cy="21579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0E4EF"/>
            </a:solidFill>
          </a:ln>
          <a:effectLst/>
          <a:effectLst>
            <a:outerShdw blurRad="70000" dist="28000" dir="5400000" rotWithShape="0">
              <a:srgbClr val="141B3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qr_leaderbo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55785" y="2130552"/>
            <a:ext cx="1828800" cy="1828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325916" y="4352544"/>
            <a:ext cx="308853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41B3A"/>
                </a:solidFill>
                <a:latin typeface="Montserrat"/>
              </a:rPr>
              <a:t>Support Frank &amp;</a:t>
            </a:r>
          </a:p>
          <a:p>
            <a:pPr algn="ctr"/>
            <a:r>
              <a:rPr sz="1300" b="1" i="0">
                <a:solidFill>
                  <a:srgbClr val="141B3A"/>
                </a:solidFill>
                <a:latin typeface="Montserrat"/>
              </a:rPr>
              <a:t>Back a Candidate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5916" y="4901184"/>
            <a:ext cx="308853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A90A3"/>
                </a:solidFill>
                <a:latin typeface="Source Sans 3"/>
              </a:rPr>
              <a:t>moondao.com/overview-vote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5623560"/>
            <a:ext cx="11002975" cy="457200"/>
          </a:xfrm>
          <a:prstGeom prst="roundRect">
            <a:avLst>
              <a:gd name="adj" fmla="val 20000"/>
            </a:avLst>
          </a:prstGeom>
          <a:solidFill>
            <a:srgbClr val="EEF0F7"/>
          </a:solidFill>
          <a:ln w="9525">
            <a:solidFill>
              <a:srgbClr val="E0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623560"/>
            <a:ext cx="1036289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141B3A"/>
                </a:solidFill>
                <a:latin typeface="Source Sans 3"/>
              </a:rPr>
              <a:t>$100+ grants free citizenship — and a shot at flying alongside Frank.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94360" y="6382512"/>
            <a:ext cx="11002975" cy="0"/>
          </a:xfrm>
          <a:prstGeom prst="line">
            <a:avLst/>
          </a:prstGeom>
          <a:ln w="9525">
            <a:solidFill>
              <a:srgbClr val="E0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94360" y="6473952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0A3"/>
                </a:solidFill>
                <a:latin typeface="Source Sans 3"/>
              </a:rPr>
              <a:t>MoonDAO  ·  Deep Space and the Lunar Economy  ·  2nd Space Industry Workshop Brazil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08615" y="6473952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0A3"/>
                </a:solidFill>
                <a:latin typeface="Montserrat"/>
              </a:rPr>
              <a:t>13  / 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arthrise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oondao_mar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1942" y="731520"/>
            <a:ext cx="540762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2432" y="731520"/>
            <a:ext cx="292608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ontserrat"/>
              </a:rPr>
              <a:t>MOON</a:t>
            </a:r>
            <a:r>
              <a:rPr sz="1200" b="1">
                <a:solidFill>
                  <a:srgbClr val="FFFFFF"/>
                </a:solidFill>
                <a:latin typeface="Montserrat"/>
              </a:rPr>
              <a:t>DAO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50876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Montserrat"/>
              </a:rPr>
              <a:t>Let's Build the Lunar Economy Together</a:t>
            </a:r>
          </a:p>
        </p:txBody>
      </p:sp>
      <p:pic>
        <p:nvPicPr>
          <p:cNvPr id="7" name="Picture 6" descr="pablo_headshot_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2514600"/>
            <a:ext cx="1280160" cy="1280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7280" y="3977639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ontserrat"/>
              </a:rPr>
              <a:t>Pablo Moncada-Larrotiz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31596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CBD1E6"/>
                </a:solidFill>
                <a:latin typeface="Source Sans 3"/>
              </a:rPr>
              <a:t>Founder &amp; Executive Director, MoonDAO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6634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CBD1E6"/>
                </a:solidFill>
                <a:latin typeface="Source Sans 3"/>
              </a:rPr>
              <a:t>pablo@moondao.com   ·   @pablo_moncada_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309360" y="2560320"/>
            <a:ext cx="0" cy="2606040"/>
          </a:xfrm>
          <a:prstGeom prst="line">
            <a:avLst/>
          </a:prstGeom>
          <a:ln w="12700">
            <a:solidFill>
              <a:srgbClr val="3A4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831836" y="2514600"/>
            <a:ext cx="1929384" cy="1929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  <a:effectLst>
            <a:outerShdw blurRad="70000" dist="28000" dir="5400000" rotWithShape="0">
              <a:srgbClr val="141B3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qr_join_moonda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6428" y="2679192"/>
            <a:ext cx="1600200" cy="1600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457200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Montserrat"/>
              </a:rPr>
              <a:t>Scan to Join MoonDAO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490118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CBD1E6"/>
                </a:solidFill>
                <a:latin typeface="Source Sans 3"/>
              </a:rPr>
              <a:t>moondao.com/join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98932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6B962"/>
                </a:solidFill>
                <a:latin typeface="Montserrat"/>
              </a:rPr>
              <a:t>moondao.com   ·   Discord: moondao.com/discord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AFB6CC"/>
                </a:solidFill>
                <a:latin typeface="Source Sans 3"/>
              </a:rPr>
              <a:t>MoonDAO  ·  Deep Space and the Lunar Economy  ·  2nd Space Industry Workshop Brazil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08615" y="6473952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AFB6CC"/>
                </a:solidFill>
                <a:latin typeface="Montserrat"/>
              </a:rPr>
              <a:t>14  / 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