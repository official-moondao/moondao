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dPt>
            <c:idx val="0"/>
            <c:spPr>
              <a:solidFill>
                <a:srgbClr val="E88B1F"/>
              </a:solidFill>
              <a:ln w="25400">
                <a:solidFill>
                  <a:srgbClr val="FFFFFF"/>
                </a:solidFill>
              </a:ln>
            </c:spPr>
          </c:dPt>
          <c:dPt>
            <c:idx val="1"/>
            <c:spPr>
              <a:solidFill>
                <a:srgbClr val="DDE1EC"/>
              </a:solidFill>
              <a:ln w="25400">
                <a:solidFill>
                  <a:srgbClr val="FFFFFF"/>
                </a:solidFill>
              </a:ln>
            </c:spPr>
          </c:dPt>
          <c:cat>
            <c:strRef>
              <c:f>Sheet1!$A$2:$A$3</c:f>
              <c:strCache>
                <c:ptCount val="2"/>
                <c:pt idx="0">
                  <c:v>Raised</c:v>
                </c:pt>
                <c:pt idx="1">
                  <c:v>Remaining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172</c:v>
                </c:pt>
                <c:pt idx="1">
                  <c:v>78</c:v>
                </c:pt>
              </c:numCache>
            </c:numRef>
          </c:val>
        </c:ser>
        <c:firstSliceAng val="0"/>
        <c:holeSize val="50"/>
      </c:doughnutChart>
    </c:plotArea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Quick intro — who you are and why MoonDAO is on this panel. Don't linger, the content does the introducing.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[~30s] One or two sentences max — the room can read the bullets. Land on the ConstitutionDAO line, it's the most relatable proof point for a non-crypto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Define MoonDAO in one breath before the stats: an onchain community funding and governing space access. Let the four numbers do the heavy lifting.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Walk left to right once, quickly. Slow down only on 2022 (first astronaut) and 2025 (constitution on the Moon) — those are the two moments that make people lean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Don't read every card. Group them verbally: 'flight access, funding, training, network, governance, and the roadmap that ties it together.'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[~10s] Let this breathe — pause on the title before moving to Frank White. This is the pivot from 'here's who we are' to 'here's the live opportunity.'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[~45s] Frank is the emotional core of this section — 40 years, 50+ astronauts, coined the term, and has never flown himself. That irony is the hook.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Point at the QR code directly — invite the room to scan right now while you talk. These are real, live candidates on the board; anyone can enter and climb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[~50s] Walk the 3-step mechanism fast, name the 8 verticals as one group ('comms, construction, habitat, ISRU, power, rover, crewed base, lander'), then slow down for the worked math — the +1.32 ETH number is the one that lands. Frame it as a new financing primitive, not 'crypto betting.'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[~55s] This is the technical-depth moment. Walk physics → extremes → math in order, landing on '120 tons of batteries vs. a 15-ton lander.' It shows MoonDAO understands the engineering, not just the funding mechanics.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[~35s] This is the real, live product — say so explicitly. Point out the second screenshot shows an actual capability race opened live, with real competitors and sources.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[~40s] This is the slide that answers the panel's brief directly — make it personal to whoever's in the room, not just the named institutions.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[~15s] Quick, human beat before the close — real people, real names, behind the onchain numbers. Don't over-explain, let the faces land.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[~20s] Point at the QR code — invite people to scan and join MoonDAO before you leave the stage. Contact info stays up during Q&amp;A.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7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chart" Target="../charts/chart1.xml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8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9.png"/><Relationship Id="rId4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15.png"/><Relationship Id="rId4" Type="http://schemas.openxmlformats.org/officeDocument/2006/relationships/image" Target="../media/image4.png"/><Relationship Id="rId5" Type="http://schemas.openxmlformats.org/officeDocument/2006/relationships/image" Target="../media/image21.png"/><Relationship Id="rId6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moon-full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0"/>
            <a:ext cx="455645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7635240" y="0"/>
            <a:ext cx="54864" cy="6858000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eference_brazil_flag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92440" y="4160520"/>
            <a:ext cx="3642055" cy="25494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18120" y="6874550"/>
            <a:ext cx="419069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Rio de Janeiro, Brazil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18120" y="7167158"/>
            <a:ext cx="419069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C7CCE4"/>
                </a:solidFill>
                <a:latin typeface="Calibri"/>
              </a:rPr>
              <a:t>2nd Space Industry Workshop</a:t>
            </a:r>
          </a:p>
        </p:txBody>
      </p:sp>
      <p:pic>
        <p:nvPicPr>
          <p:cNvPr id="7" name="Picture 6" descr="MoonDAO_ic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" y="502920"/>
            <a:ext cx="2834640" cy="79314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58368" y="1783080"/>
            <a:ext cx="6583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E88B1F"/>
                </a:solidFill>
                <a:latin typeface="Calibri"/>
              </a:rPr>
              <a:t>THE INTERNET'S SPACE PROGRAM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676656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1A224A"/>
                </a:solidFill>
                <a:latin typeface="Calibri"/>
              </a:rPr>
              <a:t>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246120"/>
            <a:ext cx="6766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0" i="0">
                <a:solidFill>
                  <a:srgbClr val="22357A"/>
                </a:solidFill>
                <a:latin typeface="Calibri"/>
              </a:rPr>
              <a:t>Deep Space and the Lunar Economy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730752"/>
            <a:ext cx="6766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2nd Space Industry Workshop Brazil  ·  Brazilian Space Agency (AEB)  ·  Rio de Janeiro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58368" y="4434840"/>
            <a:ext cx="6309360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3" name="Picture 12" descr="pablo_headshot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4709160"/>
            <a:ext cx="868680" cy="8686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691640" y="473659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5102352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0" i="0">
                <a:solidFill>
                  <a:srgbClr val="5B6278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263640"/>
            <a:ext cx="65836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8A90A3"/>
                </a:solidFill>
                <a:latin typeface="Calibri"/>
              </a:rPr>
              <a:t>pablo@moondao.com   ·   @pablo_moncada_   ·   moondao.com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ABOUT THE SPEAKER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3000" y="1508760"/>
            <a:ext cx="2286000" cy="2286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995928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325112"/>
            <a:ext cx="3566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Founder &amp; Executive</a:t>
            </a:r>
          </a:p>
          <a:p>
            <a:pPr algn="ctr"/>
            <a:r>
              <a:rPr sz="1250" b="0" i="0">
                <a:solidFill>
                  <a:srgbClr val="5B6278"/>
                </a:solidFill>
                <a:latin typeface="Calibri"/>
              </a:rPr>
              <a:t>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5029200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8A90A3"/>
                </a:solidFill>
                <a:latin typeface="Calibri"/>
              </a:rPr>
              <a:t>San Francisco, CA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5276088"/>
            <a:ext cx="35661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8A90A3"/>
                </a:solidFill>
                <a:latin typeface="Calibri"/>
              </a:rPr>
              <a:t>pablo@moondao.com  ·  @pablo_moncada_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4840" y="1691640"/>
            <a:ext cx="7253935" cy="3017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Founder of MoonDAO.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First elected Executive Lead, since 2021.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Career: Waymo, YouTube, STEL. </a:t>
            </a:r>
            <a:r>
              <a:rPr sz="1550" b="0">
                <a:solidFill>
                  <a:srgbClr val="202433"/>
                </a:solidFill>
                <a:latin typeface="Calibri"/>
              </a:rPr>
              <a:t>Software engineer at Google, then biotech.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Core contributor, ConstitutionDAO. </a:t>
            </a:r>
            <a:r>
              <a:rPr sz="1550" b="0">
                <a:solidFill>
                  <a:srgbClr val="202433"/>
                </a:solidFill>
                <a:latin typeface="Calibri"/>
              </a:rPr>
              <a:t>Helped raise $47M in days for the U.S. Constitution.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University of Michigan. </a:t>
            </a:r>
            <a:r>
              <a:rPr sz="1550" b="0">
                <a:solidFill>
                  <a:srgbClr val="202433"/>
                </a:solidFill>
                <a:latin typeface="Calibri"/>
              </a:rPr>
              <a:t>CS, Mechanical Engineering &amp; Business.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34840" y="5349240"/>
            <a:ext cx="7253935" cy="868680"/>
          </a:xfrm>
          <a:prstGeom prst="roundRect">
            <a:avLst>
              <a:gd name="adj" fmla="val 12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90872" y="5468112"/>
            <a:ext cx="6741871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“I see decentralization as a way to fix the risks of centralized control over billions of people's lives.”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02 / 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WHO WE ARE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What Is MoonDAO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417320"/>
            <a:ext cx="11155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1" i="0">
                <a:solidFill>
                  <a:srgbClr val="1A224A"/>
                </a:solidFill>
                <a:latin typeface="Calibri"/>
              </a:rPr>
              <a:t>An onchain community — anyone, anywhere — pooling resources to fund and govern humanity's next steps into space.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2194560"/>
            <a:ext cx="11155680" cy="868680"/>
          </a:xfrm>
          <a:prstGeom prst="roundRect">
            <a:avLst>
              <a:gd name="adj" fmla="val 15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331720"/>
            <a:ext cx="228600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OUR 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331720"/>
            <a:ext cx="8366760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50" b="0" i="1">
                <a:solidFill>
                  <a:srgbClr val="1A224A"/>
                </a:solidFill>
                <a:latin typeface="Calibri"/>
              </a:rPr>
              <a:t>To accelerate the development of a self-sustaining, self-governing settlement on the Moon.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291840"/>
            <a:ext cx="1115568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Decentralized. </a:t>
            </a:r>
            <a:r>
              <a:rPr sz="1550" b="0">
                <a:solidFill>
                  <a:srgbClr val="202433"/>
                </a:solidFill>
                <a:latin typeface="Calibri"/>
              </a:rPr>
              <a:t>Governed onchain via the $MOONEY token.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Global &amp; permissionless. </a:t>
            </a:r>
            <a:r>
              <a:rPr sz="1550" b="0">
                <a:solidFill>
                  <a:srgbClr val="202433"/>
                </a:solidFill>
                <a:latin typeface="Calibri"/>
              </a:rPr>
              <a:t>Anyone, anywhere can join, fund, or build.</a:t>
            </a:r>
          </a:p>
          <a:p>
            <a:pPr algn="l">
              <a:lnSpc>
                <a:spcPct val="115000"/>
              </a:lnSpc>
              <a:spcAft>
                <a:spcPts val="1200"/>
              </a:spcAft>
            </a:pPr>
            <a:r>
              <a:rPr sz="1550" b="1">
                <a:solidFill>
                  <a:srgbClr val="E88B1F"/>
                </a:solidFill>
                <a:latin typeface="Calibri"/>
              </a:rPr>
              <a:t>—  </a:t>
            </a:r>
            <a:r>
              <a:rPr sz="1550" b="1">
                <a:solidFill>
                  <a:srgbClr val="202433"/>
                </a:solidFill>
                <a:latin typeface="Calibri"/>
              </a:rPr>
              <a:t>Radically transparent. </a:t>
            </a:r>
            <a:r>
              <a:rPr sz="1550" b="0">
                <a:solidFill>
                  <a:srgbClr val="202433"/>
                </a:solidFill>
                <a:latin typeface="Calibri"/>
              </a:rPr>
              <a:t>Every vote and dollar is public onchain.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944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0944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1061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$8M+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061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Raised onchain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 fund space access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39836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9836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9953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953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8728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18728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8845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80+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8845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R&amp;D projects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funded via governance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76207" y="4983480"/>
            <a:ext cx="2606040" cy="123444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976207" y="4983480"/>
            <a:ext cx="64008" cy="1234440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7375" y="5111496"/>
            <a:ext cx="224028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7375" y="5742432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Crowdfunded citizen-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astronauts sent to 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03 / 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OUR STORY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Five Years of Milestones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485900.0" y="2606040"/>
            <a:ext cx="9219895.0" cy="0"/>
          </a:xfrm>
          <a:prstGeom prst="line">
            <a:avLst/>
          </a:prstGeom>
          <a:ln w="3175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Oval 7"/>
          <p:cNvSpPr/>
          <p:nvPr/>
        </p:nvSpPr>
        <p:spPr>
          <a:xfrm>
            <a:off x="1385316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MoonDAO Launches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First DAO focused on space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exploration &amp; lunar settlement</a:t>
            </a:r>
          </a:p>
        </p:txBody>
      </p:sp>
      <p:sp>
        <p:nvSpPr>
          <p:cNvPr id="12" name="Oval 11"/>
          <p:cNvSpPr/>
          <p:nvPr/>
        </p:nvSpPr>
        <p:spPr>
          <a:xfrm>
            <a:off x="3690289" y="2505456"/>
            <a:ext cx="201168" cy="201168"/>
          </a:xfrm>
          <a:prstGeom prst="ellipse">
            <a:avLst/>
          </a:prstGeom>
          <a:solidFill>
            <a:srgbClr val="2B4C9B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807893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B4C9B"/>
                </a:solidFill>
                <a:latin typeface="Calibri"/>
              </a:rPr>
              <a:t>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07893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$8M Raised + First Astronaut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07893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2,600 ETH raised; Coby Cotton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flies on Blue Origin's NS-22</a:t>
            </a:r>
          </a:p>
        </p:txBody>
      </p:sp>
      <p:sp>
        <p:nvSpPr>
          <p:cNvPr id="16" name="Oval 15"/>
          <p:cNvSpPr/>
          <p:nvPr/>
        </p:nvSpPr>
        <p:spPr>
          <a:xfrm>
            <a:off x="5995263" y="2505456"/>
            <a:ext cx="201168" cy="201168"/>
          </a:xfrm>
          <a:prstGeom prst="ellipse">
            <a:avLst/>
          </a:prstGeom>
          <a:solidFill>
            <a:srgbClr val="E88B1F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12867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E88B1F"/>
                </a:solidFill>
                <a:latin typeface="Calibri"/>
              </a:rPr>
              <a:t>2023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12867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80+ Projects Funded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12867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Community governance funds a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thriving space R&amp;D ecosystem</a:t>
            </a:r>
          </a:p>
        </p:txBody>
      </p:sp>
      <p:sp>
        <p:nvSpPr>
          <p:cNvPr id="20" name="Oval 19"/>
          <p:cNvSpPr/>
          <p:nvPr/>
        </p:nvSpPr>
        <p:spPr>
          <a:xfrm>
            <a:off x="8300237" y="2505456"/>
            <a:ext cx="201168" cy="201168"/>
          </a:xfrm>
          <a:prstGeom prst="ellipse">
            <a:avLst/>
          </a:prstGeom>
          <a:solidFill>
            <a:srgbClr val="A32E35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17841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A32E35"/>
                </a:solidFill>
                <a:latin typeface="Calibri"/>
              </a:rPr>
              <a:t>2024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17841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Network + 2nd Astronaut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17841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Space Acceleration Network launches;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Dr. Eiman Jahangir flies to space</a:t>
            </a:r>
          </a:p>
        </p:txBody>
      </p:sp>
      <p:sp>
        <p:nvSpPr>
          <p:cNvPr id="24" name="Oval 23"/>
          <p:cNvSpPr/>
          <p:nvPr/>
        </p:nvSpPr>
        <p:spPr>
          <a:xfrm>
            <a:off x="10605211" y="2505456"/>
            <a:ext cx="201168" cy="201168"/>
          </a:xfrm>
          <a:prstGeom prst="ellipse">
            <a:avLst/>
          </a:prstGeom>
          <a:solidFill>
            <a:srgbClr val="22357A"/>
          </a:solidFill>
          <a:ln w="254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22815" y="1371600"/>
            <a:ext cx="1965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22357A"/>
                </a:solidFill>
                <a:latin typeface="Calibri"/>
              </a:rPr>
              <a:t>2025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22815" y="1709928"/>
            <a:ext cx="1965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 i="0">
                <a:solidFill>
                  <a:srgbClr val="1A224A"/>
                </a:solidFill>
                <a:latin typeface="Calibri"/>
              </a:rPr>
              <a:t>Constitution Reaches the Moon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722815" y="2880360"/>
            <a:ext cx="196596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MoonDAO Launchpad ships; our</a:t>
            </a:r>
          </a:p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constitution lands on the lunar surface</a:t>
            </a:r>
          </a:p>
        </p:txBody>
      </p:sp>
      <p:pic>
        <p:nvPicPr>
          <p:cNvPr id="28" name="Picture 27" descr="MoonDAO-New-Shepard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7895" y="4572000"/>
            <a:ext cx="2340864" cy="14630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725015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Team at Blue Origin’s launch site</a:t>
            </a:r>
          </a:p>
        </p:txBody>
      </p:sp>
      <p:pic>
        <p:nvPicPr>
          <p:cNvPr id="30" name="Picture 29" descr="astronaut-coby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4791" y="4572000"/>
            <a:ext cx="1463040" cy="146304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321911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Coby Cotton — 1st MoonDAO astronaut</a:t>
            </a:r>
          </a:p>
        </p:txBody>
      </p:sp>
      <p:pic>
        <p:nvPicPr>
          <p:cNvPr id="32" name="Picture 31" descr="zero-g-image_roun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23863" y="4572000"/>
            <a:ext cx="2340864" cy="146304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040983" y="6080760"/>
            <a:ext cx="270662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Zero-gravity training flight</a:t>
            </a:r>
          </a:p>
        </p:txBody>
      </p:sp>
      <p:pic>
        <p:nvPicPr>
          <p:cNvPr id="34" name="Picture 33" descr="astronaut-eiman_roun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820759" y="4572000"/>
            <a:ext cx="1463040" cy="1463040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8637879" y="6080760"/>
            <a:ext cx="18288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5B6278"/>
                </a:solidFill>
                <a:latin typeface="Calibri"/>
              </a:rPr>
              <a:t>Dr. Eiman Jahangir — 2nd astronaut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04 / 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WHAT WE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Core Initiatives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Human Spaceflight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Two crowdfunded citizens sent to space by onchain vote.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07738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07738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36338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Fund Space R&amp;D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36338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$600K+ allocated to 80+ projects via open governance.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2556" y="160020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2556" y="160020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1156" y="181965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Training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1156" y="231343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Zero-gravity flights and astronaut-prep experiences.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02920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An onchain “startup society” for the space industry.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307738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307738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36338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Transparent Governance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36338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Every vote and treasury move, public onchain.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12556" y="3611880"/>
            <a:ext cx="3576218" cy="17830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12556" y="3611880"/>
            <a:ext cx="3576218" cy="82296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41156" y="3831336"/>
            <a:ext cx="311901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50" b="1" i="0">
                <a:solidFill>
                  <a:srgbClr val="1A224A"/>
                </a:solidFill>
                <a:latin typeface="Calibri"/>
              </a:rPr>
              <a:t>Lunar Settlement Roadmap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41156" y="4325112"/>
            <a:ext cx="3119018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Constitution, Launchpad, and missions — building toward the Moon.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05 / 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reference_earth_sun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331720"/>
            <a:ext cx="101498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788920"/>
            <a:ext cx="101498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4600" b="1" i="0">
                <a:solidFill>
                  <a:srgbClr val="FFFFFF"/>
                </a:solidFill>
                <a:latin typeface="Calibri"/>
              </a:rPr>
              <a:t>Go to Space with Frank White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45920" y="3794760"/>
            <a:ext cx="88696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50" b="0" i="0">
                <a:solidFill>
                  <a:srgbClr val="E6E9F5"/>
                </a:solidFill>
                <a:latin typeface="Calibri"/>
              </a:rPr>
              <a:t>Funding a flight for the author of “The Overview Effect” — and one MoonDAO community member — to finally see Earth from space.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06 / 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Who Is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7" name="Picture 6" descr="reference_frank_white_real_photo_circ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34440" y="1554480"/>
            <a:ext cx="2103120" cy="2103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379476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Frank White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114800"/>
            <a:ext cx="35661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 i="0">
                <a:solidFill>
                  <a:srgbClr val="5B6278"/>
                </a:solidFill>
                <a:latin typeface="Calibri"/>
              </a:rPr>
              <a:t>Author, “The Overview Effect”</a:t>
            </a:r>
          </a:p>
        </p:txBody>
      </p:sp>
      <p:pic>
        <p:nvPicPr>
          <p:cNvPr id="10" name="Picture 9" descr="reference_overview_effect_book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1640" y="4526280"/>
            <a:ext cx="1188720" cy="17830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02920" y="6364224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0" i="0">
                <a:solidFill>
                  <a:srgbClr val="8A90A3"/>
                </a:solidFill>
                <a:latin typeface="Calibri"/>
              </a:rPr>
              <a:t>“The Overview Effect,” 4th 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1691640"/>
            <a:ext cx="6979615" cy="2743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Coined “the Overview Effect.” </a:t>
            </a:r>
            <a:r>
              <a:rPr sz="1600" b="0">
                <a:solidFill>
                  <a:srgbClr val="202433"/>
                </a:solidFill>
                <a:latin typeface="Calibri"/>
              </a:rPr>
              <a:t>The name for the shift astronauts feel seeing Earth from space.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40 years of research. </a:t>
            </a:r>
            <a:r>
              <a:rPr sz="1600" b="0">
                <a:solidFill>
                  <a:srgbClr val="202433"/>
                </a:solidFill>
                <a:latin typeface="Calibri"/>
              </a:rPr>
              <a:t>Interviewed 50+ astronauts and cosmonauts.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Shaped the industry. </a:t>
            </a:r>
            <a:r>
              <a:rPr sz="1600" b="0">
                <a:solidFill>
                  <a:srgbClr val="202433"/>
                </a:solidFill>
                <a:latin typeface="Calibri"/>
              </a:rPr>
              <a:t>Co-founded the Overview Institute; inspired a documentary.</a:t>
            </a:r>
          </a:p>
          <a:p>
            <a:pPr algn="l">
              <a:lnSpc>
                <a:spcPct val="115000"/>
              </a:lnSpc>
              <a:spcAft>
                <a:spcPts val="1800"/>
              </a:spcAft>
            </a:pPr>
            <a:r>
              <a:rPr sz="1600" b="1">
                <a:solidFill>
                  <a:srgbClr val="E88B1F"/>
                </a:solidFill>
                <a:latin typeface="Calibri"/>
              </a:rPr>
              <a:t>—  </a:t>
            </a:r>
            <a:r>
              <a:rPr sz="1600" b="1">
                <a:solidFill>
                  <a:srgbClr val="202433"/>
                </a:solidFill>
                <a:latin typeface="Calibri"/>
              </a:rPr>
              <a:t>Has never been to space.</a:t>
            </a:r>
            <a:r>
              <a:rPr sz="1600" b="0">
                <a:solidFill>
                  <a:srgbClr val="202433"/>
                </a:solidFill>
                <a:latin typeface="Calibri"/>
              </a:rPr>
              <a:t/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09160" y="4709160"/>
            <a:ext cx="6979615" cy="1234440"/>
          </a:xfrm>
          <a:prstGeom prst="roundRect">
            <a:avLst>
              <a:gd name="adj" fmla="val 1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83480" y="4864608"/>
            <a:ext cx="6430975" cy="9326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1A224A"/>
                </a:solidFill>
                <a:latin typeface="Calibri"/>
              </a:rPr>
              <a:t>“Astronauts describe seeing Earth from space as an instant, visceral realization that we share one planet, one atmosphere, one destiny — the Overview Effect.”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07 / 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NEXT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1A224A"/>
                </a:solidFill>
                <a:latin typeface="Calibri"/>
              </a:rPr>
              <a:t>Fly to Space with Frank White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960120" y="1554480"/>
          <a:ext cx="2377440" cy="2103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960120" y="2286000"/>
            <a:ext cx="23774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69%</a:t>
            </a:r>
          </a:p>
          <a:p>
            <a:pPr algn="ctr"/>
            <a:r>
              <a:rPr sz="1700" b="1" i="0">
                <a:solidFill>
                  <a:srgbClr val="1A224A"/>
                </a:solidFill>
                <a:latin typeface="Calibri"/>
              </a:rPr>
              <a:t>funded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794760"/>
            <a:ext cx="3291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 i="0">
                <a:solidFill>
                  <a:srgbClr val="1A224A"/>
                </a:solidFill>
                <a:latin typeface="Calibri"/>
              </a:rPr>
              <a:t>$172K of $250K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160520"/>
            <a:ext cx="329184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0">
                <a:solidFill>
                  <a:srgbClr val="5B6278"/>
                </a:solidFill>
                <a:latin typeface="Calibri"/>
              </a:rPr>
              <a:t>157 contributors</a:t>
            </a:r>
          </a:p>
          <a:p>
            <a:pPr algn="ctr"/>
            <a:r>
              <a:rPr sz="1100" b="0" i="0">
                <a:solidFill>
                  <a:srgbClr val="5B6278"/>
                </a:solidFill>
                <a:latin typeface="Calibri"/>
              </a:rPr>
              <a:t>goal secures a seat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463040"/>
            <a:ext cx="4206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224A"/>
                </a:solidFill>
                <a:latin typeface="Calibri"/>
              </a:rPr>
              <a:t>Top candidates — 25 advance to Round 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209397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1</a:t>
            </a:r>
          </a:p>
        </p:txBody>
      </p:sp>
      <p:pic>
        <p:nvPicPr>
          <p:cNvPr id="13" name="Picture 12" descr="leaderboard_citizen_7_parris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0" y="2020824"/>
            <a:ext cx="566928" cy="5669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257800" y="198424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Andrew "Titan" Parris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57800" y="227685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257800" y="227685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57800" y="244144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2,083 $OVERVIEW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296265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2</a:t>
            </a:r>
          </a:p>
        </p:txBody>
      </p:sp>
      <p:sp>
        <p:nvSpPr>
          <p:cNvPr id="19" name="Oval 18"/>
          <p:cNvSpPr/>
          <p:nvPr/>
        </p:nvSpPr>
        <p:spPr>
          <a:xfrm>
            <a:off x="4572000" y="2889504"/>
            <a:ext cx="566928" cy="566928"/>
          </a:xfrm>
          <a:prstGeom prst="ellipse">
            <a:avLst/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285292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Citizen #180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257800" y="314553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5257800" y="3145536"/>
            <a:ext cx="656717" cy="118872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57800" y="331012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680 $OVERVIEW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3831336"/>
            <a:ext cx="320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8A90A3"/>
                </a:solidFill>
                <a:latin typeface="Calibri"/>
              </a:rPr>
              <a:t>3</a:t>
            </a:r>
          </a:p>
        </p:txBody>
      </p:sp>
      <p:pic>
        <p:nvPicPr>
          <p:cNvPr id="25" name="Picture 24" descr="leaderboard_citizen_184_jas_circ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0" y="3758184"/>
            <a:ext cx="566928" cy="566928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5257800" y="3721608"/>
            <a:ext cx="20116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1A224A"/>
                </a:solidFill>
                <a:latin typeface="Calibri"/>
              </a:rPr>
              <a:t>Jas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57800" y="4014216"/>
            <a:ext cx="2011680" cy="118872"/>
          </a:xfrm>
          <a:prstGeom prst="roundRect">
            <a:avLst>
              <a:gd name="adj" fmla="val 5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5257800" y="4014216"/>
            <a:ext cx="629676" cy="118872"/>
          </a:xfrm>
          <a:prstGeom prst="roundRect">
            <a:avLst>
              <a:gd name="adj" fmla="val 50000"/>
            </a:avLst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57800" y="4178808"/>
            <a:ext cx="201168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5B6278"/>
                </a:solidFill>
                <a:latin typeface="Calibri"/>
              </a:rPr>
              <a:t>652 $OVERVIEW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06240" y="4617720"/>
            <a:ext cx="4206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8A90A3"/>
                </a:solidFill>
                <a:latin typeface="Calibri"/>
              </a:rPr>
              <a:t>Any Citizen can enter and climb the board.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1828800"/>
            <a:ext cx="2167127" cy="2167127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qr_leaderbo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1704" y="1975104"/>
            <a:ext cx="1874519" cy="1874519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8595360" y="4142231"/>
            <a:ext cx="2807207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A224A"/>
                </a:solidFill>
                <a:latin typeface="Calibri"/>
              </a:rPr>
              <a:t>Support Frank &amp;</a:t>
            </a:r>
          </a:p>
          <a:p>
            <a:pPr algn="ctr"/>
            <a:r>
              <a:rPr sz="1300" b="1" i="0">
                <a:solidFill>
                  <a:srgbClr val="1A224A"/>
                </a:solidFill>
                <a:latin typeface="Calibri"/>
              </a:rPr>
              <a:t>Back a Candidate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4654295"/>
            <a:ext cx="2807207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50" b="0" i="0">
                <a:solidFill>
                  <a:srgbClr val="8A90A3"/>
                </a:solidFill>
                <a:latin typeface="Calibri"/>
              </a:rPr>
              <a:t>moondao.com/overview-vote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02920" y="5806440"/>
            <a:ext cx="11185855" cy="502920"/>
          </a:xfrm>
          <a:prstGeom prst="roundRect">
            <a:avLst>
              <a:gd name="adj" fmla="val 20000"/>
            </a:avLst>
          </a:prstGeom>
          <a:solidFill>
            <a:srgbClr val="EE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" y="5806440"/>
            <a:ext cx="10545775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50" b="0" i="1">
                <a:solidFill>
                  <a:srgbClr val="1A224A"/>
                </a:solidFill>
                <a:latin typeface="Calibri"/>
              </a:rPr>
              <a:t>$100+ grants free citizenship — and a shot at flying alongside Frank.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08 / 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500" b="1" i="0">
                <a:solidFill>
                  <a:srgbClr val="1A224A"/>
                </a:solidFill>
                <a:latin typeface="Calibri"/>
              </a:rPr>
              <a:t>DePrize: A Prediction Market for Space Delivery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17320"/>
            <a:ext cx="3545738" cy="128016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40664" y="1636776"/>
            <a:ext cx="457200" cy="457200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" y="216712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Back a Team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2468880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278"/>
                </a:solidFill>
                <a:latin typeface="Calibri"/>
              </a:rPr>
              <a:t>Wager ETH on who delivers first</a:t>
            </a:r>
          </a:p>
        </p:txBody>
      </p:sp>
      <p:sp>
        <p:nvSpPr>
          <p:cNvPr id="11" name="Chevron 10"/>
          <p:cNvSpPr/>
          <p:nvPr/>
        </p:nvSpPr>
        <p:spPr>
          <a:xfrm>
            <a:off x="4066946" y="1938528"/>
            <a:ext cx="237744" cy="237744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2978" y="1417320"/>
            <a:ext cx="3545738" cy="128016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560722" y="1636776"/>
            <a:ext cx="457200" cy="457200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60722" y="216712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Live Odds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60722" y="2468880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278"/>
                </a:solidFill>
                <a:latin typeface="Calibri"/>
              </a:rPr>
              <a:t>Every bet grows the shared prize</a:t>
            </a:r>
          </a:p>
        </p:txBody>
      </p:sp>
      <p:sp>
        <p:nvSpPr>
          <p:cNvPr id="16" name="Chevron 15"/>
          <p:cNvSpPr/>
          <p:nvPr/>
        </p:nvSpPr>
        <p:spPr>
          <a:xfrm>
            <a:off x="7887004" y="1938528"/>
            <a:ext cx="237744" cy="237744"/>
          </a:xfrm>
          <a:prstGeom prst="chevron">
            <a:avLst/>
          </a:prstGeom>
          <a:solidFill>
            <a:srgbClr val="8A90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143036" y="1417320"/>
            <a:ext cx="3545738" cy="128016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380780" y="1636776"/>
            <a:ext cx="457200" cy="457200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0780" y="2167128"/>
            <a:ext cx="307025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A224A"/>
                </a:solidFill>
                <a:latin typeface="Calibri"/>
              </a:rPr>
              <a:t>Winner Delivers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0780" y="2468880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278"/>
                </a:solidFill>
                <a:latin typeface="Calibri"/>
              </a:rPr>
              <a:t>Community declares winner; backers get paid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2898648"/>
            <a:ext cx="54864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E88B1F"/>
                </a:solidFill>
                <a:latin typeface="Calibri"/>
              </a:rPr>
              <a:t>8 CAPABILITY VERTICALS ON THE TECH TREE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3191256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67512" y="3351276"/>
            <a:ext cx="100584" cy="100584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3191256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Comms / PNT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340531" y="3191256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3505123" y="3351276"/>
            <a:ext cx="100584" cy="100584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06291" y="3191256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Surface Construction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8143" y="3191256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6342735" y="3351276"/>
            <a:ext cx="100584" cy="100584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43903" y="3191256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Habitat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15755" y="3191256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180347" y="3351276"/>
            <a:ext cx="100584" cy="100584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381515" y="3191256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ISRU Plant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3721608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67512" y="3881628"/>
            <a:ext cx="100584" cy="100584"/>
          </a:xfrm>
          <a:prstGeom prst="ellipse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721608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Power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340531" y="3721608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3505123" y="3881628"/>
            <a:ext cx="100584" cy="100584"/>
          </a:xfrm>
          <a:prstGeom prst="ellipse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706291" y="3721608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Rover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178143" y="3721608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342735" y="3881628"/>
            <a:ext cx="100584" cy="100584"/>
          </a:xfrm>
          <a:prstGeom prst="ellipse">
            <a:avLst/>
          </a:prstGeom>
          <a:solidFill>
            <a:srgbClr val="2B4C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43903" y="3721608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Crewed Base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9015755" y="3721608"/>
            <a:ext cx="2673019" cy="420624"/>
          </a:xfrm>
          <a:prstGeom prst="roundRect">
            <a:avLst>
              <a:gd name="adj" fmla="val 35000"/>
            </a:avLst>
          </a:prstGeom>
          <a:solidFill>
            <a:srgbClr val="F6F7FB"/>
          </a:solidFill>
          <a:ln w="9525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180347" y="3881628"/>
            <a:ext cx="100584" cy="100584"/>
          </a:xfrm>
          <a:prstGeom prst="ellipse">
            <a:avLst/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381515" y="3721608"/>
            <a:ext cx="2170099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A224A"/>
                </a:solidFill>
                <a:latin typeface="Calibri"/>
              </a:rPr>
              <a:t>Lander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02920" y="4416552"/>
            <a:ext cx="11185855" cy="1847088"/>
          </a:xfrm>
          <a:prstGeom prst="roundRect">
            <a:avLst>
              <a:gd name="adj" fmla="val 8000"/>
            </a:avLst>
          </a:prstGeom>
          <a:solidFill>
            <a:srgbClr val="EEF0F7"/>
          </a:solidFill>
          <a:ln w="12700">
            <a:solidFill>
              <a:srgbClr val="DDE1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68680" y="4617720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E88B1F"/>
                </a:solidFill>
                <a:latin typeface="Calibri"/>
              </a:rPr>
              <a:t>THE MATH, WORKED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" y="494690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→  Bet 1 ETH on a provider priced at 40% odds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8680" y="522122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→  5% (0.05 ETH) → prize pool  ·  95% (0.95 ETH) → market, at $0.40/share = 2.375 shares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549554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→  Less the 1% LMSR trade fee → ≈ 2.35 shares held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8680" y="5769864"/>
            <a:ext cx="7589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202433"/>
                </a:solidFill>
                <a:latin typeface="Calibri"/>
              </a:rPr>
              <a:t>→  If that provider wins: shares redeem 1:1 for ETH → ≈ 2.32 ETH back</a:t>
            </a:r>
          </a:p>
        </p:txBody>
      </p:sp>
      <p:cxnSp>
        <p:nvCxnSpPr>
          <p:cNvPr id="52" name="Connector 51"/>
          <p:cNvCxnSpPr/>
          <p:nvPr/>
        </p:nvCxnSpPr>
        <p:spPr>
          <a:xfrm>
            <a:off x="8869680" y="4690872"/>
            <a:ext cx="0" cy="1298448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3" name="TextBox 52"/>
          <p:cNvSpPr txBox="1"/>
          <p:nvPr/>
        </p:nvSpPr>
        <p:spPr>
          <a:xfrm>
            <a:off x="9189720" y="4709160"/>
            <a:ext cx="249905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E88B1F"/>
                </a:solidFill>
                <a:latin typeface="Calibri"/>
              </a:rPr>
              <a:t>+1.32 ETH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89720" y="5312664"/>
            <a:ext cx="2499055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00" b="0" i="0">
                <a:solidFill>
                  <a:srgbClr val="5B6278"/>
                </a:solidFill>
                <a:latin typeface="Calibri"/>
              </a:rPr>
              <a:t>net gain, plus 50 $OVERVIEW — funded by bettors who backed other providers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09 / 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1A224A"/>
                </a:solidFill>
                <a:latin typeface="Calibri"/>
              </a:rPr>
              <a:t>Surviving the 354-Hour Lunar Night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502920" y="146304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0664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22357A"/>
                </a:solidFill>
                <a:latin typeface="Calibri"/>
              </a:rPr>
              <a:t>THE PHYSICS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354 hrs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of total darkness, every cycle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740664.0" y="2999232"/>
            <a:ext cx="3070250.3333333335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40664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The Moon is tidally locked: one rotation = one 29.5-day orbit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sunrise to sunrise (“lunar day”) = 29.5 Earth days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0664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continuous night ≈ 14.75 days = 354 hours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No atmosphere → no convection — heat only radiates away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22978" y="146304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22978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60722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A32E35"/>
                </a:solidFill>
                <a:latin typeface="Calibri"/>
              </a:rPr>
              <a:t>THE EXTREMES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60722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257°C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60722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swing between sun and shadow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4560722.333333334" y="2999232"/>
            <a:ext cx="3070250.333333334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4560722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South Pole sunlit ground: up to 54°C (130°F)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60722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Nearby permanent shadow: as low as −203°C (−334°F)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60722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Colder than anywhere ever recorded on Earth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60722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Regolith insulates the subsurface, but can't power a base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143036" y="1463040"/>
            <a:ext cx="3545738" cy="3840480"/>
          </a:xfrm>
          <a:prstGeom prst="roundRect">
            <a:avLst>
              <a:gd name="adj" fmla="val 6000"/>
            </a:avLst>
          </a:prstGeom>
          <a:solidFill>
            <a:srgbClr val="F6F7FB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8143036" y="1463040"/>
            <a:ext cx="3545738" cy="7315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80780" y="1664208"/>
            <a:ext cx="307025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E88B1F"/>
                </a:solidFill>
                <a:latin typeface="Calibri"/>
              </a:rPr>
              <a:t>THE MATH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0780" y="196596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120 tons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0780" y="2514600"/>
            <a:ext cx="307025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1">
                <a:solidFill>
                  <a:srgbClr val="5B6278"/>
                </a:solidFill>
                <a:latin typeface="Calibri"/>
              </a:rPr>
              <a:t>of batteries — for one night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8380780.666666667" y="2999232"/>
            <a:ext cx="3070250.333333333" cy="0"/>
          </a:xfrm>
          <a:prstGeom prst="line">
            <a:avLst/>
          </a:prstGeom>
          <a:ln w="9525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8380780" y="3163824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40 kWe load × 354 hrs ≈ 14,160 kWh needed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0780" y="3730752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At Tesla Powerwall density (13.5 kWh / 114 kg):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0780" y="4297680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→ ≈ 1,050 units ≈ 120 metric tons of batteries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0780" y="4864608"/>
            <a:ext cx="307025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 i="0">
                <a:solidFill>
                  <a:srgbClr val="202433"/>
                </a:solidFill>
                <a:latin typeface="Calibri"/>
              </a:rPr>
              <a:t>•  NASA's whole heavy-lander budget: 15 tons, total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2920" y="5440680"/>
            <a:ext cx="11185855" cy="594360"/>
          </a:xfrm>
          <a:prstGeom prst="roundRect">
            <a:avLst>
              <a:gd name="adj" fmla="val 15000"/>
            </a:avLst>
          </a:prstGeom>
          <a:solidFill>
            <a:srgbClr val="1A22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22960" y="5440680"/>
            <a:ext cx="10545775" cy="5943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0" i="1">
                <a:solidFill>
                  <a:srgbClr val="FFFFFF"/>
                </a:solidFill>
                <a:latin typeface="Calibri"/>
              </a:rPr>
              <a:t>THE ANSWER — a 40 kWe fission reactor, shielding, and radiators fit the same 15-ton lander and run for a 10-year design life. NASA calls this civil-space shortfall #1.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" y="6144768"/>
            <a:ext cx="11185855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 i="1">
                <a:solidFill>
                  <a:srgbClr val="8A90A3"/>
                </a:solidFill>
                <a:latin typeface="Calibri"/>
              </a:rPr>
              <a:t>Sources: NASA — The Harsh Environment of the Lunar South Pole; NASA Fission Surface Power Program; NASA HLS Lunar Thermal Analysis Guidebook.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10 / 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FUNDING INNOVATION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Moonbase Zero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906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moonbase_real_moonbase_main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88720"/>
            <a:ext cx="5717416" cy="416052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502920" y="5477256"/>
            <a:ext cx="1783080" cy="347472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477256"/>
            <a:ext cx="178308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IN DEVELOPMENT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68880" y="5477256"/>
            <a:ext cx="2743200" cy="3474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7CCE4"/>
                </a:solidFill>
                <a:latin typeface="Calibri"/>
              </a:rPr>
              <a:t>moondao.com/moonbase</a:t>
            </a:r>
          </a:p>
        </p:txBody>
      </p:sp>
      <p:pic>
        <p:nvPicPr>
          <p:cNvPr id="10" name="Picture 9" descr="moonbase_real_moonbase_lander_detail_roun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40376" y="1188720"/>
            <a:ext cx="5148399" cy="3746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40376" y="5044898"/>
            <a:ext cx="514839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C7CCE4"/>
                </a:solidFill>
                <a:latin typeface="Calibri"/>
              </a:rPr>
              <a:t>Click a race to see live competitors, criteria, and sources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6035040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1">
                <a:solidFill>
                  <a:srgbClr val="9AA1BF"/>
                </a:solidFill>
                <a:latin typeface="Calibri"/>
              </a:rPr>
              <a:t>A true-to-scale 3D site on the Shackleton connecting ridge — 8 capability races, 24 real competitors, all publicly sourced.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11 / 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310896"/>
            <a:ext cx="8778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8961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700" b="1" i="0">
                <a:solidFill>
                  <a:srgbClr val="1A224A"/>
                </a:solidFill>
                <a:latin typeface="Calibri"/>
              </a:rPr>
              <a:t>A Level Playing Field for the Next Space Age</a:t>
            </a:r>
          </a:p>
        </p:txBody>
      </p:sp>
      <p:pic>
        <p:nvPicPr>
          <p:cNvPr id="5" name="Picture 4" descr="MoonDA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384048"/>
            <a:ext cx="1417320" cy="396573"/>
          </a:xfrm>
          <a:prstGeom prst="rect">
            <a:avLst/>
          </a:prstGeom>
        </p:spPr>
      </p:pic>
      <p:cxnSp>
        <p:nvCxnSpPr>
          <p:cNvPr id="6" name="Connector 5"/>
          <p:cNvCxnSpPr/>
          <p:nvPr/>
        </p:nvCxnSpPr>
        <p:spPr>
          <a:xfrm>
            <a:off x="502920" y="1170432"/>
            <a:ext cx="11185855" cy="0"/>
          </a:xfrm>
          <a:prstGeom prst="line">
            <a:avLst/>
          </a:prstGeom>
          <a:ln w="12700">
            <a:solidFill>
              <a:srgbClr val="DDE1E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02920" y="1554480"/>
            <a:ext cx="6492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1A224A"/>
                </a:solidFill>
                <a:latin typeface="Calibri"/>
              </a:rPr>
              <a:t>Deep space used to require a national agency — or a billionaire.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468880"/>
            <a:ext cx="649224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Permissionless. </a:t>
            </a:r>
            <a:r>
              <a:rPr sz="1650" b="0">
                <a:solidFill>
                  <a:srgbClr val="202433"/>
                </a:solidFill>
                <a:latin typeface="Calibri"/>
              </a:rPr>
              <a:t>Any country, company, or individual can fund and compete.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Already global. </a:t>
            </a:r>
            <a:r>
              <a:rPr sz="1650" b="0">
                <a:solidFill>
                  <a:srgbClr val="202433"/>
                </a:solidFill>
                <a:latin typeface="Calibri"/>
              </a:rPr>
              <a:t>25+ countries in the Space Acceleration Network.</a:t>
            </a:r>
          </a:p>
          <a:p>
            <a:pPr algn="l">
              <a:lnSpc>
                <a:spcPct val="115000"/>
              </a:lnSpc>
              <a:spcAft>
                <a:spcPts val="2000"/>
              </a:spcAft>
            </a:pPr>
            <a:r>
              <a:rPr sz="1650" b="1">
                <a:solidFill>
                  <a:srgbClr val="E88B1F"/>
                </a:solidFill>
                <a:latin typeface="Calibri"/>
              </a:rPr>
              <a:t>—  </a:t>
            </a:r>
            <a:r>
              <a:rPr sz="1650" b="1">
                <a:solidFill>
                  <a:srgbClr val="202433"/>
                </a:solidFill>
                <a:latin typeface="Calibri"/>
              </a:rPr>
              <a:t>An open invitation. </a:t>
            </a:r>
            <a:r>
              <a:rPr sz="1650" b="0">
                <a:solidFill>
                  <a:srgbClr val="202433"/>
                </a:solidFill>
                <a:latin typeface="Calibri"/>
              </a:rPr>
              <a:t>To anyone in this room — and your own ecosystem back home.</a:t>
            </a:r>
          </a:p>
        </p:txBody>
      </p:sp>
      <p:pic>
        <p:nvPicPr>
          <p:cNvPr id="9" name="Picture 8" descr="reference_space_acceleration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920" y="2423160"/>
            <a:ext cx="4327855" cy="243982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0088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0088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223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0205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25+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205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Countries in the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Space Acceleration Network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0420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40420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537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12,000+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537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$MOONEY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token holders worldwide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07527" y="5257800"/>
            <a:ext cx="3383280" cy="1051560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DDE1EC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07527" y="5257800"/>
            <a:ext cx="64008" cy="1051560"/>
          </a:xfrm>
          <a:prstGeom prst="roundRect">
            <a:avLst>
              <a:gd name="adj" fmla="val 50000"/>
            </a:avLst>
          </a:prstGeom>
          <a:solidFill>
            <a:srgbClr val="A32E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08695" y="5385816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1" i="0">
                <a:solidFill>
                  <a:srgbClr val="1A224A"/>
                </a:solidFill>
                <a:latin typeface="Calibri"/>
              </a:rPr>
              <a:t>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8695" y="5833872"/>
            <a:ext cx="30175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Onchain, transparent</a:t>
            </a:r>
          </a:p>
          <a:p>
            <a:pPr algn="l"/>
            <a:r>
              <a:rPr sz="1150" b="0" i="0">
                <a:solidFill>
                  <a:srgbClr val="5B6278"/>
                </a:solidFill>
                <a:latin typeface="Calibri"/>
              </a:rPr>
              <a:t>votes &amp; treasury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8A90A3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8A90A3"/>
                </a:solidFill>
                <a:latin typeface="Calibri"/>
              </a:rPr>
              <a:t>12 / 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9144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E88B1F"/>
                </a:solidFill>
                <a:latin typeface="Calibri"/>
              </a:rPr>
              <a:t>THE BIGGER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48640"/>
            <a:ext cx="91440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Our Global Citizens</a:t>
            </a:r>
          </a:p>
        </p:txBody>
      </p:sp>
      <p:pic>
        <p:nvPicPr>
          <p:cNvPr id="5" name="Picture 4" descr="moondao_mark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09066" y="365760"/>
            <a:ext cx="479708" cy="502920"/>
          </a:xfrm>
          <a:prstGeom prst="rect">
            <a:avLst/>
          </a:prstGeom>
        </p:spPr>
      </p:pic>
      <p:pic>
        <p:nvPicPr>
          <p:cNvPr id="6" name="Picture 5" descr="reference_moondao_citizens_network_rou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9927" y="1188720"/>
            <a:ext cx="8371840" cy="4709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6025896"/>
            <a:ext cx="1118585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 i="1">
                <a:solidFill>
                  <a:srgbClr val="9AA1BF"/>
                </a:solidFill>
                <a:latin typeface="Calibri"/>
              </a:rPr>
              <a:t>12,000+ $MOONEY holders and a growing roster of onchain “citizens” — engineers, artists, and space professionals — building this together.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13 / 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24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earthrise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82296"/>
          </a:xfrm>
          <a:prstGeom prst="rect">
            <a:avLst/>
          </a:prstGeom>
          <a:solidFill>
            <a:srgbClr val="E88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oondao_mark_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61942" y="731520"/>
            <a:ext cx="540762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12432" y="731520"/>
            <a:ext cx="2926080" cy="566928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Calibri"/>
              </a:rPr>
              <a:t>MOON</a:t>
            </a:r>
            <a:r>
              <a:rPr sz="1300" b="1">
                <a:solidFill>
                  <a:srgbClr val="FFFFFF"/>
                </a:solidFill>
                <a:latin typeface="Calibri"/>
              </a:rPr>
              <a:t>DAO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08760"/>
            <a:ext cx="99669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000" b="1" i="0">
                <a:solidFill>
                  <a:srgbClr val="FFFFFF"/>
                </a:solidFill>
                <a:latin typeface="Calibri"/>
              </a:rPr>
              <a:t>Let's Build the Lunar Economy Together</a:t>
            </a:r>
          </a:p>
        </p:txBody>
      </p:sp>
      <p:pic>
        <p:nvPicPr>
          <p:cNvPr id="7" name="Picture 6" descr="pablo_headshot_circ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43200" y="2514600"/>
            <a:ext cx="1280160" cy="12801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097280" y="3977639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Pablo Moncada-Larrotiz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4315968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Founder &amp; Executive Director, MoonDAO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4663440"/>
            <a:ext cx="45720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0">
                <a:solidFill>
                  <a:srgbClr val="CBD1E6"/>
                </a:solidFill>
                <a:latin typeface="Calibri"/>
              </a:rPr>
              <a:t>pablo@moondao.com   ·   @pablo_moncada_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6309360" y="2560320"/>
            <a:ext cx="0" cy="2606040"/>
          </a:xfrm>
          <a:prstGeom prst="line">
            <a:avLst/>
          </a:prstGeom>
          <a:ln w="12700">
            <a:solidFill>
              <a:srgbClr val="3A447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31836" y="2514600"/>
            <a:ext cx="1892808" cy="189280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FFFFFF"/>
            </a:solidFill>
          </a:ln>
          <a:effectLst/>
          <a:effectLst>
            <a:outerShdw blurRad="90000" dist="38000" dir="5400000" rotWithShape="0">
              <a:srgbClr val="1A224A">
                <a:alpha val="18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_join_moonda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8140" y="2660904"/>
            <a:ext cx="1600200" cy="1600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223760" y="4535424"/>
            <a:ext cx="3108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50" b="1" i="0">
                <a:solidFill>
                  <a:srgbClr val="FFFFFF"/>
                </a:solidFill>
                <a:latin typeface="Calibri"/>
              </a:rPr>
              <a:t>Scan to Join MoonDAO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4864608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050" b="0" i="0">
                <a:solidFill>
                  <a:srgbClr val="CBD1E6"/>
                </a:solidFill>
                <a:latin typeface="Calibri"/>
              </a:rPr>
              <a:t>moondao.com/join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97280" y="5989320"/>
            <a:ext cx="9966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50" b="1" i="0">
                <a:solidFill>
                  <a:srgbClr val="F6B962"/>
                </a:solidFill>
                <a:latin typeface="Calibri"/>
              </a:rPr>
              <a:t>moondao.com   ·   Discord: moondao.com/discord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73952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AFB6CC"/>
                </a:solidFill>
                <a:latin typeface="Calibri"/>
              </a:rPr>
              <a:t>MoonDAO  |  Deep Space and the Lunar Economy  |  2nd Space Industry Workshop Brazil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91495" y="6473952"/>
            <a:ext cx="10972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AFB6CC"/>
                </a:solidFill>
                <a:latin typeface="Calibri"/>
              </a:rPr>
              <a:t>14 / 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