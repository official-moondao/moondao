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E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Point at the QR code directly — invite the room to scan right now while you talk. These are real, live candidates on the board; anyone can enter and climb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Walk the 3-step mechanism fast, then slow down for the worked math — the +1.32 ETH number is the one that lands. Frame it as a new financing primitive, not 'crypto betting.'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[~55s] This is the technical-depth moment. Walk physics → extremes → math in order, landing on '120 tons of batteries vs. a 15-ton lander.'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[~35s] This is the real, live product — say so explicitly. Point out the second screenshot shows an actual capability race opened live, with real competitors and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This is the slide that answers the panel's brief directly — make it personal to whoever's in the room, not just the named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Point at the QR code — invite people to scan and join MoonDAO before you leave the stage. Contact info stays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5.png"/><Relationship Id="rId4" Type="http://schemas.openxmlformats.org/officeDocument/2006/relationships/image" Target="../media/image4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6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5240" y="0"/>
            <a:ext cx="54864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erence_coby_launch_sui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3977639"/>
            <a:ext cx="3916375" cy="220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6308615"/>
            <a:ext cx="4190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Coby Cotton — Blue Origin NS-22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6582935"/>
            <a:ext cx="4190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7CCE4"/>
                </a:solidFill>
                <a:latin typeface="Calibri"/>
              </a:rPr>
              <a:t>MoonDAO's first crowdfunded astronaut</a:t>
            </a:r>
          </a:p>
        </p:txBody>
      </p:sp>
      <p:pic>
        <p:nvPicPr>
          <p:cNvPr id="7" name="Picture 6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2834640" cy="7931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7830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8B1F"/>
                </a:solidFill>
                <a:latin typeface="Calibri"/>
              </a:rPr>
              <a:t>THE INTERNET'S SPACE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6766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1A224A"/>
                </a:solidFill>
                <a:latin typeface="Calibri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2357A"/>
                </a:solidFill>
                <a:latin typeface="Calibri"/>
              </a:rPr>
              <a:t>Deep Space and the Lunar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3075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2nd Space Industry Workshop Brazil  ·  Brazilian Space Agency (AEB)  ·  Rio de Janeiro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434840"/>
            <a:ext cx="6309360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pablo_headshot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70916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73659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1023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6364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90A3"/>
                </a:solidFill>
                <a:latin typeface="Calibri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08760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959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2511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Founder &amp; Executive</a:t>
            </a:r>
          </a:p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Calibri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76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91640"/>
            <a:ext cx="725393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Founder of MoonDAO.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First elected Executive Lead, since 2021.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Career: Waymo, YouTube, STEL. </a:t>
            </a:r>
            <a:r>
              <a:rPr sz="1550" b="0">
                <a:solidFill>
                  <a:srgbClr val="202433"/>
                </a:solidFill>
                <a:latin typeface="Calibri"/>
              </a:rPr>
              <a:t>Software engineer at Google, then biotech.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Core contributor, ConstitutionDAO.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Helped raise $47M in days for the U.S. Constitution.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University of Michigan. </a:t>
            </a:r>
            <a:r>
              <a:rPr sz="1550" b="0">
                <a:solidFill>
                  <a:srgbClr val="202433"/>
                </a:solidFill>
                <a:latin typeface="Calibri"/>
              </a:rPr>
              <a:t>CS, Mechanical Engineering &amp;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725393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468112"/>
            <a:ext cx="67418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“I see decentralization as a way to fix the risks of centralized control over billions of people's lives.”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24A"/>
                </a:solidFill>
                <a:latin typeface="Calibri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115568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31720"/>
            <a:ext cx="8366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1A224A"/>
                </a:solidFill>
                <a:latin typeface="Calibri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Decentralized. </a:t>
            </a:r>
            <a:r>
              <a:rPr sz="1550" b="0">
                <a:solidFill>
                  <a:srgbClr val="202433"/>
                </a:solidFill>
                <a:latin typeface="Calibri"/>
              </a:rPr>
              <a:t>Governed onchain via the $MOONEY token.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Global &amp; permissionless. </a:t>
            </a:r>
            <a:r>
              <a:rPr sz="1550" b="0">
                <a:solidFill>
                  <a:srgbClr val="202433"/>
                </a:solidFill>
                <a:latin typeface="Calibri"/>
              </a:rPr>
              <a:t>Anyone, anywhere can join, fund, or build.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Radically transparent. </a:t>
            </a:r>
            <a:r>
              <a:rPr sz="1550" b="0">
                <a:solidFill>
                  <a:srgbClr val="202433"/>
                </a:solidFill>
                <a:latin typeface="Calibri"/>
              </a:rPr>
              <a:t>Every vote and dollar is public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44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944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61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61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Raised onchain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836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836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953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953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728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R&amp;D projects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620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737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37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Crowdfunded citizen-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astronauts sent to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85900.0" y="2606040"/>
            <a:ext cx="9219895.0" cy="0"/>
          </a:xfrm>
          <a:prstGeom prst="line">
            <a:avLst/>
          </a:prstGeom>
          <a:ln w="3175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85316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69028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89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Calibri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89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89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Calibri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30023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784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Calibri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784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84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605211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281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281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Dr. Eiman Jahangir — 2nd astronaut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Two crowdfunded citizens sent to space by onchain vote.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338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$600K+ allocated to 80+ projects via open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Zero-gravity flights and astronaut-prep experiences.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An onchain “startup society” for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6338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338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Every vote and treasury move, public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156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1156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Constitution, Launchpad, and missions — building toward the Moon.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erence_earth_sun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Calibri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ference_frank_white_real_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B6278"/>
                </a:solidFill>
                <a:latin typeface="Calibri"/>
              </a:rPr>
              <a:t>Author, “The Overview Effect”</a:t>
            </a:r>
          </a:p>
        </p:txBody>
      </p:sp>
      <p:pic>
        <p:nvPicPr>
          <p:cNvPr id="10" name="Picture 9" descr="reference_overview_effect_book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4526280"/>
            <a:ext cx="1188720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3642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Calibri"/>
              </a:rPr>
              <a:t>“The Overview Effect,” 4th 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91640"/>
            <a:ext cx="697961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Coined “the Overview Effect.” </a:t>
            </a:r>
            <a:r>
              <a:rPr sz="1600" b="0">
                <a:solidFill>
                  <a:srgbClr val="202433"/>
                </a:solidFill>
                <a:latin typeface="Calibri"/>
              </a:rPr>
              <a:t>The name for the shift astronauts feel seeing Earth from space.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40 years of research. </a:t>
            </a:r>
            <a:r>
              <a:rPr sz="1600" b="0">
                <a:solidFill>
                  <a:srgbClr val="202433"/>
                </a:solidFill>
                <a:latin typeface="Calibri"/>
              </a:rPr>
              <a:t>Interviewed 50+ astronauts and cosmonauts.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Shaped the industry. </a:t>
            </a:r>
            <a:r>
              <a:rPr sz="1600" b="0">
                <a:solidFill>
                  <a:srgbClr val="202433"/>
                </a:solidFill>
                <a:latin typeface="Calibri"/>
              </a:rPr>
              <a:t>Co-founded the Overview Institute; inspired a documentary.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Has never been to space.</a:t>
            </a:r>
            <a:r>
              <a:rPr sz="1600" b="0">
                <a:solidFill>
                  <a:srgbClr val="202433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09160"/>
            <a:ext cx="6979615" cy="123444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64608"/>
            <a:ext cx="643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60120" y="1554480"/>
          <a:ext cx="2377440" cy="2103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60120" y="228600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69%</a:t>
            </a:r>
          </a:p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$172K of $250K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B6278"/>
                </a:solidFill>
                <a:latin typeface="Calibri"/>
              </a:rPr>
              <a:t>157 contributors</a:t>
            </a:r>
          </a:p>
          <a:p>
            <a:pPr algn="ctr"/>
            <a:r>
              <a:rPr sz="1100" b="0" i="0">
                <a:solidFill>
                  <a:srgbClr val="5B6278"/>
                </a:solidFill>
                <a:latin typeface="Calibri"/>
              </a:rPr>
              <a:t>goal secures a seat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Top candidates — 25 advance to Round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939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1</a:t>
            </a:r>
          </a:p>
        </p:txBody>
      </p:sp>
      <p:pic>
        <p:nvPicPr>
          <p:cNvPr id="13" name="Picture 12" descr="leaderboard_citizen_7_parris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20824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198424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Andrew "Titan" Parris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227685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57800" y="227685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24414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2,083 $OVERVIEW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9626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2889504"/>
            <a:ext cx="566928" cy="566928"/>
          </a:xfrm>
          <a:prstGeom prst="ellipse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285292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Citizen #180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314553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57800" y="3145536"/>
            <a:ext cx="656717" cy="118872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331012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680 $OVERVIEW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8313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pic>
        <p:nvPicPr>
          <p:cNvPr id="25" name="Picture 24" descr="leaderboard_citizen_184_jas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75818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57800" y="372160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Jas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01421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57800" y="4014216"/>
            <a:ext cx="629676" cy="118872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417880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652 $OVERVIEW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61772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0A3"/>
                </a:solidFill>
                <a:latin typeface="Calibri"/>
              </a:rPr>
              <a:t>Any Citizen can enter and climb the board.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1828800"/>
            <a:ext cx="2167127" cy="216712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leader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1704" y="1975104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595360" y="4142231"/>
            <a:ext cx="2807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224A"/>
                </a:solidFill>
                <a:latin typeface="Calibri"/>
              </a:rPr>
              <a:t>Support Frank &amp;</a:t>
            </a:r>
          </a:p>
          <a:p>
            <a:pPr algn="ctr"/>
            <a:r>
              <a:rPr sz="1300" b="1" i="0">
                <a:solidFill>
                  <a:srgbClr val="1A224A"/>
                </a:solidFill>
                <a:latin typeface="Calibri"/>
              </a:rPr>
              <a:t>Back a Candidate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654295"/>
            <a:ext cx="28072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90A3"/>
                </a:solidFill>
                <a:latin typeface="Calibri"/>
              </a:rPr>
              <a:t>moondao.com/overview-vote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806440"/>
            <a:ext cx="11185855" cy="502920"/>
          </a:xfrm>
          <a:prstGeom prst="roundRect">
            <a:avLst>
              <a:gd name="adj" fmla="val 2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806440"/>
            <a:ext cx="1054577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A224A"/>
                </a:solidFill>
                <a:latin typeface="Calibri"/>
              </a:rPr>
              <a:t>$100+ grants free citizenship — and a shot at flying alongside Frank.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A224A"/>
                </a:solidFill>
                <a:latin typeface="Calibri"/>
              </a:rPr>
              <a:t>DePrize: A Prediction Market for Space Delivery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5087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8952" y="1764792"/>
            <a:ext cx="502920" cy="502920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Back a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770632"/>
            <a:ext cx="30031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278"/>
                </a:solidFill>
                <a:latin typeface="Calibri"/>
              </a:rPr>
              <a:t>Wager ETH on who delivers first</a:t>
            </a:r>
          </a:p>
        </p:txBody>
      </p:sp>
      <p:sp>
        <p:nvSpPr>
          <p:cNvPr id="11" name="Chevron 10"/>
          <p:cNvSpPr/>
          <p:nvPr/>
        </p:nvSpPr>
        <p:spPr>
          <a:xfrm>
            <a:off x="4050182" y="218084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8218" y="15087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4250" y="1764792"/>
            <a:ext cx="502920" cy="50292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2423160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Live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4250" y="2770632"/>
            <a:ext cx="30031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278"/>
                </a:solidFill>
                <a:latin typeface="Calibri"/>
              </a:rPr>
              <a:t>Every bet grows the shared prize</a:t>
            </a:r>
          </a:p>
        </p:txBody>
      </p:sp>
      <p:sp>
        <p:nvSpPr>
          <p:cNvPr id="16" name="Chevron 15"/>
          <p:cNvSpPr/>
          <p:nvPr/>
        </p:nvSpPr>
        <p:spPr>
          <a:xfrm>
            <a:off x="7885480" y="218084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73516" y="1508760"/>
            <a:ext cx="3515258" cy="16002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29548" y="1764792"/>
            <a:ext cx="502920" cy="50292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9548" y="2423160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Winner Delivers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9548" y="2770632"/>
            <a:ext cx="30031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278"/>
                </a:solidFill>
                <a:latin typeface="Calibri"/>
              </a:rPr>
              <a:t>Community declares winner; backers get paid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20440"/>
            <a:ext cx="11185855" cy="2148840"/>
          </a:xfrm>
          <a:prstGeom prst="roundRect">
            <a:avLst>
              <a:gd name="adj" fmla="val 6000"/>
            </a:avLst>
          </a:prstGeom>
          <a:solidFill>
            <a:srgbClr val="EEF0F7"/>
          </a:solidFill>
          <a:ln w="12700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77647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MATH, WORKED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178808"/>
            <a:ext cx="7589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2433"/>
                </a:solidFill>
                <a:latin typeface="Calibri"/>
              </a:rPr>
              <a:t>→  Bet 1 ETH on a provider priced at 40% odds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489704"/>
            <a:ext cx="7589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2433"/>
                </a:solidFill>
                <a:latin typeface="Calibri"/>
              </a:rPr>
              <a:t>→  5% (0.05 ETH) → prize pool  ·  95% (0.95 ETH) → market, at $0.40/share = 2.375 shares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00600"/>
            <a:ext cx="7589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2433"/>
                </a:solidFill>
                <a:latin typeface="Calibri"/>
              </a:rPr>
              <a:t>→  Less the 1% LMSR trade fee → ≈ 2.35 shares held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111496"/>
            <a:ext cx="7589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2433"/>
                </a:solidFill>
                <a:latin typeface="Calibri"/>
              </a:rPr>
              <a:t>→  If that provider wins: shares redeem 1:1 for ETH → ≈ 2.32 ETH back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69680" y="3840480"/>
            <a:ext cx="0" cy="150876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189720" y="4023360"/>
            <a:ext cx="24990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88B1F"/>
                </a:solidFill>
                <a:latin typeface="Calibri"/>
              </a:rPr>
              <a:t>+1.32 ETH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754880"/>
            <a:ext cx="24990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B6278"/>
                </a:solidFill>
                <a:latin typeface="Calibri"/>
              </a:rPr>
              <a:t>net gain, plus 50 $OVERVIEW — funded by bettors who backed other providers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064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90A3"/>
                </a:solidFill>
                <a:latin typeface="Calibri"/>
              </a:rPr>
              <a:t>Illustrative worked example from MoonDAO's DePrize design — actual payouts depend on live odds when a bet is placed.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224A"/>
                </a:solidFill>
                <a:latin typeface="Calibri"/>
              </a:rPr>
              <a:t>Surviving the 354-Hour Lunar Night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63040"/>
            <a:ext cx="3545738" cy="3977639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357A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354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of total darkness, every cycle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.0" y="2999232"/>
            <a:ext cx="3070250.3333333335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The Moon is tidally locked: one rotation = one 29.5-day 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sunrise to sunrise (“lunar day”) = 29.5 Earth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continuous night ≈ 14.75 days = 354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No atmosphere → no convection — heat only radiates away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463040"/>
            <a:ext cx="3545738" cy="3977639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22978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0722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A32E35"/>
                </a:solidFill>
                <a:latin typeface="Calibri"/>
              </a:rPr>
              <a:t>THE EXTREMES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0722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257°C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0722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swing between sun and shadow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60722.333333334" y="2999232"/>
            <a:ext cx="3070250.333333334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60722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South Pole sunlit ground: up to 54°C (130°F)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Nearby permanent shadow: as low as −203°C (−334°F)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Colder than anywhere ever recorded on Earth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Regolith insulates the subsurface, but can't power a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3036" y="1463040"/>
            <a:ext cx="3545738" cy="3977639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43036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0780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Calibri"/>
              </a:rPr>
              <a:t>THE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0780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120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780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of batteries — for one night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80780.666666667" y="2999232"/>
            <a:ext cx="3070250.333333333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80780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40 kWe load × 354 hrs ≈ 14,160 kWh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0780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At Tesla Powerwall density (13.5 kWh / 114 kg):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0780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≈ 1,050 units ≈ 120 metric tons of batteries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0780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NASA's whole heavy-lander budget: 15 tons, total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185855" cy="658368"/>
          </a:xfrm>
          <a:prstGeom prst="roundRect">
            <a:avLst>
              <a:gd name="adj" fmla="val 15000"/>
            </a:avLst>
          </a:prstGeom>
          <a:solidFill>
            <a:srgbClr val="1A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5457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Calibri"/>
              </a:rPr>
              <a:t>THE ANSWER — a 40 kWe fission reactor, shielding, and radiators fit the same 15-ton lander and run for a 10-year design life. NASA calls this civil-space shortfall #1.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0A3"/>
                </a:solidFill>
                <a:latin typeface="Calibri"/>
              </a:rPr>
              <a:t>Sources: NASA — The Harsh Environment of the Lunar South Pole; NASA Fission Surface Power Program; NASA HLS Lunar Thermal Analysis Guidebook.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Moonbase Zero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906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moonbase_real_moonbase_mai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5717416" cy="4160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7725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77256"/>
            <a:ext cx="1783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5477256"/>
            <a:ext cx="27432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7CCE4"/>
                </a:solidFill>
                <a:latin typeface="Calibri"/>
              </a:rPr>
              <a:t>moondao.com/moonbase</a:t>
            </a:r>
          </a:p>
        </p:txBody>
      </p:sp>
      <p:pic>
        <p:nvPicPr>
          <p:cNvPr id="10" name="Picture 9" descr="moonbase_real_moonbase_lander_detail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376" y="1188720"/>
            <a:ext cx="5148399" cy="3746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0376" y="5044898"/>
            <a:ext cx="5148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7CCE4"/>
                </a:solidFill>
                <a:latin typeface="Calibri"/>
              </a:rPr>
              <a:t>Click a race to see live competitors, criteria, and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350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9AA1BF"/>
                </a:solidFill>
                <a:latin typeface="Calibri"/>
              </a:rPr>
              <a:t>A true-to-scale 3D site on the Shackleton connecting ridge — 8 capability races, 24 real competitors, all publicly sourced.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54480"/>
            <a:ext cx="6492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Deep space used to require a national agency — or a billionaire.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6492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Permissionless. </a:t>
            </a:r>
            <a:r>
              <a:rPr sz="1650" b="0">
                <a:solidFill>
                  <a:srgbClr val="202433"/>
                </a:solidFill>
                <a:latin typeface="Calibri"/>
              </a:rPr>
              <a:t>Any country, company, or individual can fund and compete.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Already global. </a:t>
            </a:r>
            <a:r>
              <a:rPr sz="1650" b="0">
                <a:solidFill>
                  <a:srgbClr val="202433"/>
                </a:solidFill>
                <a:latin typeface="Calibri"/>
              </a:rPr>
              <a:t>25+ countries in the Space Acceleration Network.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An open invitation. </a:t>
            </a:r>
            <a:r>
              <a:rPr sz="1650" b="0">
                <a:solidFill>
                  <a:srgbClr val="202433"/>
                </a:solidFill>
                <a:latin typeface="Calibri"/>
              </a:rPr>
              <a:t>To anyone in this room — and your own ecosystem back home.</a:t>
            </a:r>
          </a:p>
        </p:txBody>
      </p:sp>
      <p:pic>
        <p:nvPicPr>
          <p:cNvPr id="9" name="Picture 8" descr="reference_space_acceleration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651760"/>
            <a:ext cx="4327855" cy="11588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3902035"/>
            <a:ext cx="4327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90A3"/>
                </a:solidFill>
                <a:latin typeface="Calibri"/>
              </a:rPr>
              <a:t>The Space Acceleration Network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88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088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05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05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Countries in the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420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0420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537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537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 worldwide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752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0752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869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69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Onchain, transparent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votes &amp; treasury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MOON</a:t>
            </a:r>
            <a:r>
              <a:rPr sz="1300" b="1">
                <a:solidFill>
                  <a:srgbClr val="FFFFFF"/>
                </a:solidFill>
                <a:latin typeface="Calibri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514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pablo@moondao.com   ·   @pablo_moncada_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560320"/>
            <a:ext cx="0" cy="260604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31836" y="2514600"/>
            <a:ext cx="1892808" cy="1892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join_moond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140" y="2660904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453542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Scan to Join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8646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BD1E6"/>
                </a:solidFill>
                <a:latin typeface="Calibri"/>
              </a:rPr>
              <a:t>moondao.com/join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6B962"/>
                </a:solidFill>
                <a:latin typeface="Calibri"/>
              </a:rPr>
              <a:t>moondao.com   ·   Discord: moondao.com/discord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