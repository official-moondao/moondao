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DE1EC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1828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the ConstitutionDAO line,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who we are'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Lead with the honesty of the escrow note — nothing has been spent. Then walk the 4-step selection process; it's the part of the story that shows this is merit-based, not pay-to-win.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This is the funding-innovation section — frame DePrize as a new financing primitive for uncertain missions, not just 'crypto betting.' Emphasize transparency and shared upside.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Be clear this is in development — it's the vision for how MoonDAO visualizes and eventually helps fund the entire lunar economy, not just one 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This is the slide that answers the panel's brief directly — bring it back to Brazil, AEB, and GRU explicitly if the moderator hasn't already framed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[~15s] Contact info stays up during Q&amp;A. Invite people to find you afterward per the organizer's networking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0"/>
            <a:ext cx="4556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5240" y="0"/>
            <a:ext cx="54864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907" y="4160520"/>
            <a:ext cx="2103120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6355080"/>
            <a:ext cx="4190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Space Acceleration Network</a:t>
            </a:r>
          </a:p>
        </p:txBody>
      </p:sp>
      <p:pic>
        <p:nvPicPr>
          <p:cNvPr id="6" name="Picture 5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2834640" cy="793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78308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8B1F"/>
                </a:solidFill>
                <a:latin typeface="Calibri"/>
              </a:rPr>
              <a:t>THE INTERNET'S SPACE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48840"/>
            <a:ext cx="6766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1A224A"/>
                </a:solidFill>
                <a:latin typeface="Calibri"/>
              </a:rPr>
              <a:t>MoonDAO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4612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22357A"/>
                </a:solidFill>
                <a:latin typeface="Calibri"/>
              </a:rPr>
              <a:t>Deep Space and the Lunar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3075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2nd Space Industry Workshop Brazil  ·  Brazilian Space Agency (AEB)  ·  Rio de Janeiro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434840"/>
            <a:ext cx="6309360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0916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91640" y="473659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510235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26364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90A3"/>
                </a:solidFill>
                <a:latin typeface="Calibri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08760"/>
            <a:ext cx="22860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9959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25112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Founder &amp; Executive</a:t>
            </a:r>
          </a:p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Calibri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7608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Calibri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725393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Founder of MoonDAO. </a:t>
            </a:r>
            <a:r>
              <a:rPr sz="1350" b="0">
                <a:solidFill>
                  <a:srgbClr val="202433"/>
                </a:solidFill>
                <a:latin typeface="Calibri"/>
              </a:rPr>
              <a:t>Co-founded and served as the first elected Executive Lead, building an open, onchain platform to fund and govern humanity's return to the Moon since 2021.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Formerly BigTech. </a:t>
            </a:r>
            <a:r>
              <a:rPr sz="1350" b="0">
                <a:solidFill>
                  <a:srgbClr val="202433"/>
                </a:solidFill>
                <a:latin typeface="Calibri"/>
              </a:rPr>
              <a:t>Software engineer at Google, working on Waymo's self-driving perception systems and YouTube VR, and previously at a biotech startup engineering human tissue.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Core contributor, ConstitutionDAO. </a:t>
            </a:r>
            <a:r>
              <a:rPr sz="1350" b="0">
                <a:solidFill>
                  <a:srgbClr val="202433"/>
                </a:solidFill>
                <a:latin typeface="Calibri"/>
              </a:rPr>
              <a:t>Helped build the DAO that raised $47M in days to bid on an original copy of the U.S. Constitution.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University of Michigan. </a:t>
            </a:r>
            <a:r>
              <a:rPr sz="1350" b="0">
                <a:solidFill>
                  <a:srgbClr val="202433"/>
                </a:solidFill>
                <a:latin typeface="Calibri"/>
              </a:rPr>
              <a:t>Studied Computer Science, Mechanical Engineering, and Business; grew up between Michigan and Zaragoza, Spain.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7253935" cy="86868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5468112"/>
            <a:ext cx="67418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A224A"/>
                </a:solidFill>
                <a:latin typeface="Calibri"/>
              </a:rPr>
              <a:t>“I used to work at Big Tech, but stepped away after seeing where the world could be headed with centralized control over billions of people's lives. I see decentralization as a way to help fix that.”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24A"/>
                </a:solidFill>
                <a:latin typeface="Calibri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11155680" cy="86868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B1F"/>
                </a:solidFill>
                <a:latin typeface="Calibri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31720"/>
            <a:ext cx="83667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1A224A"/>
                </a:solidFill>
                <a:latin typeface="Calibri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Decentralized. </a:t>
            </a:r>
            <a:r>
              <a:rPr sz="1450" b="0">
                <a:solidFill>
                  <a:srgbClr val="202433"/>
                </a:solidFill>
                <a:latin typeface="Calibri"/>
              </a:rPr>
              <a:t>Membership, voting, and treasury are governed onchain through the $MOONEY token — no single point of control.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Global &amp; permissionless. </a:t>
            </a:r>
            <a:r>
              <a:rPr sz="1450" b="0">
                <a:solidFill>
                  <a:srgbClr val="202433"/>
                </a:solidFill>
                <a:latin typeface="Calibri"/>
              </a:rPr>
              <a:t>Anyone, anywhere can join as a Citizen, propose a project, contribute funding, or start a Team.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Radically transparent. </a:t>
            </a:r>
            <a:r>
              <a:rPr sz="1450" b="0">
                <a:solidFill>
                  <a:srgbClr val="202433"/>
                </a:solidFill>
                <a:latin typeface="Calibri"/>
              </a:rPr>
              <a:t>Every proposal, vote, and treasury transaction is public and verifiable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44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944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61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61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Raised onchain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836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836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953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953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728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R&amp;D projects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620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620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737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37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Crowdfunded citizen-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astronauts sent to 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85900.0" y="2606040"/>
            <a:ext cx="9219895.0" cy="0"/>
          </a:xfrm>
          <a:prstGeom prst="line">
            <a:avLst/>
          </a:prstGeom>
          <a:ln w="3175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385316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69028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89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Calibri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89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89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Calibri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30023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784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Calibri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784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84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605211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281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281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281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31" y="4572000"/>
            <a:ext cx="2542032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0031" y="6080760"/>
            <a:ext cx="2542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3231" y="4572000"/>
            <a:ext cx="2542032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453231" y="6080760"/>
            <a:ext cx="2542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6431" y="4572000"/>
            <a:ext cx="2542032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196431" y="6080760"/>
            <a:ext cx="2542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9631" y="4572000"/>
            <a:ext cx="2542032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39631" y="6080760"/>
            <a:ext cx="2542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Dr. Eiman Jahangir — 2nd astronaut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Sent two crowdfunded, community-selected citizens to space via open, onchain voting.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338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$600K+ allocated to 80+ projects through transparent community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1156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Zero-gravity flights and astronaut-preparation experiences for the community.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An onchain “startup society” connecting builders, teams, and citizens across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6338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6338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Every proposal, vote, and treasury movement is public and verifiable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1156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1156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Constitution, Launchpad, and mission funding building toward a self-governing settlement on the Moon.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Calibri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rank_white_citizen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B6278"/>
                </a:solidFill>
                <a:latin typeface="Calibri"/>
              </a:rPr>
              <a:t>Author, “The Overview Effect”</a:t>
            </a:r>
          </a:p>
        </p:txBody>
      </p:sp>
      <p:pic>
        <p:nvPicPr>
          <p:cNvPr id="10" name="Picture 9" descr="earthrise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526280"/>
            <a:ext cx="3566160" cy="148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4875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Calibri"/>
              </a:rPr>
              <a:t>“Earthrise,” Apollo 8, 1968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97961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Coined “the Overview Effect.” </a:t>
            </a:r>
            <a:r>
              <a:rPr sz="1450" b="0">
                <a:solidFill>
                  <a:srgbClr val="202433"/>
                </a:solidFill>
                <a:latin typeface="Calibri"/>
              </a:rPr>
              <a:t>His 1987 book — now in its 4th edition — named the cognitive shift astronauts describe when they see Earth as one fragile, borderless whole.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Nearly 40 years of research. </a:t>
            </a:r>
            <a:r>
              <a:rPr sz="1450" b="0">
                <a:solidFill>
                  <a:srgbClr val="202433"/>
                </a:solidFill>
                <a:latin typeface="Calibri"/>
              </a:rPr>
              <a:t>Interviewed more than 50 astronauts and cosmonauts about how spaceflight changed the way they see our planet.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Shaped the industry's language. </a:t>
            </a:r>
            <a:r>
              <a:rPr sz="1450" b="0">
                <a:solidFill>
                  <a:srgbClr val="202433"/>
                </a:solidFill>
                <a:latin typeface="Calibri"/>
              </a:rPr>
              <a:t>Co-founded the Overview Institute; his work inspired the documentary “Overview,” viewed nearly 8 million times.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Has never been to space.</a:t>
            </a:r>
            <a:r>
              <a:rPr sz="1450" b="0">
                <a:solidFill>
                  <a:srgbClr val="202433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09160"/>
            <a:ext cx="6979615" cy="123444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64608"/>
            <a:ext cx="643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691640"/>
          <a:ext cx="31089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27432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A224A"/>
                </a:solidFill>
                <a:latin typeface="Calibri"/>
              </a:rPr>
              <a:t>~9%</a:t>
            </a:r>
          </a:p>
          <a:p>
            <a:pPr algn="ctr"/>
            <a:r>
              <a:rPr sz="2000" b="1" i="0">
                <a:solidFill>
                  <a:srgbClr val="1A224A"/>
                </a:solidFill>
                <a:latin typeface="Calibri"/>
              </a:rPr>
              <a:t>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262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224A"/>
                </a:solidFill>
                <a:latin typeface="Calibri"/>
              </a:rPr>
              <a:t>$172K raised  ·  157 contributors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6460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278"/>
                </a:solidFill>
                <a:latin typeface="Calibri"/>
              </a:rPr>
              <a:t>Campaign goal: 965 ETH (≈$2M) for two seats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4924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58968"/>
            <a:ext cx="3657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1A224A"/>
                </a:solidFill>
                <a:latin typeface="Calibri"/>
              </a:rPr>
              <a:t>Every dollar raised is held in escrow until a flight is secured — nothing has been spent.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600200"/>
            <a:ext cx="67967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224A"/>
                </a:solidFill>
                <a:latin typeface="Calibri"/>
              </a:rPr>
              <a:t>How the community selects the Candidate</a:t>
            </a:r>
          </a:p>
        </p:txBody>
      </p:sp>
      <p:sp>
        <p:nvSpPr>
          <p:cNvPr id="14" name="Oval 13"/>
          <p:cNvSpPr/>
          <p:nvPr/>
        </p:nvSpPr>
        <p:spPr>
          <a:xfrm>
            <a:off x="4892040" y="2148840"/>
            <a:ext cx="411480" cy="411480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2130552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Contribute $100+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2450592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Grants free MoonDAO citizenship — required to enter the selection process.</a:t>
            </a:r>
          </a:p>
        </p:txBody>
      </p:sp>
      <p:sp>
        <p:nvSpPr>
          <p:cNvPr id="17" name="Oval 16"/>
          <p:cNvSpPr/>
          <p:nvPr/>
        </p:nvSpPr>
        <p:spPr>
          <a:xfrm>
            <a:off x="4892040" y="3044952"/>
            <a:ext cx="411480" cy="41148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026664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Community backing + essay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3346704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Candidates share what the Overview Effect means to them and build public support.</a:t>
            </a:r>
          </a:p>
        </p:txBody>
      </p:sp>
      <p:sp>
        <p:nvSpPr>
          <p:cNvPr id="20" name="Oval 19"/>
          <p:cNvSpPr/>
          <p:nvPr/>
        </p:nvSpPr>
        <p:spPr>
          <a:xfrm>
            <a:off x="4892040" y="3941064"/>
            <a:ext cx="411480" cy="411480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3922776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Astronaut review committee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4242816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Professional and commercial astronauts evaluate the remaining candidates.</a:t>
            </a:r>
          </a:p>
        </p:txBody>
      </p:sp>
      <p:sp>
        <p:nvSpPr>
          <p:cNvPr id="23" name="Oval 22"/>
          <p:cNvSpPr/>
          <p:nvPr/>
        </p:nvSpPr>
        <p:spPr>
          <a:xfrm>
            <a:off x="4892040" y="4837176"/>
            <a:ext cx="411480" cy="41148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4818888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Final governance vote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8968" y="5138928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MoonDAO's $vMOONEY holders vote to select who flies alongside Frank.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DePrize: Betting to Fund the Mission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28800"/>
            <a:ext cx="3484778" cy="2880360"/>
          </a:xfrm>
          <a:prstGeom prst="roundRect">
            <a:avLst>
              <a:gd name="adj" fmla="val 7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48477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9361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2357A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24912"/>
            <a:ext cx="293613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Back a 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36138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278"/>
                </a:solidFill>
                <a:latin typeface="Calibri"/>
              </a:rPr>
              <a:t>Community members wager ETH on which launch provider — e.g. Virgin Galactic or Zephalto — will deliver the flight first.</a:t>
            </a:r>
          </a:p>
        </p:txBody>
      </p:sp>
      <p:sp>
        <p:nvSpPr>
          <p:cNvPr id="12" name="Chevron 11"/>
          <p:cNvSpPr/>
          <p:nvPr/>
        </p:nvSpPr>
        <p:spPr>
          <a:xfrm>
            <a:off x="4042562" y="3140964"/>
            <a:ext cx="256032" cy="256032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53458" y="1828800"/>
            <a:ext cx="3484778" cy="2880360"/>
          </a:xfrm>
          <a:prstGeom prst="roundRect">
            <a:avLst>
              <a:gd name="adj" fmla="val 7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3458" y="1828800"/>
            <a:ext cx="348477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2084832"/>
            <a:ext cx="29361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B4C9B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7778" y="2724912"/>
            <a:ext cx="293613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Live, Onchain Odds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7778" y="3337560"/>
            <a:ext cx="2936138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278"/>
                </a:solidFill>
                <a:latin typeface="Calibri"/>
              </a:rPr>
              <a:t>Every bet grows a shared prize pool and produces real-time, transparent odds — a prediction market for space delivery.</a:t>
            </a:r>
          </a:p>
        </p:txBody>
      </p:sp>
      <p:sp>
        <p:nvSpPr>
          <p:cNvPr id="18" name="Chevron 17"/>
          <p:cNvSpPr/>
          <p:nvPr/>
        </p:nvSpPr>
        <p:spPr>
          <a:xfrm>
            <a:off x="7893100" y="3140964"/>
            <a:ext cx="256032" cy="256032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03996" y="1828800"/>
            <a:ext cx="3484778" cy="2880360"/>
          </a:xfrm>
          <a:prstGeom prst="roundRect">
            <a:avLst>
              <a:gd name="adj" fmla="val 7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03996" y="1828800"/>
            <a:ext cx="348477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8316" y="2084832"/>
            <a:ext cx="29361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88B1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8316" y="2724912"/>
            <a:ext cx="293613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Winner Delivers, Prize Pays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316" y="3337560"/>
            <a:ext cx="2936138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278"/>
                </a:solidFill>
                <a:latin typeface="Calibri"/>
              </a:rPr>
              <a:t>The community declares a winner; the provider is paid in milestones tied to delivery, and backers of the winner are rewarded.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5855" cy="86868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0368"/>
            <a:ext cx="1054577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A transparent, market-driven way to fund high-uncertainty space missions — turning funding into participation, and every backer into a stakeholder.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224A"/>
                </a:solidFill>
                <a:latin typeface="Calibri"/>
              </a:rPr>
              <a:t>Mapping (and Wagering on) the Lunar Economy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moon-full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3367735" cy="336773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044787" y="4739335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4787" y="4739335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7452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24A"/>
                </a:solidFill>
                <a:latin typeface="Calibri"/>
              </a:rPr>
              <a:t>“Lunar Atlas” — an interactive, MoonDAO-curated globe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74523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E88B1F"/>
                </a:solidFill>
                <a:latin typeface="Calibri"/>
              </a:rPr>
              <a:t>—  </a:t>
            </a:r>
            <a:r>
              <a:rPr sz="1400" b="1">
                <a:solidFill>
                  <a:srgbClr val="202433"/>
                </a:solidFill>
                <a:latin typeface="Calibri"/>
              </a:rPr>
              <a:t>Real, sourced plans. </a:t>
            </a:r>
            <a:r>
              <a:rPr sz="1400" b="0">
                <a:solidFill>
                  <a:srgbClr val="202433"/>
                </a:solidFill>
                <a:latin typeface="Calibri"/>
              </a:rPr>
              <a:t>Visualizes publicly announced lunar programs from NASA, SpaceX, Blue Origin and others, placed at their intended locations.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E88B1F"/>
                </a:solidFill>
                <a:latin typeface="Calibri"/>
              </a:rPr>
              <a:t>—  </a:t>
            </a:r>
            <a:r>
              <a:rPr sz="1400" b="1">
                <a:solidFill>
                  <a:srgbClr val="202433"/>
                </a:solidFill>
                <a:latin typeface="Calibri"/>
              </a:rPr>
              <a:t>A timeline of the coming decade. </a:t>
            </a:r>
            <a:r>
              <a:rPr sz="1400" b="0">
                <a:solidFill>
                  <a:srgbClr val="202433"/>
                </a:solidFill>
                <a:latin typeface="Calibri"/>
              </a:rPr>
              <a:t>A year-by-year scrubber reveals planned bases, landers, and infrastructure as their target dates arrive.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E88B1F"/>
                </a:solidFill>
                <a:latin typeface="Calibri"/>
              </a:rPr>
              <a:t>—  </a:t>
            </a:r>
            <a:r>
              <a:rPr sz="1400" b="1">
                <a:solidFill>
                  <a:srgbClr val="202433"/>
                </a:solidFill>
                <a:latin typeface="Calibri"/>
              </a:rPr>
              <a:t>Shared goals, surfaced. </a:t>
            </a:r>
            <a:r>
              <a:rPr sz="1400" b="0">
                <a:solidFill>
                  <a:srgbClr val="202433"/>
                </a:solidFill>
                <a:latin typeface="Calibri"/>
              </a:rPr>
              <a:t>Where multiple organizations chase the same objective — e.g. the first sustained south-pole base — it becomes a tracked “shared goal.”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E88B1F"/>
                </a:solidFill>
                <a:latin typeface="Calibri"/>
              </a:rPr>
              <a:t>—  </a:t>
            </a:r>
            <a:r>
              <a:rPr sz="1400" b="1">
                <a:solidFill>
                  <a:srgbClr val="202433"/>
                </a:solidFill>
                <a:latin typeface="Calibri"/>
              </a:rPr>
              <a:t>Linked to DePrize. </a:t>
            </a:r>
            <a:r>
              <a:rPr sz="1400" b="0">
                <a:solidFill>
                  <a:srgbClr val="202433"/>
                </a:solidFill>
                <a:latin typeface="Calibri"/>
              </a:rPr>
              <a:t>Each shared goal can connect to a DePrize market, so the community can back who they believe will deliver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554480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A224A"/>
                </a:solidFill>
                <a:latin typeface="Calibri"/>
              </a:rPr>
              <a:t>For most of history, deep-space activity has been the domain of a handful of national agencies — and, more recently, a handful of billionaires.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Permissionless participation. </a:t>
            </a:r>
            <a:r>
              <a:rPr sz="1550" b="0">
                <a:solidFill>
                  <a:srgbClr val="202433"/>
                </a:solidFill>
                <a:latin typeface="Calibri"/>
              </a:rPr>
              <a:t>Decentralized, onchain tools mean any country, company, university, or individual can fund, compete in, and benefit from lunar-economy activity — not just legacy space powers.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Already global. </a:t>
            </a:r>
            <a:r>
              <a:rPr sz="1550" b="0">
                <a:solidFill>
                  <a:srgbClr val="202433"/>
                </a:solidFill>
                <a:latin typeface="Calibri"/>
              </a:rPr>
              <a:t>The Space Acceleration Network connects citizens across 25+ countries with the funding, tools, and visibility to build — including a growing community in Latin America.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An open invitation. </a:t>
            </a:r>
            <a:r>
              <a:rPr sz="1550" b="0">
                <a:solidFill>
                  <a:srgbClr val="202433"/>
                </a:solidFill>
                <a:latin typeface="Calibri"/>
              </a:rPr>
              <a:t>To Brazil's space ecosystem — AEB, GRU, universities, and industry — to plug into a transparent, global network built for exactly the next phase of space development this panel is about.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88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088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05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05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Countries in the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420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420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537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537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 worldwide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0752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9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869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Onchain, transparent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votes &amp; treasury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MOON</a:t>
            </a:r>
            <a:r>
              <a:rPr sz="1300" b="1">
                <a:solidFill>
                  <a:srgbClr val="FFFFFF"/>
                </a:solidFill>
                <a:latin typeface="Calibri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Let's Build the Lunar Economy Together</a:t>
            </a:r>
          </a:p>
        </p:txBody>
      </p: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047" y="269748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0" i="0">
                <a:solidFill>
                  <a:srgbClr val="FFFFFF"/>
                </a:solidFill>
                <a:latin typeface="Calibri"/>
              </a:rPr>
              <a:t>Pablo Moncada-Larrotiz  ·  Founder &amp; Executive Director, MoonDAO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17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CBD1E6"/>
                </a:solidFill>
                <a:latin typeface="Calibri"/>
              </a:rPr>
              <a:t>pablo@moondao.com   ·   @pablo_moncada_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5257800"/>
            <a:ext cx="3959352" cy="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6B962"/>
                </a:solidFill>
                <a:latin typeface="Calibri"/>
              </a:rPr>
              <a:t>moondao.com   ·   Become a Citizen  →  moondao.com/join   ·   Join the Discord  →  discord.gg/moondao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