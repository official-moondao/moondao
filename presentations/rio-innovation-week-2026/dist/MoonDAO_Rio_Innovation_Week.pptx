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E88B1F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DDE1EC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Raised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172</c:v>
                </c:pt>
                <c:pt idx="1">
                  <c:v>78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[~20s] Quick intro — who you are and why MoonDAO is on this panel. Don't linger, the content does the introducing.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[~30s] One or two sentences max — the room can read the bullets. Land on the ConstitutionDAO line, it's the most relatable proof point for a non-crypto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Define MoonDAO in one breath before the stats: an onchain community funding and governing space access. Let the four numbers do the heavy lifting.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Walk left to right once, quickly. Slow down only on 2022 (first astronaut) and 2025 (constitution on the Moon) — those are the two moments that make people lean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Don't read every card. Group them verbally: 'flight access, funding, training, network, governance, and the roadmap that ties it together.'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[~10s] Let this breathe — pause on the title before moving to Frank White. This is the pivot from 'here's who we are' to 'here's the live opportunity.'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Frank is the emotional core of this section — 40 years, 50+ astronauts, coined the term, and has never flown himself. That irony is the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[~50s] Lead with the honesty of the escrow note — nothing has been spent. Then walk the 4-step selection process; it's the part of the story that shows this is merit-based, not pay-to-win.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[~50s] This is the funding-innovation section — frame DePrize as a new financing primitive for uncertain missions, not just 'crypto betting.' Emphasize transparency and shared upside.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Name it clearly as Moonbase Zero, in development. The race board on the right is real, sourced data — point out how many organizations are already racing on one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[~50s] This is the technical-depth moment. Walk the physics (14.75-day night) then the math (14,160 kWh, 1,050 Powerwalls) before naming the three real competitors — it shows MoonDAO understands the engineering, not just the funding mechanics.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This is the slide that answers the panel's brief directly — bring it back to Brazil, AEB, and GRU explicitly if the moderator hasn't already framed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[~15s] Contact info stays up during Q&amp;A. Invite people to find you afterward per the organizer's networking guidance.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on-full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0"/>
            <a:ext cx="45564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35240" y="0"/>
            <a:ext cx="54864" cy="6858000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blo_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907" y="4160520"/>
            <a:ext cx="2103120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8120" y="6355080"/>
            <a:ext cx="4190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Space Acceleration Network</a:t>
            </a:r>
          </a:p>
        </p:txBody>
      </p:sp>
      <p:pic>
        <p:nvPicPr>
          <p:cNvPr id="6" name="Picture 5" descr="MoonDA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"/>
            <a:ext cx="2834640" cy="793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78308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8B1F"/>
                </a:solidFill>
                <a:latin typeface="Calibri"/>
              </a:rPr>
              <a:t>THE INTERNET'S SPACE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148840"/>
            <a:ext cx="67665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1A224A"/>
                </a:solidFill>
                <a:latin typeface="Calibri"/>
              </a:rPr>
              <a:t>MoonDAO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4612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22357A"/>
                </a:solidFill>
                <a:latin typeface="Calibri"/>
              </a:rPr>
              <a:t>Deep Space and the Lunar Economy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30752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B6278"/>
                </a:solidFill>
                <a:latin typeface="Calibri"/>
              </a:rPr>
              <a:t>2nd Space Industry Workshop Brazil  ·  Brazilian Space Agency (AEB)  ·  Rio de Janeiro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4434840"/>
            <a:ext cx="6309360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pablo_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09160"/>
            <a:ext cx="8686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91640" y="473659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510235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B6278"/>
                </a:solidFill>
                <a:latin typeface="Calibri"/>
              </a:rPr>
              <a:t>Founder &amp; Executive Director, MoonDAO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26364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90A3"/>
                </a:solidFill>
                <a:latin typeface="Calibri"/>
              </a:rPr>
              <a:t>pablo@moondao.com   ·   @pablo_moncada_   ·   moondao.com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ABOUT THE 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pablo_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508760"/>
            <a:ext cx="22860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99592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25112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5B6278"/>
                </a:solidFill>
                <a:latin typeface="Calibri"/>
              </a:rPr>
              <a:t>Founder &amp; Executive</a:t>
            </a:r>
          </a:p>
          <a:p>
            <a:pPr algn="ctr"/>
            <a:r>
              <a:rPr sz="1250" b="0" i="0">
                <a:solidFill>
                  <a:srgbClr val="5B6278"/>
                </a:solidFill>
                <a:latin typeface="Calibri"/>
              </a:rPr>
              <a:t>Director, 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0A3"/>
                </a:solidFill>
                <a:latin typeface="Calibri"/>
              </a:rPr>
              <a:t>San Francisco, 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7608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A90A3"/>
                </a:solidFill>
                <a:latin typeface="Calibri"/>
              </a:rPr>
              <a:t>pablo@moondao.com  ·  @pablo_moncada_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508760"/>
            <a:ext cx="7253935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E88B1F"/>
                </a:solidFill>
                <a:latin typeface="Calibri"/>
              </a:rPr>
              <a:t>—  </a:t>
            </a:r>
            <a:r>
              <a:rPr sz="1350" b="1">
                <a:solidFill>
                  <a:srgbClr val="202433"/>
                </a:solidFill>
                <a:latin typeface="Calibri"/>
              </a:rPr>
              <a:t>Founder of MoonDAO. </a:t>
            </a:r>
            <a:r>
              <a:rPr sz="1350" b="0">
                <a:solidFill>
                  <a:srgbClr val="202433"/>
                </a:solidFill>
                <a:latin typeface="Calibri"/>
              </a:rPr>
              <a:t>Co-founded and served as the first elected Executive Lead, building an open, onchain platform to fund and govern humanity's return to the Moon since 2021.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E88B1F"/>
                </a:solidFill>
                <a:latin typeface="Calibri"/>
              </a:rPr>
              <a:t>—  </a:t>
            </a:r>
            <a:r>
              <a:rPr sz="1350" b="1">
                <a:solidFill>
                  <a:srgbClr val="202433"/>
                </a:solidFill>
                <a:latin typeface="Calibri"/>
              </a:rPr>
              <a:t>Career: Waymo, YouTube, STEL. </a:t>
            </a:r>
            <a:r>
              <a:rPr sz="1350" b="0">
                <a:solidFill>
                  <a:srgbClr val="202433"/>
                </a:solidFill>
                <a:latin typeface="Calibri"/>
              </a:rPr>
              <a:t>Software engineer at Google — self-driving perception at Waymo, and YouTube VR — and previously at biotech startup STEL, engineering human tissue.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E88B1F"/>
                </a:solidFill>
                <a:latin typeface="Calibri"/>
              </a:rPr>
              <a:t>—  </a:t>
            </a:r>
            <a:r>
              <a:rPr sz="1350" b="1">
                <a:solidFill>
                  <a:srgbClr val="202433"/>
                </a:solidFill>
                <a:latin typeface="Calibri"/>
              </a:rPr>
              <a:t>Core contributor, ConstitutionDAO. </a:t>
            </a:r>
            <a:r>
              <a:rPr sz="1350" b="0">
                <a:solidFill>
                  <a:srgbClr val="202433"/>
                </a:solidFill>
                <a:latin typeface="Calibri"/>
              </a:rPr>
              <a:t>Helped build the DAO that raised $47M in days to bid on an original copy of the U.S. Constitution.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E88B1F"/>
                </a:solidFill>
                <a:latin typeface="Calibri"/>
              </a:rPr>
              <a:t>—  </a:t>
            </a:r>
            <a:r>
              <a:rPr sz="1350" b="1">
                <a:solidFill>
                  <a:srgbClr val="202433"/>
                </a:solidFill>
                <a:latin typeface="Calibri"/>
              </a:rPr>
              <a:t>University of Michigan. </a:t>
            </a:r>
            <a:r>
              <a:rPr sz="1350" b="0">
                <a:solidFill>
                  <a:srgbClr val="202433"/>
                </a:solidFill>
                <a:latin typeface="Calibri"/>
              </a:rPr>
              <a:t>Studied Computer Science, Mechanical Engineering, and Business; grew up between Michigan and Zaragoza, Spain.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349240"/>
            <a:ext cx="7253935" cy="868680"/>
          </a:xfrm>
          <a:prstGeom prst="roundRect">
            <a:avLst>
              <a:gd name="adj" fmla="val 12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5468112"/>
            <a:ext cx="67418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1A224A"/>
                </a:solidFill>
                <a:latin typeface="Calibri"/>
              </a:rPr>
              <a:t>“I used to work at Big Tech, but stepped away after seeing where the world could be headed with centralized control over billions of people's lives. I see decentralization as a way to help fix that.”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What Is MoonDAO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41732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224A"/>
                </a:solidFill>
                <a:latin typeface="Calibri"/>
              </a:rPr>
              <a:t>An onchain community — anyone, anywhere — pooling resources to fund and govern humanity's next steps into 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11155680" cy="868680"/>
          </a:xfrm>
          <a:prstGeom prst="roundRect">
            <a:avLst>
              <a:gd name="adj" fmla="val 15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8B1F"/>
                </a:solidFill>
                <a:latin typeface="Calibri"/>
              </a:rPr>
              <a:t>OUR 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31720"/>
            <a:ext cx="83667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 i="1">
                <a:solidFill>
                  <a:srgbClr val="1A224A"/>
                </a:solidFill>
                <a:latin typeface="Calibri"/>
              </a:rPr>
              <a:t>To accelerate the development of a self-sustaining, self-governing settlement on the Moon.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91840"/>
            <a:ext cx="11155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Decentralized. </a:t>
            </a:r>
            <a:r>
              <a:rPr sz="1450" b="0">
                <a:solidFill>
                  <a:srgbClr val="202433"/>
                </a:solidFill>
                <a:latin typeface="Calibri"/>
              </a:rPr>
              <a:t>Membership, voting, and treasury are governed onchain through the $MOONEY token — no single point of control.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Global &amp; permissionless. </a:t>
            </a:r>
            <a:r>
              <a:rPr sz="1450" b="0">
                <a:solidFill>
                  <a:srgbClr val="202433"/>
                </a:solidFill>
                <a:latin typeface="Calibri"/>
              </a:rPr>
              <a:t>Anyone, anywhere can join as a Citizen, propose a project, contribute funding, or start a Team.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Radically transparent. </a:t>
            </a:r>
            <a:r>
              <a:rPr sz="1450" b="0">
                <a:solidFill>
                  <a:srgbClr val="202433"/>
                </a:solidFill>
                <a:latin typeface="Calibri"/>
              </a:rPr>
              <a:t>Every proposal, vote, and treasury transaction is public and verifiable onchain.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44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944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61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$8M+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61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Raised onchain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 fund space access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836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9836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953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12,000+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953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$MOONEY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token holders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28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8728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845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80+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845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Space R&amp;D projects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funded via governance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620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7620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737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737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Crowdfunded citizen-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astronauts sent to 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Five Years of Milestones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85900.0" y="2606040"/>
            <a:ext cx="9219895.0" cy="0"/>
          </a:xfrm>
          <a:prstGeom prst="line">
            <a:avLst/>
          </a:prstGeom>
          <a:ln w="3175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385316" y="2505456"/>
            <a:ext cx="201168" cy="201168"/>
          </a:xfrm>
          <a:prstGeom prst="ellipse">
            <a:avLst/>
          </a:prstGeom>
          <a:solidFill>
            <a:srgbClr val="22357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2357A"/>
                </a:solidFill>
                <a:latin typeface="Calibri"/>
              </a:rPr>
              <a:t>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MoonDAO Launches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First DAO focused on space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exploration &amp; lunar settlement</a:t>
            </a:r>
          </a:p>
        </p:txBody>
      </p:sp>
      <p:sp>
        <p:nvSpPr>
          <p:cNvPr id="12" name="Oval 11"/>
          <p:cNvSpPr/>
          <p:nvPr/>
        </p:nvSpPr>
        <p:spPr>
          <a:xfrm>
            <a:off x="3690289" y="2505456"/>
            <a:ext cx="201168" cy="201168"/>
          </a:xfrm>
          <a:prstGeom prst="ellipse">
            <a:avLst/>
          </a:prstGeom>
          <a:solidFill>
            <a:srgbClr val="2B4C9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7893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B4C9B"/>
                </a:solidFill>
                <a:latin typeface="Calibri"/>
              </a:rPr>
              <a:t>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893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$8M Raised + First Astronaut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893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2,600 ETH raised; Coby Cotton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flies on Blue Origin's NS-22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505456"/>
            <a:ext cx="201168" cy="201168"/>
          </a:xfrm>
          <a:prstGeom prst="ellipse">
            <a:avLst/>
          </a:prstGeom>
          <a:solidFill>
            <a:srgbClr val="E88B1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2867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E88B1F"/>
                </a:solidFill>
                <a:latin typeface="Calibri"/>
              </a:rPr>
              <a:t>2023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2867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80+ Projects Funded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2867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Community governance funds a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thriving space R&amp;D ecosystem</a:t>
            </a:r>
          </a:p>
        </p:txBody>
      </p:sp>
      <p:sp>
        <p:nvSpPr>
          <p:cNvPr id="20" name="Oval 19"/>
          <p:cNvSpPr/>
          <p:nvPr/>
        </p:nvSpPr>
        <p:spPr>
          <a:xfrm>
            <a:off x="8300237" y="2505456"/>
            <a:ext cx="201168" cy="201168"/>
          </a:xfrm>
          <a:prstGeom prst="ellipse">
            <a:avLst/>
          </a:prstGeom>
          <a:solidFill>
            <a:srgbClr val="A32E35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7841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32E35"/>
                </a:solidFill>
                <a:latin typeface="Calibri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7841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Network + 2nd Astronaut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841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Space Acceleration Network launches;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Dr. Eiman Jahangir flies to space</a:t>
            </a:r>
          </a:p>
        </p:txBody>
      </p:sp>
      <p:sp>
        <p:nvSpPr>
          <p:cNvPr id="24" name="Oval 23"/>
          <p:cNvSpPr/>
          <p:nvPr/>
        </p:nvSpPr>
        <p:spPr>
          <a:xfrm>
            <a:off x="10605211" y="2505456"/>
            <a:ext cx="201168" cy="201168"/>
          </a:xfrm>
          <a:prstGeom prst="ellipse">
            <a:avLst/>
          </a:prstGeom>
          <a:solidFill>
            <a:srgbClr val="22357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2815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2357A"/>
                </a:solidFill>
                <a:latin typeface="Calibri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2815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Constitution Reaches the Moon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22815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MoonDAO Launchpad ships; our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constitution lands on the lunar surface</a:t>
            </a:r>
          </a:p>
        </p:txBody>
      </p:sp>
      <p:pic>
        <p:nvPicPr>
          <p:cNvPr id="28" name="Picture 27" descr="MoonDAO-New-Shepard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895" y="4572000"/>
            <a:ext cx="2340864" cy="1463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725015" y="6080760"/>
            <a:ext cx="27066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Team at Blue Origin’s launch site</a:t>
            </a:r>
          </a:p>
        </p:txBody>
      </p:sp>
      <p:pic>
        <p:nvPicPr>
          <p:cNvPr id="30" name="Picture 29" descr="astronaut-coby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791" y="4572000"/>
            <a:ext cx="1463040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321911" y="6080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Coby Cotton — 1st MoonDAO astronaut</a:t>
            </a:r>
          </a:p>
        </p:txBody>
      </p:sp>
      <p:pic>
        <p:nvPicPr>
          <p:cNvPr id="32" name="Picture 31" descr="zero-g-image_roun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863" y="4572000"/>
            <a:ext cx="2340864" cy="14630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40983" y="6080760"/>
            <a:ext cx="27066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Zero-gravity training flight</a:t>
            </a:r>
          </a:p>
        </p:txBody>
      </p:sp>
      <p:pic>
        <p:nvPicPr>
          <p:cNvPr id="34" name="Picture 33" descr="astronaut-eima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0759" y="4572000"/>
            <a:ext cx="1463040" cy="14630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637879" y="6080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Dr. Eiman Jahangir — 2nd astronaut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Core Initiatives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Human Spaceflight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Sent two crowdfunded, community-selected citizens to space via open, onchain voting.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7738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6338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Fund Space R&amp;D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338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$600K+ allocated to 80+ projects through transparent community governance.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2556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1156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Space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1156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Zero-gravity flights and astronaut-preparation experiences for the community.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Space Acceleration 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An onchain “startup society” connecting builders, teams, and citizens across the space industry.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07738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07738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6338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Transparent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6338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Every proposal, vote, and treasury movement is public and verifiable onchain.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2556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2556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1156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Lunar Settlement Roadmap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1156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Constitution, Launchpad, and mission funding building toward a self-governing settlement on the Moon.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thris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10149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88920"/>
            <a:ext cx="10149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Go to Space with Frank White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794760"/>
            <a:ext cx="8869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E6E9F5"/>
                </a:solidFill>
                <a:latin typeface="Calibri"/>
              </a:rPr>
              <a:t>Funding a flight for the author of “The Overview Effect” — and one MoonDAO community member — to finally see Earth from 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Who Is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frank_white_citizen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55448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79476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24A"/>
                </a:solidFill>
                <a:latin typeface="Calibri"/>
              </a:rPr>
              <a:t>Frank White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B6278"/>
                </a:solidFill>
                <a:latin typeface="Calibri"/>
              </a:rPr>
              <a:t>Author, “The Overview Effect”</a:t>
            </a:r>
          </a:p>
        </p:txBody>
      </p:sp>
      <p:pic>
        <p:nvPicPr>
          <p:cNvPr id="10" name="Picture 9" descr="earthrise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526280"/>
            <a:ext cx="3566160" cy="148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4875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0A3"/>
                </a:solidFill>
                <a:latin typeface="Calibri"/>
              </a:rPr>
              <a:t>“Earthrise,” Apollo 8, 1968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97961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Coined “the Overview Effect.” </a:t>
            </a:r>
            <a:r>
              <a:rPr sz="1450" b="0">
                <a:solidFill>
                  <a:srgbClr val="202433"/>
                </a:solidFill>
                <a:latin typeface="Calibri"/>
              </a:rPr>
              <a:t>His 1987 book — now in its 4th edition — named the cognitive shift astronauts describe when they see Earth as one fragile, borderless whole.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Nearly 40 years of research. </a:t>
            </a:r>
            <a:r>
              <a:rPr sz="1450" b="0">
                <a:solidFill>
                  <a:srgbClr val="202433"/>
                </a:solidFill>
                <a:latin typeface="Calibri"/>
              </a:rPr>
              <a:t>Interviewed more than 50 astronauts and cosmonauts about how spaceflight changed the way they see our planet.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Shaped the industry's language. </a:t>
            </a:r>
            <a:r>
              <a:rPr sz="1450" b="0">
                <a:solidFill>
                  <a:srgbClr val="202433"/>
                </a:solidFill>
                <a:latin typeface="Calibri"/>
              </a:rPr>
              <a:t>Co-founded the Overview Institute; his work inspired the documentary “Overview,” viewed nearly 8 million times.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E88B1F"/>
                </a:solidFill>
                <a:latin typeface="Calibri"/>
              </a:rPr>
              <a:t>—  </a:t>
            </a:r>
            <a:r>
              <a:rPr sz="1450" b="1">
                <a:solidFill>
                  <a:srgbClr val="202433"/>
                </a:solidFill>
                <a:latin typeface="Calibri"/>
              </a:rPr>
              <a:t>Has never been to space.</a:t>
            </a:r>
            <a:r>
              <a:rPr sz="1450" b="0">
                <a:solidFill>
                  <a:srgbClr val="202433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4709160"/>
            <a:ext cx="6979615" cy="1234440"/>
          </a:xfrm>
          <a:prstGeom prst="roundRect">
            <a:avLst>
              <a:gd name="adj" fmla="val 1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64608"/>
            <a:ext cx="643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A224A"/>
                </a:solidFill>
                <a:latin typeface="Calibri"/>
              </a:rPr>
              <a:t>“Astronauts describe seeing Earth from space as an instant, visceral realization that we share one planet, one atmosphere, one destiny — the Overview Effect.”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Fly to Space with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005840" y="1691640"/>
          <a:ext cx="310896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05840" y="274320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A224A"/>
                </a:solidFill>
                <a:latin typeface="Calibri"/>
              </a:rPr>
              <a:t>69%</a:t>
            </a:r>
          </a:p>
          <a:p>
            <a:pPr algn="ctr"/>
            <a:r>
              <a:rPr sz="2000" b="1" i="0">
                <a:solidFill>
                  <a:srgbClr val="1A224A"/>
                </a:solidFill>
                <a:latin typeface="Calibri"/>
              </a:rPr>
              <a:t>funded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262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224A"/>
                </a:solidFill>
                <a:latin typeface="Calibri"/>
              </a:rPr>
              <a:t>$172K raised of a $250K 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6460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278"/>
                </a:solidFill>
                <a:latin typeface="Calibri"/>
              </a:rPr>
              <a:t>157 contributors so far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49240"/>
            <a:ext cx="4114800" cy="868680"/>
          </a:xfrm>
          <a:prstGeom prst="roundRect">
            <a:avLst>
              <a:gd name="adj" fmla="val 15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36576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1A224A"/>
                </a:solidFill>
                <a:latin typeface="Calibri"/>
              </a:rPr>
              <a:t>Hitting $250K secures a flight seat for a community member to fly alongside Frank — funds are held in escrow until then.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600200"/>
            <a:ext cx="67967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224A"/>
                </a:solidFill>
                <a:latin typeface="Calibri"/>
              </a:rPr>
              <a:t>How the community selects the Candidate</a:t>
            </a:r>
          </a:p>
        </p:txBody>
      </p:sp>
      <p:sp>
        <p:nvSpPr>
          <p:cNvPr id="14" name="Oval 13"/>
          <p:cNvSpPr/>
          <p:nvPr/>
        </p:nvSpPr>
        <p:spPr>
          <a:xfrm>
            <a:off x="4892040" y="2148840"/>
            <a:ext cx="411480" cy="411480"/>
          </a:xfrm>
          <a:prstGeom prst="ellipse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8968" y="2130552"/>
            <a:ext cx="6229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224A"/>
                </a:solidFill>
                <a:latin typeface="Calibri"/>
              </a:rPr>
              <a:t>Contribute $100+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2450592"/>
            <a:ext cx="62298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278"/>
                </a:solidFill>
                <a:latin typeface="Calibri"/>
              </a:rPr>
              <a:t>Grants free MoonDAO citizenship — required to enter the selection process.</a:t>
            </a:r>
          </a:p>
        </p:txBody>
      </p:sp>
      <p:sp>
        <p:nvSpPr>
          <p:cNvPr id="17" name="Oval 16"/>
          <p:cNvSpPr/>
          <p:nvPr/>
        </p:nvSpPr>
        <p:spPr>
          <a:xfrm>
            <a:off x="4892040" y="3044952"/>
            <a:ext cx="411480" cy="411480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3026664"/>
            <a:ext cx="6229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224A"/>
                </a:solidFill>
                <a:latin typeface="Calibri"/>
              </a:rPr>
              <a:t>Community backing + essay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8968" y="3346704"/>
            <a:ext cx="62298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278"/>
                </a:solidFill>
                <a:latin typeface="Calibri"/>
              </a:rPr>
              <a:t>Candidates share what the Overview Effect means to them and build public support.</a:t>
            </a:r>
          </a:p>
        </p:txBody>
      </p:sp>
      <p:sp>
        <p:nvSpPr>
          <p:cNvPr id="20" name="Oval 19"/>
          <p:cNvSpPr/>
          <p:nvPr/>
        </p:nvSpPr>
        <p:spPr>
          <a:xfrm>
            <a:off x="4892040" y="3941064"/>
            <a:ext cx="411480" cy="411480"/>
          </a:xfrm>
          <a:prstGeom prst="ellipse">
            <a:avLst/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3922776"/>
            <a:ext cx="6229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224A"/>
                </a:solidFill>
                <a:latin typeface="Calibri"/>
              </a:rPr>
              <a:t>Astronaut review committee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4242816"/>
            <a:ext cx="62298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278"/>
                </a:solidFill>
                <a:latin typeface="Calibri"/>
              </a:rPr>
              <a:t>Professional and commercial astronauts evaluate the remaining candidates.</a:t>
            </a:r>
          </a:p>
        </p:txBody>
      </p:sp>
      <p:sp>
        <p:nvSpPr>
          <p:cNvPr id="23" name="Oval 22"/>
          <p:cNvSpPr/>
          <p:nvPr/>
        </p:nvSpPr>
        <p:spPr>
          <a:xfrm>
            <a:off x="4892040" y="4837176"/>
            <a:ext cx="411480" cy="411480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4818888"/>
            <a:ext cx="6229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224A"/>
                </a:solidFill>
                <a:latin typeface="Calibri"/>
              </a:rPr>
              <a:t>Final governance vote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58968" y="5138928"/>
            <a:ext cx="622980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278"/>
                </a:solidFill>
                <a:latin typeface="Calibri"/>
              </a:rPr>
              <a:t>MoonDAO's $vMOONEY holders vote to select who flies alongside Frank.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DePrize: Betting to Fund the Mission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417320"/>
            <a:ext cx="3484778" cy="23317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3484778" cy="8229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18488"/>
            <a:ext cx="29727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2357A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130552"/>
            <a:ext cx="297271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224A"/>
                </a:solidFill>
                <a:latin typeface="Calibri"/>
              </a:rPr>
              <a:t>Back a Provider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651760"/>
            <a:ext cx="297271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278"/>
                </a:solidFill>
                <a:latin typeface="Calibri"/>
              </a:rPr>
              <a:t>Community members wager ETH on which launch provider — e.g. Virgin Galactic or Zephalto — will deliver the flight first.</a:t>
            </a:r>
          </a:p>
        </p:txBody>
      </p:sp>
      <p:sp>
        <p:nvSpPr>
          <p:cNvPr id="12" name="Chevron 11"/>
          <p:cNvSpPr/>
          <p:nvPr/>
        </p:nvSpPr>
        <p:spPr>
          <a:xfrm>
            <a:off x="4042562" y="2455164"/>
            <a:ext cx="256032" cy="256032"/>
          </a:xfrm>
          <a:prstGeom prst="chevron">
            <a:avLst/>
          </a:prstGeom>
          <a:solidFill>
            <a:srgbClr val="8A9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53458" y="1417320"/>
            <a:ext cx="3484778" cy="23317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53458" y="1417320"/>
            <a:ext cx="3484778" cy="82296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9490" y="1618488"/>
            <a:ext cx="29727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B4C9B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9490" y="2130552"/>
            <a:ext cx="297271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224A"/>
                </a:solidFill>
                <a:latin typeface="Calibri"/>
              </a:rPr>
              <a:t>Live, Onchain Odds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9490" y="2651760"/>
            <a:ext cx="297271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278"/>
                </a:solidFill>
                <a:latin typeface="Calibri"/>
              </a:rPr>
              <a:t>Every bet grows a shared prize pool and produces real-time, transparent odds — a prediction market for space delivery.</a:t>
            </a:r>
          </a:p>
        </p:txBody>
      </p:sp>
      <p:sp>
        <p:nvSpPr>
          <p:cNvPr id="18" name="Chevron 17"/>
          <p:cNvSpPr/>
          <p:nvPr/>
        </p:nvSpPr>
        <p:spPr>
          <a:xfrm>
            <a:off x="7893100" y="2455164"/>
            <a:ext cx="256032" cy="256032"/>
          </a:xfrm>
          <a:prstGeom prst="chevron">
            <a:avLst/>
          </a:prstGeom>
          <a:solidFill>
            <a:srgbClr val="8A9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03996" y="1417320"/>
            <a:ext cx="3484778" cy="23317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03996" y="1417320"/>
            <a:ext cx="3484778" cy="8229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60028" y="1618488"/>
            <a:ext cx="297271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88B1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0028" y="2130552"/>
            <a:ext cx="2972714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224A"/>
                </a:solidFill>
                <a:latin typeface="Calibri"/>
              </a:rPr>
              <a:t>Winner Delivers, Prize Pays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0028" y="2651760"/>
            <a:ext cx="297271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278"/>
                </a:solidFill>
                <a:latin typeface="Calibri"/>
              </a:rPr>
              <a:t>The community declares a winner; the provider is paid in milestones tied to delivery, and backers of the winner are rewarded.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931920"/>
            <a:ext cx="11185855" cy="1417320"/>
          </a:xfrm>
          <a:prstGeom prst="roundRect">
            <a:avLst>
              <a:gd name="adj" fmla="val 8000"/>
            </a:avLst>
          </a:prstGeom>
          <a:solidFill>
            <a:srgbClr val="EEF0F7"/>
          </a:solidFill>
          <a:ln w="12700">
            <a:solidFill>
              <a:srgbClr val="DD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407822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E88B1F"/>
                </a:solidFill>
                <a:latin typeface="Calibri"/>
              </a:rPr>
              <a:t>THE MATH, WORKED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4416552"/>
            <a:ext cx="7452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02433"/>
                </a:solidFill>
                <a:latin typeface="Calibri"/>
              </a:rPr>
              <a:t>→  Bet 1 ETH on a provider priced at 40% odds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4640580"/>
            <a:ext cx="7452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02433"/>
                </a:solidFill>
                <a:latin typeface="Calibri"/>
              </a:rPr>
              <a:t>→  5% (0.05 ETH) → prize pool  ·  95% (0.95 ETH) → market, at $0.40/share = 2.375 shares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" y="4864608"/>
            <a:ext cx="7452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02433"/>
                </a:solidFill>
                <a:latin typeface="Calibri"/>
              </a:rPr>
              <a:t>→  Less the 1% LMSR trade fee → ≈ 2.35 shares held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5088636"/>
            <a:ext cx="7452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02433"/>
                </a:solidFill>
                <a:latin typeface="Calibri"/>
              </a:rPr>
              <a:t>→  If that provider wins: shares redeem 1:1 for ETH → ≈ 2.32 ETH back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503920" y="4114800"/>
            <a:ext cx="0" cy="105156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823960" y="4187952"/>
            <a:ext cx="28648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E88B1F"/>
                </a:solidFill>
                <a:latin typeface="Calibri"/>
              </a:rPr>
              <a:t>+1.32 ETH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4773168"/>
            <a:ext cx="28648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B6278"/>
                </a:solidFill>
                <a:latin typeface="Calibri"/>
              </a:rPr>
              <a:t>net gain, plus 50 $OVERVIEW — funded by bettors who backed other providers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48640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8A90A3"/>
                </a:solidFill>
                <a:latin typeface="Calibri"/>
              </a:rPr>
              <a:t>Illustrative worked example from MoonDAO's DePrize design — actual payouts depend on live odds when a bet is placed.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1A224A"/>
                </a:solidFill>
                <a:latin typeface="Calibri"/>
              </a:rPr>
              <a:t>Moonbase Zero: Racing to the Lunar South Pole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508760"/>
            <a:ext cx="6537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224A"/>
                </a:solidFill>
                <a:latin typeface="Calibri"/>
              </a:rPr>
              <a:t>A true-to-scale, interactive 3D site model — built on real NASA terrain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65379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E88B1F"/>
                </a:solidFill>
                <a:latin typeface="Calibri"/>
              </a:rPr>
              <a:t>—  </a:t>
            </a:r>
            <a:r>
              <a:rPr sz="1300" b="1">
                <a:solidFill>
                  <a:srgbClr val="202433"/>
                </a:solidFill>
                <a:latin typeface="Calibri"/>
              </a:rPr>
              <a:t>Real ground, real scale. </a:t>
            </a:r>
            <a:r>
              <a:rPr sz="1300" b="0">
                <a:solidFill>
                  <a:srgbClr val="202433"/>
                </a:solidFill>
                <a:latin typeface="Calibri"/>
              </a:rPr>
              <a:t>A 16×16 km patch of the Shackleton connecting ridge, modeled from NASA LOLA elevation data at 5 m/pixel — not a stylized globe.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E88B1F"/>
                </a:solidFill>
                <a:latin typeface="Calibri"/>
              </a:rPr>
              <a:t>—  </a:t>
            </a:r>
            <a:r>
              <a:rPr sz="1300" b="1">
                <a:solidFill>
                  <a:srgbClr val="202433"/>
                </a:solidFill>
                <a:latin typeface="Calibri"/>
              </a:rPr>
              <a:t>Every declared competitor, placed. </a:t>
            </a:r>
            <a:r>
              <a:rPr sz="1300" b="0">
                <a:solidFill>
                  <a:srgbClr val="202433"/>
                </a:solidFill>
                <a:latin typeface="Calibri"/>
              </a:rPr>
              <a:t>Each organization's actual hardware stands on its own plot, sized and sited from public mission data, with sources cited.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E88B1F"/>
                </a:solidFill>
                <a:latin typeface="Calibri"/>
              </a:rPr>
              <a:t>—  </a:t>
            </a:r>
            <a:r>
              <a:rPr sz="1300" b="1">
                <a:solidFill>
                  <a:srgbClr val="202433"/>
                </a:solidFill>
                <a:latin typeface="Calibri"/>
              </a:rPr>
              <a:t>A decade on a timeline. </a:t>
            </a:r>
            <a:r>
              <a:rPr sz="1300" b="0">
                <a:solidFill>
                  <a:srgbClr val="202433"/>
                </a:solidFill>
                <a:latin typeface="Calibri"/>
              </a:rPr>
              <a:t>A year-by-year scrubber reveals sites and milestones as their real target dates arrive, from today through 2035.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E88B1F"/>
                </a:solidFill>
                <a:latin typeface="Calibri"/>
              </a:rPr>
              <a:t>—  </a:t>
            </a:r>
            <a:r>
              <a:rPr sz="1300" b="1">
                <a:solidFill>
                  <a:srgbClr val="202433"/>
                </a:solidFill>
                <a:latin typeface="Calibri"/>
              </a:rPr>
              <a:t>Built to connect to DePrize. </a:t>
            </a:r>
            <a:r>
              <a:rPr sz="1300" b="0">
                <a:solidFill>
                  <a:srgbClr val="202433"/>
                </a:solidFill>
                <a:latin typeface="Calibri"/>
              </a:rPr>
              <a:t>Every capability race is designed to link to a prediction market, so the community can back — and help fund — who it believes will actually deliver.</a:t>
            </a:r>
          </a:p>
        </p:txBody>
      </p:sp>
      <p:pic>
        <p:nvPicPr>
          <p:cNvPr id="9" name="Picture 8" descr="moon-full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669280"/>
            <a:ext cx="731520" cy="731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463040" y="5852160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5852160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58521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90A3"/>
                </a:solidFill>
                <a:latin typeface="Calibri"/>
              </a:rPr>
              <a:t>moondao.com/moonbase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1508760"/>
            <a:ext cx="4327855" cy="4526280"/>
          </a:xfrm>
          <a:prstGeom prst="roundRect">
            <a:avLst>
              <a:gd name="adj" fmla="val 6000"/>
            </a:avLst>
          </a:prstGeom>
          <a:solidFill>
            <a:srgbClr val="EEF0F7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16952" y="1691640"/>
            <a:ext cx="381579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E88B1F"/>
                </a:solidFill>
                <a:latin typeface="Calibri"/>
              </a:rPr>
              <a:t>TODAY'S CAPABILITY RACES</a:t>
            </a:r>
          </a:p>
        </p:txBody>
      </p:sp>
      <p:sp>
        <p:nvSpPr>
          <p:cNvPr id="15" name="Oval 14"/>
          <p:cNvSpPr/>
          <p:nvPr/>
        </p:nvSpPr>
        <p:spPr>
          <a:xfrm>
            <a:off x="7635240" y="2203704"/>
            <a:ext cx="82296" cy="82296"/>
          </a:xfrm>
          <a:prstGeom prst="ellipse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36408" y="2121408"/>
            <a:ext cx="29562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24A"/>
                </a:solidFill>
                <a:latin typeface="Calibri"/>
              </a:rPr>
              <a:t>Comms / PNT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8" y="2350008"/>
            <a:ext cx="2956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278"/>
                </a:solidFill>
                <a:latin typeface="Calibri"/>
              </a:rPr>
              <a:t>leading: Nokia Bell 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2194560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8A90A3"/>
                </a:solidFill>
                <a:latin typeface="Calibri"/>
              </a:rPr>
              <a:t>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16952" y="2578608"/>
            <a:ext cx="3815791" cy="0"/>
          </a:xfrm>
          <a:prstGeom prst="line">
            <a:avLst/>
          </a:prstGeom>
          <a:ln w="9525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635240" y="2679192"/>
            <a:ext cx="82296" cy="82296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36408" y="2596896"/>
            <a:ext cx="29562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24A"/>
                </a:solidFill>
                <a:latin typeface="Calibri"/>
              </a:rPr>
              <a:t>Surface 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36408" y="2825496"/>
            <a:ext cx="2956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278"/>
                </a:solidFill>
                <a:latin typeface="Calibri"/>
              </a:rPr>
              <a:t>leading: ICON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2670048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8A90A3"/>
                </a:solidFill>
                <a:latin typeface="Calibri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6952" y="3054096"/>
            <a:ext cx="3815791" cy="0"/>
          </a:xfrm>
          <a:prstGeom prst="line">
            <a:avLst/>
          </a:prstGeom>
          <a:ln w="9525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635240" y="3154680"/>
            <a:ext cx="82296" cy="82296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36408" y="3072384"/>
            <a:ext cx="29562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24A"/>
                </a:solidFill>
                <a:latin typeface="Calibri"/>
              </a:rPr>
              <a:t>Habitat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6408" y="3300984"/>
            <a:ext cx="2956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278"/>
                </a:solidFill>
                <a:latin typeface="Calibri"/>
              </a:rPr>
              <a:t>leading: Thales Alenia 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0095" y="3145536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8A90A3"/>
                </a:solidFill>
                <a:latin typeface="Calibri"/>
              </a:rPr>
              <a:t>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16952" y="3529584"/>
            <a:ext cx="3815791" cy="0"/>
          </a:xfrm>
          <a:prstGeom prst="line">
            <a:avLst/>
          </a:prstGeom>
          <a:ln w="9525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635240" y="3630168"/>
            <a:ext cx="82296" cy="82296"/>
          </a:xfrm>
          <a:prstGeom prst="ellipse">
            <a:avLst/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36408" y="3547872"/>
            <a:ext cx="29562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24A"/>
                </a:solidFill>
                <a:latin typeface="Calibri"/>
              </a:rPr>
              <a:t>ISRU plant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36408" y="3776472"/>
            <a:ext cx="2956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278"/>
                </a:solidFill>
                <a:latin typeface="Calibri"/>
              </a:rPr>
              <a:t>leading: Blue Origin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20095" y="3621024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8A90A3"/>
                </a:solidFill>
                <a:latin typeface="Calibri"/>
              </a:rPr>
              <a:t>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16952" y="4005072"/>
            <a:ext cx="3815791" cy="0"/>
          </a:xfrm>
          <a:prstGeom prst="line">
            <a:avLst/>
          </a:prstGeom>
          <a:ln w="9525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7635240" y="4105656"/>
            <a:ext cx="82296" cy="82296"/>
          </a:xfrm>
          <a:prstGeom prst="ellipse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36408" y="4023360"/>
            <a:ext cx="29562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24A"/>
                </a:solidFill>
                <a:latin typeface="Calibri"/>
              </a:rPr>
              <a:t>Power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36408" y="4251960"/>
            <a:ext cx="2956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278"/>
                </a:solidFill>
                <a:latin typeface="Calibri"/>
              </a:rPr>
              <a:t>leading: Lockheed Martin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20095" y="4096512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8A90A3"/>
                </a:solidFill>
                <a:latin typeface="Calibri"/>
              </a:rPr>
              <a:t>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616952" y="4480560"/>
            <a:ext cx="3815791" cy="0"/>
          </a:xfrm>
          <a:prstGeom prst="line">
            <a:avLst/>
          </a:prstGeom>
          <a:ln w="9525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635240" y="4581144"/>
            <a:ext cx="82296" cy="82296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36408" y="4498848"/>
            <a:ext cx="29562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24A"/>
                </a:solidFill>
                <a:latin typeface="Calibri"/>
              </a:rPr>
              <a:t>Rover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36408" y="4727448"/>
            <a:ext cx="2956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278"/>
                </a:solidFill>
                <a:latin typeface="Calibri"/>
              </a:rPr>
              <a:t>leading: Intuitive Machines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20095" y="4572000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8A90A3"/>
                </a:solidFill>
                <a:latin typeface="Calibri"/>
              </a:rPr>
              <a:t>3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616952" y="4956048"/>
            <a:ext cx="3815791" cy="0"/>
          </a:xfrm>
          <a:prstGeom prst="line">
            <a:avLst/>
          </a:prstGeom>
          <a:ln w="9525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7635240" y="5056632"/>
            <a:ext cx="82296" cy="82296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36408" y="4974336"/>
            <a:ext cx="29562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24A"/>
                </a:solidFill>
                <a:latin typeface="Calibri"/>
              </a:rPr>
              <a:t>Crewed base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36408" y="5202936"/>
            <a:ext cx="2956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278"/>
                </a:solidFill>
                <a:latin typeface="Calibri"/>
              </a:rPr>
              <a:t>leading: NASA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20095" y="5047488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8A90A3"/>
                </a:solidFill>
                <a:latin typeface="Calibri"/>
              </a:rPr>
              <a:t>2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616952" y="5431536"/>
            <a:ext cx="3815791" cy="0"/>
          </a:xfrm>
          <a:prstGeom prst="line">
            <a:avLst/>
          </a:prstGeom>
          <a:ln w="9525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7635240" y="5532120"/>
            <a:ext cx="82296" cy="82296"/>
          </a:xfrm>
          <a:prstGeom prst="ellipse">
            <a:avLst/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36408" y="5449824"/>
            <a:ext cx="29562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A224A"/>
                </a:solidFill>
                <a:latin typeface="Calibri"/>
              </a:rPr>
              <a:t>Lander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36408" y="5678424"/>
            <a:ext cx="2956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278"/>
                </a:solidFill>
                <a:latin typeface="Calibri"/>
              </a:rPr>
              <a:t>leading: SpaceX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20095" y="5522976"/>
            <a:ext cx="594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8A90A3"/>
                </a:solidFill>
                <a:latin typeface="Calibri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16952" y="6108192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90A3"/>
                </a:solidFill>
                <a:latin typeface="Calibri"/>
              </a:rPr>
              <a:t>24 competitors across 8 races, all publicly sourced.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224A"/>
                </a:solidFill>
                <a:latin typeface="Calibri"/>
              </a:rPr>
              <a:t>Case Study: Surviving the 14-Day Lunar Night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463040"/>
            <a:ext cx="5577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224A"/>
                </a:solidFill>
                <a:latin typeface="Calibri"/>
              </a:rPr>
              <a:t>Why this is the closest-run race on the 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299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E88B1F"/>
                </a:solidFill>
                <a:latin typeface="Calibri"/>
              </a:rPr>
              <a:t>THE PHYSICS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4086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2433"/>
                </a:solidFill>
                <a:latin typeface="Calibri"/>
              </a:rPr>
              <a:t>Lunar day (sunrise to sunrise) = 29.5 Earth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3347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2433"/>
                </a:solidFill>
                <a:latin typeface="Calibri"/>
              </a:rPr>
              <a:t>→ continuous darkness ≈ 14.75 days = 354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2433"/>
                </a:solidFill>
                <a:latin typeface="Calibri"/>
              </a:rPr>
              <a:t>No sunlight → solar panels alone cannot power a base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20440"/>
            <a:ext cx="5577840" cy="1600200"/>
          </a:xfrm>
          <a:prstGeom prst="roundRect">
            <a:avLst>
              <a:gd name="adj" fmla="val 8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301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E88B1F"/>
                </a:solidFill>
                <a:latin typeface="Calibri"/>
              </a:rPr>
              <a:t>THE MATH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4106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2433"/>
                </a:solidFill>
                <a:latin typeface="Calibri"/>
              </a:rPr>
              <a:t>A 40 kWe base load × 354 hours ≈ 14,160 kWh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33671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2433"/>
                </a:solidFill>
                <a:latin typeface="Calibri"/>
              </a:rPr>
              <a:t>per lunar night — just to keep the lights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26279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2433"/>
                </a:solidFill>
                <a:latin typeface="Calibri"/>
              </a:rPr>
              <a:t>A Tesla Powerwall stores 13.5 kWh → ≈ 1,050 of them,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18887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2433"/>
                </a:solidFill>
                <a:latin typeface="Calibri"/>
              </a:rPr>
              <a:t>replaced every single cycle. Batteries don't scale to this.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49240"/>
            <a:ext cx="5577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1A224A"/>
                </a:solidFill>
                <a:latin typeface="Calibri"/>
              </a:rPr>
              <a:t>That's why NASA funded fission, not solar-plus-storage — and why Moonbase Zero tracks it as a live capability race the community can follow.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1463040"/>
            <a:ext cx="5242255" cy="4754880"/>
          </a:xfrm>
          <a:prstGeom prst="roundRect">
            <a:avLst>
              <a:gd name="adj" fmla="val 5000"/>
            </a:avLst>
          </a:prstGeom>
          <a:solidFill>
            <a:srgbClr val="1A224A"/>
          </a:solidFill>
          <a:ln>
            <a:noFill/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1627632"/>
            <a:ext cx="4657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6B962"/>
                </a:solidFill>
                <a:latin typeface="Calibri"/>
              </a:rPr>
              <a:t>CAPABILITY RACE  ·  MARKET PLANNED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1901952"/>
            <a:ext cx="4657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First operational fission surface power on the Moon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542032"/>
            <a:ext cx="4657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B8BED4"/>
                </a:solidFill>
                <a:latin typeface="Calibri"/>
              </a:rPr>
              <a:t>Target window: 2028 – 2035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2971800"/>
            <a:ext cx="41083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Lockheed Martin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47527" y="2971800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E88B1F"/>
                </a:solidFill>
                <a:latin typeface="Calibri"/>
              </a:rPr>
              <a:t>35%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39128" y="3227832"/>
            <a:ext cx="4657039" cy="82296"/>
          </a:xfrm>
          <a:prstGeom prst="roundRect">
            <a:avLst>
              <a:gd name="adj" fmla="val 50000"/>
            </a:avLst>
          </a:prstGeom>
          <a:solidFill>
            <a:srgbClr val="2E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39128" y="3227832"/>
            <a:ext cx="1629963" cy="8229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9128" y="3355848"/>
            <a:ext cx="46570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AA1BF"/>
                </a:solidFill>
                <a:latin typeface="Calibri"/>
              </a:rPr>
              <a:t>Fission Surface Power Reactor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9128" y="3538728"/>
            <a:ext cx="41083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Westinghouse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47527" y="3538728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E8C45A"/>
                </a:solidFill>
                <a:latin typeface="Calibri"/>
              </a:rPr>
              <a:t>34%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39128" y="3794760"/>
            <a:ext cx="4657039" cy="82296"/>
          </a:xfrm>
          <a:prstGeom prst="roundRect">
            <a:avLst>
              <a:gd name="adj" fmla="val 50000"/>
            </a:avLst>
          </a:prstGeom>
          <a:solidFill>
            <a:srgbClr val="2E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39128" y="3794760"/>
            <a:ext cx="1583393" cy="82296"/>
          </a:xfrm>
          <a:prstGeom prst="roundRect">
            <a:avLst>
              <a:gd name="adj" fmla="val 50000"/>
            </a:avLst>
          </a:prstGeom>
          <a:solidFill>
            <a:srgbClr val="E8C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9128" y="3922776"/>
            <a:ext cx="46570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AA1BF"/>
                </a:solidFill>
                <a:latin typeface="Calibri"/>
              </a:rPr>
              <a:t>eVinci Lunar Microreactor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39128" y="4105656"/>
            <a:ext cx="41083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Intuitive Machines (IX)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47527" y="4105656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E06B3A"/>
                </a:solidFill>
                <a:latin typeface="Calibri"/>
              </a:rPr>
              <a:t>31%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39128" y="4361688"/>
            <a:ext cx="4657039" cy="82296"/>
          </a:xfrm>
          <a:prstGeom prst="roundRect">
            <a:avLst>
              <a:gd name="adj" fmla="val 50000"/>
            </a:avLst>
          </a:prstGeom>
          <a:solidFill>
            <a:srgbClr val="2E3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739128" y="4361688"/>
            <a:ext cx="1443682" cy="82296"/>
          </a:xfrm>
          <a:prstGeom prst="roundRect">
            <a:avLst>
              <a:gd name="adj" fmla="val 50000"/>
            </a:avLst>
          </a:prstGeom>
          <a:solidFill>
            <a:srgbClr val="E0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39128" y="4489704"/>
            <a:ext cx="46570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AA1BF"/>
                </a:solidFill>
                <a:latin typeface="Calibri"/>
              </a:rPr>
              <a:t>IX Fission Surface Power Reactor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739128" y="4690872"/>
            <a:ext cx="4657039" cy="0"/>
          </a:xfrm>
          <a:prstGeom prst="line">
            <a:avLst/>
          </a:prstGeom>
          <a:ln w="12700">
            <a:solidFill>
              <a:srgbClr val="2E37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739128" y="4800600"/>
            <a:ext cx="4657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6B962"/>
                </a:solidFill>
                <a:latin typeface="Calibri"/>
              </a:rPr>
              <a:t>PASS/FAIL CRITERIA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9128" y="5093208"/>
            <a:ext cx="4657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D8DBEB"/>
                </a:solidFill>
                <a:latin typeface="Calibri"/>
              </a:rPr>
              <a:t>•  ≥ 40 kWe for ≥ 354 hours without solar input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39128" y="5308092"/>
            <a:ext cx="4657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D8DBEB"/>
                </a:solidFill>
                <a:latin typeface="Calibri"/>
              </a:rPr>
              <a:t>•  Autonomous start-up, load-following, safe shutdown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39128" y="5522976"/>
            <a:ext cx="4657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D8DBEB"/>
                </a:solidFill>
                <a:latin typeface="Calibri"/>
              </a:rPr>
              <a:t>•  10-year design life, demonstrated by test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39128" y="5737860"/>
            <a:ext cx="4657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D8DBEB"/>
                </a:solidFill>
                <a:latin typeface="Calibri"/>
              </a:rPr>
              <a:t>•  Mass/envelope fits one human-class lander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39128" y="5989320"/>
            <a:ext cx="4657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8A90B0"/>
                </a:solidFill>
                <a:latin typeface="Calibri"/>
              </a:rPr>
              <a:t>Source: NASA Fission Surface Power Program · curator priors, pending market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BIGGER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224A"/>
                </a:solidFill>
                <a:latin typeface="Calibri"/>
              </a:rPr>
              <a:t>A Level Playing Field for the Next Space Age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554480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1A224A"/>
                </a:solidFill>
                <a:latin typeface="Calibri"/>
              </a:rPr>
              <a:t>For most of history, deep-space activity has been the domain of a handful of national agencies — and, more recently, a handful of billionaires.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14600"/>
            <a:ext cx="11155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Permissionless participation. </a:t>
            </a:r>
            <a:r>
              <a:rPr sz="1550" b="0">
                <a:solidFill>
                  <a:srgbClr val="202433"/>
                </a:solidFill>
                <a:latin typeface="Calibri"/>
              </a:rPr>
              <a:t>Decentralized, onchain tools mean any country, company, university, or individual can fund, compete in, and benefit from lunar-economy activity — not just legacy space powers.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Already global. </a:t>
            </a:r>
            <a:r>
              <a:rPr sz="1550" b="0">
                <a:solidFill>
                  <a:srgbClr val="202433"/>
                </a:solidFill>
                <a:latin typeface="Calibri"/>
              </a:rPr>
              <a:t>The Space Acceleration Network connects citizens across 25+ countries with the funding, tools, and visibility to build — including a growing community in Latin America.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An open invitation. </a:t>
            </a:r>
            <a:r>
              <a:rPr sz="1550" b="0">
                <a:solidFill>
                  <a:srgbClr val="202433"/>
                </a:solidFill>
                <a:latin typeface="Calibri"/>
              </a:rPr>
              <a:t>To Brazil's space ecosystem — AEB, GRU, universities, and industry — to plug into a transparent, global network built for exactly the next phase of space development this panel is about.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887" y="5166360"/>
            <a:ext cx="3383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00887" y="5166360"/>
            <a:ext cx="64008" cy="1097280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2055" y="529437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25+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055" y="578815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Countries in the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Space Acceleration Network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4207" y="5166360"/>
            <a:ext cx="3383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04207" y="5166360"/>
            <a:ext cx="64008" cy="109728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5375" y="529437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12,000+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5375" y="578815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$MOONEY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token holders worldwide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5166360"/>
            <a:ext cx="3383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07527" y="5166360"/>
            <a:ext cx="64008" cy="109728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95" y="529437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8695" y="578815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Onchain, transparent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votes &amp; treasury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thris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ondao_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942" y="731520"/>
            <a:ext cx="540762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2432" y="731520"/>
            <a:ext cx="292608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MOON</a:t>
            </a:r>
            <a:r>
              <a:rPr sz="1300" b="1">
                <a:solidFill>
                  <a:srgbClr val="FFFFFF"/>
                </a:solidFill>
                <a:latin typeface="Calibri"/>
              </a:rPr>
              <a:t>DAO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Let's Build the Lunar Economy Together</a:t>
            </a:r>
          </a:p>
        </p:txBody>
      </p:sp>
      <p:pic>
        <p:nvPicPr>
          <p:cNvPr id="7" name="Picture 6" descr="pablo_headshot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047" y="269748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420624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0" i="0">
                <a:solidFill>
                  <a:srgbClr val="FFFFFF"/>
                </a:solidFill>
                <a:latin typeface="Calibri"/>
              </a:rPr>
              <a:t>Pablo Moncada-Larrotiz  ·  Founder &amp; Executive Director, MoonDAO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6177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CBD1E6"/>
                </a:solidFill>
                <a:latin typeface="Calibri"/>
              </a:rPr>
              <a:t>pablo@moondao.com   ·   @pablo_moncada_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5257800"/>
            <a:ext cx="3959352" cy="0"/>
          </a:xfrm>
          <a:prstGeom prst="line">
            <a:avLst/>
          </a:prstGeom>
          <a:ln w="12700">
            <a:solidFill>
              <a:srgbClr val="3A4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6B962"/>
                </a:solidFill>
                <a:latin typeface="Calibri"/>
              </a:rPr>
              <a:t>moondao.com   ·   Become a Citizen  →  moondao.com/join   ·   Join the Discord  →  discord.gg/moondao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